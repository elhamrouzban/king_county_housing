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7df64e7b3c4143" /><Relationship Type="http://schemas.openxmlformats.org/officeDocument/2006/relationships/extended-properties" Target="/docProps/app.xml" Id="Rbb5d76be54d34576" /><Relationship Type="http://schemas.openxmlformats.org/officeDocument/2006/relationships/officeDocument" Target="/ppt/presentation.xml" Id="R0951ba4bc178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43b3f697d04cdc"/>
  </p:sldMasterIdLst>
  <p:notesMasterIdLst>
    <p:notesMasterId xmlns:r="http://schemas.openxmlformats.org/officeDocument/2006/relationships" r:id="Rb8daa49f89594c87"/>
  </p:notesMasterIdLst>
  <p:sldIdLst>
    <p:sldId xmlns:r="http://schemas.openxmlformats.org/officeDocument/2006/relationships" id="256" r:id="R2a37dbb8ffd3435a"/>
    <p:sldId xmlns:r="http://schemas.openxmlformats.org/officeDocument/2006/relationships" id="257" r:id="R4d3d36629d774a61"/>
    <p:sldId xmlns:r="http://schemas.openxmlformats.org/officeDocument/2006/relationships" id="258" r:id="R7ab6211331a14c1c"/>
    <p:sldId xmlns:r="http://schemas.openxmlformats.org/officeDocument/2006/relationships" id="259" r:id="R66c5471fd7024794"/>
    <p:sldId xmlns:r="http://schemas.openxmlformats.org/officeDocument/2006/relationships" id="260" r:id="R95b8014b85b6459e"/>
    <p:sldId xmlns:r="http://schemas.openxmlformats.org/officeDocument/2006/relationships" id="261" r:id="R2b85ad87944146d8"/>
    <p:sldId xmlns:r="http://schemas.openxmlformats.org/officeDocument/2006/relationships" id="262" r:id="R606595548b4b46d0"/>
    <p:sldId xmlns:r="http://schemas.openxmlformats.org/officeDocument/2006/relationships" id="263" r:id="R6315bc5bb0594c80"/>
    <p:sldId xmlns:r="http://schemas.openxmlformats.org/officeDocument/2006/relationships" id="264" r:id="Rcb52cb5511eb4e1a"/>
    <p:sldId xmlns:r="http://schemas.openxmlformats.org/officeDocument/2006/relationships" id="265" r:id="Ra7e7a10dc5544b16"/>
    <p:sldId xmlns:r="http://schemas.openxmlformats.org/officeDocument/2006/relationships" id="266" r:id="R5712e610976d45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b15d61e3a04cd9" /><Relationship Type="http://schemas.openxmlformats.org/officeDocument/2006/relationships/slideMaster" Target="/ppt/slideMasters/slideMaster1.xml" Id="Ra643b3f697d04cdc" /><Relationship Type="http://schemas.openxmlformats.org/officeDocument/2006/relationships/notesMaster" Target="/ppt/notesMasters/notesMaster1.xml" Id="Rb8daa49f89594c87" /><Relationship Type="http://schemas.openxmlformats.org/officeDocument/2006/relationships/presProps" Target="/ppt/presProps.xml" Id="R26ef23bf641e4904" /><Relationship Type="http://schemas.openxmlformats.org/officeDocument/2006/relationships/tableStyles" Target="/ppt/tableStyles.xml" Id="R0b0916aadb2e4a79" /><Relationship Type="http://schemas.openxmlformats.org/officeDocument/2006/relationships/slide" Target="/ppt/slides/slide1.xml" Id="R2a37dbb8ffd3435a" /><Relationship Type="http://schemas.openxmlformats.org/officeDocument/2006/relationships/slide" Target="/ppt/slides/slide2.xml" Id="R4d3d36629d774a61" /><Relationship Type="http://schemas.openxmlformats.org/officeDocument/2006/relationships/slide" Target="/ppt/slides/slide3.xml" Id="R7ab6211331a14c1c" /><Relationship Type="http://schemas.openxmlformats.org/officeDocument/2006/relationships/slide" Target="/ppt/slides/slide4.xml" Id="R66c5471fd7024794" /><Relationship Type="http://schemas.openxmlformats.org/officeDocument/2006/relationships/slide" Target="/ppt/slides/slide5.xml" Id="R95b8014b85b6459e" /><Relationship Type="http://schemas.openxmlformats.org/officeDocument/2006/relationships/slide" Target="/ppt/slides/slide6.xml" Id="R2b85ad87944146d8" /><Relationship Type="http://schemas.openxmlformats.org/officeDocument/2006/relationships/slide" Target="/ppt/slides/slide7.xml" Id="R606595548b4b46d0" /><Relationship Type="http://schemas.openxmlformats.org/officeDocument/2006/relationships/slide" Target="/ppt/slides/slide8.xml" Id="R6315bc5bb0594c80" /><Relationship Type="http://schemas.openxmlformats.org/officeDocument/2006/relationships/slide" Target="/ppt/slides/slide9.xml" Id="Rcb52cb5511eb4e1a" /><Relationship Type="http://schemas.openxmlformats.org/officeDocument/2006/relationships/slide" Target="/ppt/slides/slide10.xml" Id="Ra7e7a10dc5544b16" /><Relationship Type="http://schemas.openxmlformats.org/officeDocument/2006/relationships/slide" Target="/ppt/slides/slide11.xml" Id="R5712e610976d45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4ba755ca446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5be9dc263a4d57" /><Relationship Type="http://schemas.openxmlformats.org/officeDocument/2006/relationships/notesMaster" Target="/ppt/notesMasters/notesMaster1.xml" Id="R28b7450991cd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7bd040428d4de4" /><Relationship Type="http://schemas.openxmlformats.org/officeDocument/2006/relationships/notesMaster" Target="/ppt/notesMasters/notesMaster1.xml" Id="R0e027d18972f4d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f3cee655294484" /><Relationship Type="http://schemas.openxmlformats.org/officeDocument/2006/relationships/notesMaster" Target="/ppt/notesMasters/notesMaster1.xml" Id="R4dc0eed2e93347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8792509ceb4252" /><Relationship Type="http://schemas.openxmlformats.org/officeDocument/2006/relationships/notesMaster" Target="/ppt/notesMasters/notesMaster1.xml" Id="R17c8082b5c1142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a048fa3fd44deb" /><Relationship Type="http://schemas.openxmlformats.org/officeDocument/2006/relationships/notesMaster" Target="/ppt/notesMasters/notesMaster1.xml" Id="R199eb94b63b641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e782891bb44205" /><Relationship Type="http://schemas.openxmlformats.org/officeDocument/2006/relationships/notesMaster" Target="/ppt/notesMasters/notesMaster1.xml" Id="Rd1c8f2ded3d24f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74953d66434265" /><Relationship Type="http://schemas.openxmlformats.org/officeDocument/2006/relationships/notesMaster" Target="/ppt/notesMasters/notesMaster1.xml" Id="R10bc872d028b44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32c3f71c244ea0" /><Relationship Type="http://schemas.openxmlformats.org/officeDocument/2006/relationships/notesMaster" Target="/ppt/notesMasters/notesMaster1.xml" Id="R5eb83fba6ca24c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23e98c33c24333" /><Relationship Type="http://schemas.openxmlformats.org/officeDocument/2006/relationships/notesMaster" Target="/ppt/notesMasters/notesMaster1.xml" Id="R6f967213a5c547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3dd57658784562" /><Relationship Type="http://schemas.openxmlformats.org/officeDocument/2006/relationships/notesMaster" Target="/ppt/notesMasters/notesMaster1.xml" Id="Raea6f09d70fc4b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0e5277d92a4c3e" /><Relationship Type="http://schemas.openxmlformats.org/officeDocument/2006/relationships/notesMaster" Target="/ppt/notesMasters/notesMaster1.xml" Id="R95271cd1864c4b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e3286c33648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266a26e6fe42cc" /><Relationship Type="http://schemas.openxmlformats.org/officeDocument/2006/relationships/slideLayout" Target="/ppt/slideLayouts/slideLayout1.xml" Id="Rb11006be07fb48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1006be07fb48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fb881f465465d" /><Relationship Type="http://schemas.openxmlformats.org/officeDocument/2006/relationships/notesSlide" Target="/ppt/notesSlides/notesSlide1.xml" Id="Rbc816191497549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296cdcb9c4b7e" /><Relationship Type="http://schemas.openxmlformats.org/officeDocument/2006/relationships/notesSlide" Target="/ppt/notesSlides/notesSlide2.xml" Id="Ra4a77695134849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4fbba6fca4d2d" /><Relationship Type="http://schemas.openxmlformats.org/officeDocument/2006/relationships/notesSlide" Target="/ppt/notesSlides/notesSlide3.xml" Id="Re8e3eeaf0d3641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9620bce2b448b" /><Relationship Type="http://schemas.openxmlformats.org/officeDocument/2006/relationships/notesSlide" Target="/ppt/notesSlides/notesSlide4.xml" Id="R29c5c8c4767540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b4af5a1af421d" /><Relationship Type="http://schemas.openxmlformats.org/officeDocument/2006/relationships/notesSlide" Target="/ppt/notesSlides/notesSlide5.xml" Id="R9bfd44a3407148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4c0141add4075" /><Relationship Type="http://schemas.openxmlformats.org/officeDocument/2006/relationships/notesSlide" Target="/ppt/notesSlides/notesSlide6.xml" Id="R16cff3d9cc1a4f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469f3f88f4cd9" /><Relationship Type="http://schemas.openxmlformats.org/officeDocument/2006/relationships/notesSlide" Target="/ppt/notesSlides/notesSlide7.xml" Id="Rdcfb0611a2bb46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5f249c2604e40" /><Relationship Type="http://schemas.openxmlformats.org/officeDocument/2006/relationships/notesSlide" Target="/ppt/notesSlides/notesSlide8.xml" Id="R681316b5372e4c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49e36d3d14ba7" /><Relationship Type="http://schemas.openxmlformats.org/officeDocument/2006/relationships/notesSlide" Target="/ppt/notesSlides/notesSlide9.xml" Id="R35a50e8a214c4c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305e50e804b32" /><Relationship Type="http://schemas.openxmlformats.org/officeDocument/2006/relationships/notesSlide" Target="/ppt/notesSlides/notesSlide10.xml" Id="R5c4c26633b134e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bd01d0ab9431c" /><Relationship Type="http://schemas.openxmlformats.org/officeDocument/2006/relationships/notesSlide" Target="/ppt/notesSlides/notesSlide11.xml" Id="Rd77f99d6b8c543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7F187F-86CC-4FA9-9CAE-CE88D272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King County House Sales Analysis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280C55E-9D06-4260-87BA-0F449618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Maximizing Resale Value Through Location, Renovation, and Sales Timing</a:t>
            </a:r>
          </a:p>
        </p:txBody>
      </p:sp>
      <p:sp>
        <p:nvSpPr>
          <p:cNvPr id="3" name="client-line">
            <a:extLst xmlns:a="http://schemas.openxmlformats.org/drawingml/2006/main">
              <a:ext uri="{FF2B5EF4-FFF2-40B4-BE49-F238E27FC236}">
                <a16:creationId xmlns:a16="http://schemas.microsoft.com/office/drawing/2014/main" id="{7EC295D1-A697-4FBB-9D20-43300DC5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Prepared for Timothy Stevens</a:t>
            </a:r>
          </a:p>
        </p:txBody>
      </p:sp>
    </p:spTree>
    <p:extLst>
      <p:ext uri="{BB962C8B-B14F-4D97-AF65-F5344CB8AC3E}">
        <p14:creationId xmlns:p14="http://schemas.microsoft.com/office/powerpoint/2010/main" val="1332308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oc-title">
            <a:extLst xmlns:a="http://schemas.openxmlformats.org/drawingml/2006/main">
              <a:ext uri="{FF2B5EF4-FFF2-40B4-BE49-F238E27FC236}">
                <a16:creationId xmlns:a16="http://schemas.microsoft.com/office/drawing/2014/main" id="{35A545CD-2689-4C7F-B830-DC9360A5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Table of Contents</a:t>
            </a:r>
          </a:p>
        </p:txBody>
      </p:sp>
      <p:sp>
        <p:nvSpPr>
          <p:cNvPr id="2" name="toc-body">
            <a:extLst xmlns:a="http://schemas.openxmlformats.org/drawingml/2006/main">
              <a:ext uri="{FF2B5EF4-FFF2-40B4-BE49-F238E27FC236}">
                <a16:creationId xmlns:a16="http://schemas.microsoft.com/office/drawing/2014/main" id="{625051AB-54D0-4A08-9912-0141312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0515600" cy="504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DATASET</a:t>
            </a:r>
          </a:p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21,597 house sales · 21 variables · Target: price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BUSINESS QUESTION</a:t>
            </a:r>
          </a:p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How can a seller maximize resale value through strategic renovations, location-based pricing, and optimal sales timing over the next year?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HYPOTHESES</a:t>
            </a:r>
          </a:p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H1 — Location: Top-tier ZIP codes and waterfront areas have higher median prices.</a:t>
            </a:r>
          </a:p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H2 — Renovation: Recently renovated homes have a higher price premium than non-renovated homes of similar size.</a:t>
            </a:r>
          </a:p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H3 — Timing: Spring and summer sales have higher median prices than fall and winter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RECOMMENDATIONS</a:t>
            </a:r>
          </a:p>
          <a:p xmlns:a="http://schemas.openxmlformats.org/drawingml/2006/main">
            <a:pPr>
              <a:defRPr sz="1425">
                <a:solidFill>
                  <a:srgbClr val="222222"/>
                </a:solidFill>
              </a:defRPr>
            </a:pPr>
            <a:r>
              <a:rPr sz="1425">
                <a:solidFill>
                  <a:srgbClr val="222222"/>
                </a:solidFill>
              </a:rPr>
              <a:t>Location-based pricing · Renovation strategy · Optimal sales timing</a:t>
            </a:r>
          </a:p>
        </p:txBody>
      </p:sp>
    </p:spTree>
    <p:extLst>
      <p:ext uri="{BB962C8B-B14F-4D97-AF65-F5344CB8AC3E}">
        <p14:creationId xmlns:p14="http://schemas.microsoft.com/office/powerpoint/2010/main" val="543298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BA97FE23-0ED2-4F2A-8D97-348DCC45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Client</a:t>
            </a:r>
          </a:p>
        </p:txBody>
      </p:sp>
      <p:sp>
        <p:nvSpPr>
          <p:cNvPr id="2" name="client-name">
            <a:extLst xmlns:a="http://schemas.openxmlformats.org/drawingml/2006/main">
              <a:ext uri="{FF2B5EF4-FFF2-40B4-BE49-F238E27FC236}">
                <a16:creationId xmlns:a16="http://schemas.microsoft.com/office/drawing/2014/main" id="{A523BBD9-4A16-4836-9066-3C4FCE6B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Timothy Stevens — Seller</a:t>
            </a:r>
          </a:p>
        </p:txBody>
      </p:sp>
      <p:sp>
        <p:nvSpPr>
          <p:cNvPr id="3" name="client-details">
            <a:extLst xmlns:a="http://schemas.openxmlformats.org/drawingml/2006/main">
              <a:ext uri="{FF2B5EF4-FFF2-40B4-BE49-F238E27FC236}">
                <a16:creationId xmlns:a16="http://schemas.microsoft.com/office/drawing/2014/main" id="{3E0EA6E5-1ADF-4C17-A6A8-0C3199EF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05156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CLIENT PROFILE</a:t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Owns expensive houses in the city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SELLING GOAL</a:t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Needs to sell the houses within the next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RENOVATION OPTION</a:t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Open to renovation if it increases profit.</a:t>
            </a:r>
          </a:p>
        </p:txBody>
      </p:sp>
    </p:spTree>
    <p:extLst>
      <p:ext uri="{BB962C8B-B14F-4D97-AF65-F5344CB8AC3E}">
        <p14:creationId xmlns:p14="http://schemas.microsoft.com/office/powerpoint/2010/main" val="1822604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a-title">
            <a:extLst xmlns:a="http://schemas.openxmlformats.org/drawingml/2006/main">
              <a:ext uri="{FF2B5EF4-FFF2-40B4-BE49-F238E27FC236}">
                <a16:creationId xmlns:a16="http://schemas.microsoft.com/office/drawing/2014/main" id="{23590052-5617-4660-B4FD-7B659EFF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What Is the KCHD?</a:t>
            </a:r>
          </a:p>
        </p:txBody>
      </p:sp>
      <p:sp>
        <p:nvSpPr>
          <p:cNvPr id="2" name="data-intro">
            <a:extLst xmlns:a="http://schemas.openxmlformats.org/drawingml/2006/main">
              <a:ext uri="{FF2B5EF4-FFF2-40B4-BE49-F238E27FC236}">
                <a16:creationId xmlns:a16="http://schemas.microsoft.com/office/drawing/2014/main" id="{6A2FD63A-E9CE-41EC-8AF3-A6953250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King County Housing Data</a:t>
            </a:r>
          </a:p>
          <a:p xmlns:a="http://schemas.openxmlformats.org/drawingml/2006/main">
            <a:pPr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21,597 house sales in King County, USA · 21 variables</a:t>
            </a:r>
          </a:p>
        </p:txBody>
      </p:sp>
      <p:sp>
        <p:nvSpPr>
          <p:cNvPr id="3" name="data-details">
            <a:extLst xmlns:a="http://schemas.openxmlformats.org/drawingml/2006/main">
              <a:ext uri="{FF2B5EF4-FFF2-40B4-BE49-F238E27FC236}">
                <a16:creationId xmlns:a16="http://schemas.microsoft.com/office/drawing/2014/main" id="{009251C8-6AA5-4062-8C41-808496C1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05156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PROPERTY FEATURES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Bedrooms · Bathrooms · Living area · Lot size · Floors · Above-ground and basement area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QUALITY AND HISTORY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Condition · Grade · Waterfront · View · Year built · Year renovated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LOCATION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ZIP code · Latitude · Longitude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NEARBY PROPERTIES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Living and lot space of the nearest 15 neighbors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SALE INFORMATION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Property ID · Sale date · Selling price</a:t>
            </a:r>
          </a:p>
        </p:txBody>
      </p:sp>
    </p:spTree>
    <p:extLst>
      <p:ext uri="{BB962C8B-B14F-4D97-AF65-F5344CB8AC3E}">
        <p14:creationId xmlns:p14="http://schemas.microsoft.com/office/powerpoint/2010/main" val="981989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3D595170-2F24-414C-921F-391AB0A2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Hypothesis</a:t>
            </a:r>
          </a:p>
        </p:txBody>
      </p:sp>
    </p:spTree>
    <p:extLst>
      <p:ext uri="{BB962C8B-B14F-4D97-AF65-F5344CB8AC3E}">
        <p14:creationId xmlns:p14="http://schemas.microsoft.com/office/powerpoint/2010/main" val="576417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E7871FAD-253D-44C4-9E47-6B5C180F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Three Hypotheses</a:t>
            </a:r>
          </a:p>
        </p:txBody>
      </p:sp>
      <p:sp>
        <p:nvSpPr>
          <p:cNvPr id="2" name="slide-body">
            <a:extLst xmlns:a="http://schemas.openxmlformats.org/drawingml/2006/main">
              <a:ext uri="{FF2B5EF4-FFF2-40B4-BE49-F238E27FC236}">
                <a16:creationId xmlns:a16="http://schemas.microsoft.com/office/drawing/2014/main" id="{6887C3E9-6821-4C2B-B475-E40C794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03632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22222"/>
                </a:solidFill>
              </a:defRPr>
            </a:pPr>
            <a:r>
              <a:rPr sz="1950">
                <a:solidFill>
                  <a:srgbClr val="222222"/>
                </a:solidFill>
              </a:rPr>
              <a:t>H1 — LOCATION</a:t>
            </a:r>
          </a:p>
          <a:p xmlns:a="http://schemas.openxmlformats.org/drawingml/2006/main">
            <a:pPr>
              <a:defRPr sz="1950">
                <a:solidFill>
                  <a:srgbClr val="222222"/>
                </a:solidFill>
              </a:defRPr>
            </a:pPr>
            <a:r>
              <a:rPr sz="1950">
                <a:solidFill>
                  <a:srgbClr val="222222"/>
                </a:solidFill>
              </a:rPr>
              <a:t>Homes in top-tier ZIP codes or waterfront areas command significantly higher median prices.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222222"/>
                </a:solidFill>
              </a:defRPr>
            </a:pPr>
            <a:r>
              <a:rPr sz="1950">
                <a:solidFill>
                  <a:srgbClr val="222222"/>
                </a:solidFill>
              </a:rPr>
              <a:t>H2 — RENOVATION</a:t>
            </a:r>
          </a:p>
          <a:p xmlns:a="http://schemas.openxmlformats.org/drawingml/2006/main">
            <a:pPr>
              <a:defRPr sz="1950">
                <a:solidFill>
                  <a:srgbClr val="222222"/>
                </a:solidFill>
              </a:defRPr>
            </a:pPr>
            <a:r>
              <a:rPr sz="1950">
                <a:solidFill>
                  <a:srgbClr val="222222"/>
                </a:solidFill>
              </a:rPr>
              <a:t>Recently renovated homes sell at a higher price premium than non-renovated homes of similar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222222"/>
                </a:solidFill>
              </a:defRPr>
            </a:pPr>
            <a:r>
              <a:rPr sz="1950">
                <a:solidFill>
                  <a:srgbClr val="222222"/>
                </a:solidFill>
              </a:rPr>
              <a:t>H3 — TIMING</a:t>
            </a:r>
          </a:p>
          <a:p xmlns:a="http://schemas.openxmlformats.org/drawingml/2006/main">
            <a:pPr>
              <a:defRPr sz="1950">
                <a:solidFill>
                  <a:srgbClr val="222222"/>
                </a:solidFill>
              </a:defRPr>
            </a:pPr>
            <a:r>
              <a:rPr sz="1950">
                <a:solidFill>
                  <a:srgbClr val="222222"/>
                </a:solidFill>
              </a:rPr>
              <a:t>Homes sold during spring and summer achieve higher median prices than homes sold during fall and winter.</a:t>
            </a:r>
          </a:p>
        </p:txBody>
      </p:sp>
    </p:spTree>
    <p:extLst>
      <p:ext uri="{BB962C8B-B14F-4D97-AF65-F5344CB8AC3E}">
        <p14:creationId xmlns:p14="http://schemas.microsoft.com/office/powerpoint/2010/main" val="10864370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2BEC760B-9BD2-42B2-BB58-2EFD48C9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H1 — Location</a:t>
            </a:r>
          </a:p>
        </p:txBody>
      </p:sp>
      <p:sp>
        <p:nvSpPr>
          <p:cNvPr id="2" name="slide-body">
            <a:extLst xmlns:a="http://schemas.openxmlformats.org/drawingml/2006/main">
              <a:ext uri="{FF2B5EF4-FFF2-40B4-BE49-F238E27FC236}">
                <a16:creationId xmlns:a16="http://schemas.microsoft.com/office/drawing/2014/main" id="{32C23951-0E8B-44AB-B92B-D223F7D7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03632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22222"/>
                </a:solidFill>
              </a:defRPr>
            </a:pPr>
            <a:r>
              <a:rPr sz="1950">
                <a:solidFill>
                  <a:srgbClr val="222222"/>
                </a:solidFill>
              </a:rPr>
              <a:t>Homes in top-tier ZIP codes or waterfront areas command significantly higher median prices.</a:t>
            </a:r>
          </a:p>
        </p:txBody>
      </p:sp>
    </p:spTree>
    <p:extLst>
      <p:ext uri="{BB962C8B-B14F-4D97-AF65-F5344CB8AC3E}">
        <p14:creationId xmlns:p14="http://schemas.microsoft.com/office/powerpoint/2010/main" val="15768421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A730D21A-F873-499B-B937-C95D5587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H2 — Renovation</a:t>
            </a:r>
          </a:p>
        </p:txBody>
      </p:sp>
      <p:sp>
        <p:nvSpPr>
          <p:cNvPr id="2" name="slide-body">
            <a:extLst xmlns:a="http://schemas.openxmlformats.org/drawingml/2006/main">
              <a:ext uri="{FF2B5EF4-FFF2-40B4-BE49-F238E27FC236}">
                <a16:creationId xmlns:a16="http://schemas.microsoft.com/office/drawing/2014/main" id="{42F24784-6E84-4C18-9F59-3CFD719E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03632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22222"/>
                </a:solidFill>
              </a:defRPr>
            </a:pPr>
            <a:r>
              <a:rPr sz="1950">
                <a:solidFill>
                  <a:srgbClr val="222222"/>
                </a:solidFill>
              </a:rPr>
              <a:t>Recently renovated homes sell at a higher price premium than non-renovated homes of similar size.</a:t>
            </a:r>
          </a:p>
        </p:txBody>
      </p:sp>
    </p:spTree>
    <p:extLst>
      <p:ext uri="{BB962C8B-B14F-4D97-AF65-F5344CB8AC3E}">
        <p14:creationId xmlns:p14="http://schemas.microsoft.com/office/powerpoint/2010/main" val="1010111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B37824C0-B548-46E2-8C98-90CA4C98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H3 — Timing</a:t>
            </a:r>
          </a:p>
        </p:txBody>
      </p:sp>
      <p:sp>
        <p:nvSpPr>
          <p:cNvPr id="2" name="slide-body">
            <a:extLst xmlns:a="http://schemas.openxmlformats.org/drawingml/2006/main">
              <a:ext uri="{FF2B5EF4-FFF2-40B4-BE49-F238E27FC236}">
                <a16:creationId xmlns:a16="http://schemas.microsoft.com/office/drawing/2014/main" id="{E7691FD9-F625-48C1-B466-5BEEAC85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03632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22222"/>
                </a:solidFill>
              </a:defRPr>
            </a:pPr>
            <a:r>
              <a:rPr sz="1950">
                <a:solidFill>
                  <a:srgbClr val="222222"/>
                </a:solidFill>
              </a:rPr>
              <a:t>Homes sold during spring and summer achieve higher median prices than homes sold during fall and winter.</a:t>
            </a:r>
          </a:p>
        </p:txBody>
      </p:sp>
    </p:spTree>
    <p:extLst>
      <p:ext uri="{BB962C8B-B14F-4D97-AF65-F5344CB8AC3E}">
        <p14:creationId xmlns:p14="http://schemas.microsoft.com/office/powerpoint/2010/main" val="3025243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013D748E-AFC9-430F-B05D-D628D0D3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My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970548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heading">
            <a:extLst xmlns:a="http://schemas.openxmlformats.org/drawingml/2006/main">
              <a:ext uri="{FF2B5EF4-FFF2-40B4-BE49-F238E27FC236}">
                <a16:creationId xmlns:a16="http://schemas.microsoft.com/office/drawing/2014/main" id="{7E57D3FF-2C22-4CCE-AF5E-1C6425F7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Raise Your Hand and Ask!</a:t>
            </a:r>
          </a:p>
        </p:txBody>
      </p:sp>
    </p:spTree>
    <p:extLst>
      <p:ext uri="{BB962C8B-B14F-4D97-AF65-F5344CB8AC3E}">
        <p14:creationId xmlns:p14="http://schemas.microsoft.com/office/powerpoint/2010/main" val="1668413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2026-07-23T13:32:31.2570000Z</dcterms:created>
  <dcterms:modified xsi:type="dcterms:W3CDTF">2026-07-23T13:32:31.2570000Z</dcterms:modified>
</coreProperties>
</file>