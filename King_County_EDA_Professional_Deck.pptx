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_rels/.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notesMasters/_rels/notesMaster1.xml.rels" ContentType="application/vnd.openxmlformats-package.relationships+xml"/>
  <Override PartName="/ppt/notesMasters/notesMaster1.xml" ContentType="application/vnd.openxmlformats-officedocument.presentationml.notesMaster+xml"/>
  <Override PartName="/ppt/presentation.xml" ContentType="application/vnd.openxmlformats-officedocument.presentationml.presentation.main+xml"/>
  <Override PartName="/ppt/slideLayouts/_rels/slideLayout12.xml.rels" ContentType="application/vnd.openxmlformats-package.relationships+xml"/>
  <Override PartName="/ppt/slideLayouts/_rels/slideLayout11.xml.rels" ContentType="application/vnd.openxmlformats-package.relationships+xml"/>
  <Override PartName="/ppt/slideLayouts/_rels/slideLayout10.xml.rels" ContentType="application/vnd.openxmlformats-package.relationships+xml"/>
  <Override PartName="/ppt/slideLayouts/_rels/slideLayout8.xml.rels" ContentType="application/vnd.openxmlformats-package.relationships+xml"/>
  <Override PartName="/ppt/slideLayouts/_rels/slideLayout1.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3.xml.rels" ContentType="application/vnd.openxmlformats-package.relationships+xml"/>
  <Override PartName="/ppt/slideLayouts/_rels/slideLayout9.xml.rels" ContentType="application/vnd.openxmlformats-package.relationships+xml"/>
  <Override PartName="/ppt/slideLayouts/_rels/slideLayout2.xml.rels" ContentType="application/vnd.openxmlformats-package.relationships+xml"/>
  <Override PartName="/ppt/slideLayouts/_rels/slideLayout7.xml.rels" ContentType="application/vnd.openxmlformats-package.relationships+xml"/>
  <Override PartName="/ppt/slideLayouts/_rels/slideLayout6.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12.xml" ContentType="application/vnd.openxmlformats-officedocument.presentationml.slideLayout+xml"/>
  <Override PartName="/ppt/_rels/presentation.xml.rels" ContentType="application/vnd.openxmlformats-package.relationships+xml"/>
  <Override PartName="/ppt/media/image1.jpeg" ContentType="image/jpeg"/>
  <Override PartName="/ppt/media/image2.jpeg" ContentType="image/jpeg"/>
  <Override PartName="/ppt/media/image3.jpeg" ContentType="image/jpeg"/>
  <Override PartName="/ppt/media/image4.jpeg" ContentType="image/jpeg"/>
  <Override PartName="/ppt/media/image5.jpeg" ContentType="image/jpeg"/>
  <Override PartName="/ppt/media/image6.jpeg" ContentType="image/jpeg"/>
  <Override PartName="/ppt/presProps.xml" ContentType="application/vnd.openxmlformats-officedocument.presentationml.presProps+xml"/>
  <Override PartName="/ppt/slides/_rels/slide9.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1.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1.xml.rels" ContentType="application/vnd.openxmlformats-package.relationships+xml"/>
  <Override PartName="/ppt/slides/_rels/slide10.xml.rels" ContentType="application/vnd.openxmlformats-package.relationships+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_rels/notesSlide9.xml.rels" ContentType="application/vnd.openxmlformats-package.relationships+xml"/>
  <Override PartName="/ppt/notesSlides/_rels/notesSlide7.xml.rels" ContentType="application/vnd.openxmlformats-package.relationships+xml"/>
  <Override PartName="/ppt/notesSlides/_rels/notesSlide8.xml.rels" ContentType="application/vnd.openxmlformats-package.relationships+xml"/>
  <Override PartName="/ppt/notesSlides/_rels/notesSlide6.xml.rels" ContentType="application/vnd.openxmlformats-package.relationships+xml"/>
  <Override PartName="/ppt/notesSlides/_rels/notesSlide5.xml.rels" ContentType="application/vnd.openxmlformats-package.relationships+xml"/>
  <Override PartName="/ppt/notesSlides/_rels/notesSlide4.xml.rels" ContentType="application/vnd.openxmlformats-package.relationships+xml"/>
  <Override PartName="/ppt/notesSlides/_rels/notesSlide3.xml.rels" ContentType="application/vnd.openxmlformats-package.relationships+xml"/>
  <Override PartName="/ppt/notesSlides/_rels/notesSlide11.xml.rels" ContentType="application/vnd.openxmlformats-package.relationships+xml"/>
  <Override PartName="/ppt/notesSlides/_rels/notesSlide10.xml.rels" ContentType="application/vnd.openxmlformats-package.relationships+xml"/>
  <Override PartName="/ppt/notesSlides/_rels/notesSlide2.xml.rels" ContentType="application/vnd.openxmlformats-package.relationships+xml"/>
  <Override PartName="/ppt/notesSlides/_rels/notesSlide1.xml.rels" ContentType="application/vnd.openxmlformats-package.relationship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10.xml" ContentType="application/vnd.openxmlformats-officedocument.presentationml.notesSlide+xml"/>
  <Override PartName="/ppt/notesSlides/notesSlide4.xml" ContentType="application/vnd.openxmlformats-officedocument.presentationml.notesSlide+xml"/>
  <Override PartName="/ppt/notesSlides/notesSlide1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b="0" lang="en-US" sz="1800" spc="-1" strike="noStrike">
                <a:solidFill>
                  <a:srgbClr val="000000"/>
                </a:solidFill>
                <a:latin typeface="Aptos"/>
              </a:rPr>
              <a:t>Click to move the slide</a:t>
            </a:r>
            <a:endParaRPr b="0" lang="en-US" sz="1800" spc="-1" strike="noStrike">
              <a:solidFill>
                <a:srgbClr val="000000"/>
              </a:solidFill>
              <a:latin typeface="Aptos"/>
            </a:endParaRPr>
          </a:p>
        </p:txBody>
      </p:sp>
      <p:sp>
        <p:nvSpPr>
          <p:cNvPr id="39"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r>
              <a:rPr b="0" lang="en-US" sz="2000" spc="-1" strike="noStrike">
                <a:latin typeface="Arial"/>
              </a:rPr>
              <a:t>Click to edit the notes format</a:t>
            </a:r>
            <a:endParaRPr b="0" lang="en-US" sz="2000" spc="-1" strike="noStrike">
              <a:latin typeface="Arial"/>
            </a:endParaRPr>
          </a:p>
        </p:txBody>
      </p:sp>
      <p:sp>
        <p:nvSpPr>
          <p:cNvPr id="40" name="PlaceHolder 3"/>
          <p:cNvSpPr>
            <a:spLocks noGrp="1"/>
          </p:cNvSpPr>
          <p:nvPr>
            <p:ph type="hdr"/>
          </p:nvPr>
        </p:nvSpPr>
        <p:spPr>
          <a:xfrm>
            <a:off x="0" y="0"/>
            <a:ext cx="3280680" cy="534240"/>
          </a:xfrm>
          <a:prstGeom prst="rect">
            <a:avLst/>
          </a:prstGeom>
          <a:noFill/>
          <a:ln w="0">
            <a:noFill/>
          </a:ln>
        </p:spPr>
        <p:txBody>
          <a:bodyPr lIns="0" rIns="0" tIns="0" bIns="0" anchor="t">
            <a:noAutofit/>
          </a:bodyPr>
          <a:p>
            <a:r>
              <a:rPr b="0" lang="en-US" sz="1400" spc="-1" strike="noStrike">
                <a:latin typeface="Times New Roman"/>
              </a:rPr>
              <a:t>&lt;header&gt;</a:t>
            </a:r>
            <a:endParaRPr b="0" lang="en-US" sz="1400" spc="-1" strike="noStrike">
              <a:latin typeface="Times New Roman"/>
            </a:endParaRPr>
          </a:p>
        </p:txBody>
      </p:sp>
      <p:sp>
        <p:nvSpPr>
          <p:cNvPr id="41"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algn="r">
              <a:buNone/>
              <a:defRPr b="0" lang="en-US" sz="1400" spc="-1" strike="noStrike">
                <a:latin typeface="Times New Roman"/>
              </a:defRPr>
            </a:lvl1pPr>
          </a:lstStyle>
          <a:p>
            <a:pPr algn="r">
              <a:buNone/>
            </a:pPr>
            <a:r>
              <a:rPr b="0" lang="en-US" sz="1400" spc="-1" strike="noStrike">
                <a:latin typeface="Times New Roman"/>
              </a:rPr>
              <a:t>&lt;date/time&gt;</a:t>
            </a:r>
            <a:endParaRPr b="0" lang="en-US" sz="1400" spc="-1" strike="noStrike">
              <a:latin typeface="Times New Roman"/>
            </a:endParaRPr>
          </a:p>
        </p:txBody>
      </p:sp>
      <p:sp>
        <p:nvSpPr>
          <p:cNvPr id="42"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a:defRPr b="0" lang="en-US" sz="1400" spc="-1" strike="noStrike">
                <a:latin typeface="Times New Roman"/>
              </a:defRPr>
            </a:lvl1pPr>
          </a:lstStyle>
          <a:p>
            <a:r>
              <a:rPr b="0" lang="en-US" sz="1400" spc="-1" strike="noStrike">
                <a:latin typeface="Times New Roman"/>
              </a:rPr>
              <a:t>&lt;footer&gt;</a:t>
            </a:r>
            <a:endParaRPr b="0" lang="en-US" sz="1400" spc="-1" strike="noStrike">
              <a:latin typeface="Times New Roman"/>
            </a:endParaRPr>
          </a:p>
        </p:txBody>
      </p:sp>
      <p:sp>
        <p:nvSpPr>
          <p:cNvPr id="43"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algn="r">
              <a:buNone/>
              <a:defRPr b="0" lang="en-US" sz="1400" spc="-1" strike="noStrike">
                <a:latin typeface="Times New Roman"/>
              </a:defRPr>
            </a:lvl1pPr>
          </a:lstStyle>
          <a:p>
            <a:pPr algn="r">
              <a:buNone/>
            </a:pPr>
            <a:fld id="{79E79C78-AC85-47FE-8965-574AEFD5FB9F}" type="slidenum">
              <a:rPr b="0" lang="en-US" sz="1400" spc="-1" strike="noStrike">
                <a:latin typeface="Times New Roman"/>
              </a:rPr>
              <a:t>&lt;number&gt;</a:t>
            </a:fld>
            <a:endParaRPr b="0" lang="en-U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 name="PlaceHolder 1"/>
          <p:cNvSpPr>
            <a:spLocks noGrp="1"/>
          </p:cNvSpPr>
          <p:nvPr>
            <p:ph type="sldImg"/>
          </p:nvPr>
        </p:nvSpPr>
        <p:spPr>
          <a:xfrm>
            <a:off x="685800" y="1143000"/>
            <a:ext cx="5486040" cy="3085920"/>
          </a:xfrm>
          <a:prstGeom prst="rect">
            <a:avLst/>
          </a:prstGeom>
          <a:ln w="0">
            <a:noFill/>
          </a:ln>
        </p:spPr>
      </p:sp>
      <p:sp>
        <p:nvSpPr>
          <p:cNvPr id="212"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216000">
              <a:lnSpc>
                <a:spcPct val="100000"/>
              </a:lnSpc>
              <a:buNone/>
            </a:pPr>
            <a:r>
              <a:rPr b="0" lang="en-US" sz="2000" spc="-1" strike="noStrike">
                <a:latin typeface="Arial"/>
              </a:rPr>
              <a:t>Open the presentation by saying: This analysis focuses on King County house sales and is built for a seller, Timothy Stevens. The goal is not to build a complex technical model. The goal is to identify practical factors that can help him maximize resale value over the next year.</a:t>
            </a:r>
            <a:endParaRPr b="0" lang="en-US" sz="2000" spc="-1" strike="noStrike">
              <a:latin typeface="Arial"/>
            </a:endParaRPr>
          </a:p>
        </p:txBody>
      </p:sp>
      <p:sp>
        <p:nvSpPr>
          <p:cNvPr id="213" name="PlaceHolder 3"/>
          <p:cNvSpPr>
            <a:spLocks noGrp="1"/>
          </p:cNvSpPr>
          <p:nvPr>
            <p:ph type="sldNum" idx="4"/>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62486783-E136-4358-86D5-862E8590CECE}"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 name="PlaceHolder 1"/>
          <p:cNvSpPr>
            <a:spLocks noGrp="1"/>
          </p:cNvSpPr>
          <p:nvPr>
            <p:ph type="sldImg"/>
          </p:nvPr>
        </p:nvSpPr>
        <p:spPr>
          <a:xfrm>
            <a:off x="685800" y="1143000"/>
            <a:ext cx="5486040" cy="3085920"/>
          </a:xfrm>
          <a:prstGeom prst="rect">
            <a:avLst/>
          </a:prstGeom>
          <a:ln w="0">
            <a:noFill/>
          </a:ln>
        </p:spPr>
      </p:sp>
      <p:sp>
        <p:nvSpPr>
          <p:cNvPr id="215"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216000">
              <a:lnSpc>
                <a:spcPct val="100000"/>
              </a:lnSpc>
              <a:buNone/>
            </a:pPr>
            <a:r>
              <a:rPr b="0" lang="en-US" sz="2000" spc="-1" strike="noStrike">
                <a:latin typeface="Arial"/>
              </a:rPr>
              <a:t>Use this slide to set expectations. Say that the presentation will be simple and business focused. First, you will introduce the client and his decision. Then you will explain the dataset and cleaning choices. After that, you will summarize the four hypotheses. Finally, you will translate the findings into recommendations.</a:t>
            </a:r>
            <a:endParaRPr b="0" lang="en-US" sz="2000" spc="-1" strike="noStrike">
              <a:latin typeface="Arial"/>
            </a:endParaRPr>
          </a:p>
        </p:txBody>
      </p:sp>
      <p:sp>
        <p:nvSpPr>
          <p:cNvPr id="216" name="PlaceHolder 3"/>
          <p:cNvSpPr>
            <a:spLocks noGrp="1"/>
          </p:cNvSpPr>
          <p:nvPr>
            <p:ph type="sldNum" idx="5"/>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3C3F67D6-5E3B-4662-82E5-CDFC75CF748F}"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7" name="PlaceHolder 1"/>
          <p:cNvSpPr>
            <a:spLocks noGrp="1"/>
          </p:cNvSpPr>
          <p:nvPr>
            <p:ph type="sldImg"/>
          </p:nvPr>
        </p:nvSpPr>
        <p:spPr>
          <a:xfrm>
            <a:off x="685800" y="1143000"/>
            <a:ext cx="5486040" cy="3085920"/>
          </a:xfrm>
          <a:prstGeom prst="rect">
            <a:avLst/>
          </a:prstGeom>
          <a:ln w="0">
            <a:noFill/>
          </a:ln>
        </p:spPr>
      </p:sp>
      <p:sp>
        <p:nvSpPr>
          <p:cNvPr id="218"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216000">
              <a:lnSpc>
                <a:spcPct val="100000"/>
              </a:lnSpc>
              <a:buNone/>
            </a:pPr>
            <a:r>
              <a:rPr b="0" lang="en-US" sz="2000" spc="-1" strike="noStrike">
                <a:latin typeface="Arial"/>
              </a:rPr>
              <a:t>Introduce Timothy Stevens first, before the dataset. Explain that he is not asking for a technical analysis for its own sake. He needs a practical selling strategy. The central question is: what should he focus on before selling — location-based pricing, renovation, quality, or timing?</a:t>
            </a:r>
            <a:endParaRPr b="0" lang="en-US" sz="2000" spc="-1" strike="noStrike">
              <a:latin typeface="Arial"/>
            </a:endParaRPr>
          </a:p>
        </p:txBody>
      </p:sp>
      <p:sp>
        <p:nvSpPr>
          <p:cNvPr id="219" name="PlaceHolder 3"/>
          <p:cNvSpPr>
            <a:spLocks noGrp="1"/>
          </p:cNvSpPr>
          <p:nvPr>
            <p:ph type="sldNum" idx="6"/>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6EA0F231-2A45-4026-ADC4-203093F5E0A0}"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 name="PlaceHolder 1"/>
          <p:cNvSpPr>
            <a:spLocks noGrp="1"/>
          </p:cNvSpPr>
          <p:nvPr>
            <p:ph type="sldImg"/>
          </p:nvPr>
        </p:nvSpPr>
        <p:spPr>
          <a:xfrm>
            <a:off x="685800" y="1143000"/>
            <a:ext cx="5486040" cy="3085920"/>
          </a:xfrm>
          <a:prstGeom prst="rect">
            <a:avLst/>
          </a:prstGeom>
          <a:ln w="0">
            <a:noFill/>
          </a:ln>
        </p:spPr>
      </p:sp>
      <p:sp>
        <p:nvSpPr>
          <p:cNvPr id="221"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216000">
              <a:lnSpc>
                <a:spcPct val="100000"/>
              </a:lnSpc>
              <a:buNone/>
            </a:pPr>
            <a:r>
              <a:rPr b="0" lang="en-US" sz="2000" spc="-1" strike="noStrike">
                <a:latin typeface="Arial"/>
              </a:rPr>
              <a:t>Explain the dataset briefly. Say that each row is a house sale and the target variable is price. Mention that the cleaning was important because the renovation column had both zero and missing values. To avoid a wrong assumption, unknown renovation values were kept separate for the renovation hypothesis.</a:t>
            </a:r>
            <a:endParaRPr b="0" lang="en-US" sz="2000" spc="-1" strike="noStrike">
              <a:latin typeface="Arial"/>
            </a:endParaRPr>
          </a:p>
        </p:txBody>
      </p:sp>
      <p:sp>
        <p:nvSpPr>
          <p:cNvPr id="222" name="PlaceHolder 3"/>
          <p:cNvSpPr>
            <a:spLocks noGrp="1"/>
          </p:cNvSpPr>
          <p:nvPr>
            <p:ph type="sldNum" idx="7"/>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BF6DF4DC-D567-4879-AB56-2C57B02ADBDE}"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3" name="PlaceHolder 1"/>
          <p:cNvSpPr>
            <a:spLocks noGrp="1"/>
          </p:cNvSpPr>
          <p:nvPr>
            <p:ph type="sldImg"/>
          </p:nvPr>
        </p:nvSpPr>
        <p:spPr>
          <a:xfrm>
            <a:off x="685800" y="1143000"/>
            <a:ext cx="5486040" cy="3085920"/>
          </a:xfrm>
          <a:prstGeom prst="rect">
            <a:avLst/>
          </a:prstGeom>
          <a:ln w="0">
            <a:noFill/>
          </a:ln>
        </p:spPr>
      </p:sp>
      <p:sp>
        <p:nvSpPr>
          <p:cNvPr id="224"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216000">
              <a:lnSpc>
                <a:spcPct val="100000"/>
              </a:lnSpc>
              <a:buNone/>
            </a:pPr>
            <a:r>
              <a:rPr b="0" lang="en-US" sz="2000" spc="-1" strike="noStrike">
                <a:latin typeface="Arial"/>
              </a:rPr>
              <a:t>Present the four hypotheses quickly. Emphasize that H1, H2, and H3 are the main business drivers. H4 is treated as a secondary question because timing might matter, but it is probably less powerful than property characteristics.</a:t>
            </a:r>
            <a:endParaRPr b="0" lang="en-US" sz="2000" spc="-1" strike="noStrike">
              <a:latin typeface="Arial"/>
            </a:endParaRPr>
          </a:p>
        </p:txBody>
      </p:sp>
      <p:sp>
        <p:nvSpPr>
          <p:cNvPr id="225" name="PlaceHolder 3"/>
          <p:cNvSpPr>
            <a:spLocks noGrp="1"/>
          </p:cNvSpPr>
          <p:nvPr>
            <p:ph type="sldNum" idx="8"/>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7053AD8E-66FA-428B-8FC8-6E543B033809}"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 name="PlaceHolder 1"/>
          <p:cNvSpPr>
            <a:spLocks noGrp="1"/>
          </p:cNvSpPr>
          <p:nvPr>
            <p:ph type="sldImg"/>
          </p:nvPr>
        </p:nvSpPr>
        <p:spPr>
          <a:xfrm>
            <a:off x="685800" y="1143000"/>
            <a:ext cx="5486040" cy="3085920"/>
          </a:xfrm>
          <a:prstGeom prst="rect">
            <a:avLst/>
          </a:prstGeom>
          <a:ln w="0">
            <a:noFill/>
          </a:ln>
        </p:spPr>
      </p:sp>
      <p:sp>
        <p:nvSpPr>
          <p:cNvPr id="227"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216000">
              <a:lnSpc>
                <a:spcPct val="100000"/>
              </a:lnSpc>
              <a:buNone/>
            </a:pPr>
            <a:r>
              <a:rPr b="0" lang="en-US" sz="2000" spc="-1" strike="noStrike">
                <a:latin typeface="Arial"/>
              </a:rPr>
              <a:t>Explain that location is the strongest and easiest finding to communicate. The median price in the most expensive ZIP code is about 1.895 million dollars, while the lowest ZIP code is about 235 thousand dollars. Waterfront homes also have much higher median prices. The business meaning is simple: pricing should start with location.</a:t>
            </a:r>
            <a:endParaRPr b="0" lang="en-US" sz="2000" spc="-1" strike="noStrike">
              <a:latin typeface="Arial"/>
            </a:endParaRPr>
          </a:p>
        </p:txBody>
      </p:sp>
      <p:sp>
        <p:nvSpPr>
          <p:cNvPr id="228" name="PlaceHolder 3"/>
          <p:cNvSpPr>
            <a:spLocks noGrp="1"/>
          </p:cNvSpPr>
          <p:nvPr>
            <p:ph type="sldNum" idx="9"/>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CF89FF1C-1C0F-4FA2-8894-79ED0ED9E9AF}"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9" name="PlaceHolder 1"/>
          <p:cNvSpPr>
            <a:spLocks noGrp="1"/>
          </p:cNvSpPr>
          <p:nvPr>
            <p:ph type="sldImg"/>
          </p:nvPr>
        </p:nvSpPr>
        <p:spPr>
          <a:xfrm>
            <a:off x="685800" y="1143000"/>
            <a:ext cx="5486040" cy="3085920"/>
          </a:xfrm>
          <a:prstGeom prst="rect">
            <a:avLst/>
          </a:prstGeom>
          <a:ln w="0">
            <a:noFill/>
          </a:ln>
        </p:spPr>
      </p:sp>
      <p:sp>
        <p:nvSpPr>
          <p:cNvPr id="230"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216000">
              <a:lnSpc>
                <a:spcPct val="100000"/>
              </a:lnSpc>
              <a:buNone/>
            </a:pPr>
            <a:r>
              <a:rPr b="0" lang="en-US" sz="2000" spc="-1" strike="noStrike">
                <a:latin typeface="Arial"/>
              </a:rPr>
              <a:t>For renovation, keep the explanation short. Renovated homes have a median price of about 607.5 thousand dollars, compared with 448 thousand dollars for non-renovated homes. However, remind the audience that this does not automatically mean every renovation is profitable. It means renovation should be considered selectively, especially for high-value homes where improvement costs can be recovered.</a:t>
            </a:r>
            <a:endParaRPr b="0" lang="en-US" sz="2000" spc="-1" strike="noStrike">
              <a:latin typeface="Arial"/>
            </a:endParaRPr>
          </a:p>
        </p:txBody>
      </p:sp>
      <p:sp>
        <p:nvSpPr>
          <p:cNvPr id="231" name="PlaceHolder 3"/>
          <p:cNvSpPr>
            <a:spLocks noGrp="1"/>
          </p:cNvSpPr>
          <p:nvPr>
            <p:ph type="sldNum" idx="10"/>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3BFDA713-8630-4FA4-9075-AB9C91E48947}"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 name="PlaceHolder 1"/>
          <p:cNvSpPr>
            <a:spLocks noGrp="1"/>
          </p:cNvSpPr>
          <p:nvPr>
            <p:ph type="sldImg"/>
          </p:nvPr>
        </p:nvSpPr>
        <p:spPr>
          <a:xfrm>
            <a:off x="685800" y="1143000"/>
            <a:ext cx="5486040" cy="3085920"/>
          </a:xfrm>
          <a:prstGeom prst="rect">
            <a:avLst/>
          </a:prstGeom>
          <a:ln w="0">
            <a:noFill/>
          </a:ln>
        </p:spPr>
      </p:sp>
      <p:sp>
        <p:nvSpPr>
          <p:cNvPr id="233"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216000">
              <a:lnSpc>
                <a:spcPct val="100000"/>
              </a:lnSpc>
              <a:buNone/>
            </a:pPr>
            <a:r>
              <a:rPr b="0" lang="en-US" sz="2000" spc="-1" strike="noStrike">
                <a:latin typeface="Arial"/>
              </a:rPr>
              <a:t>Explain grade as quality of construction and design, not just size. The median price increases strongly from grade 7 to grade 10 and grade 13. For a seller of expensive homes, this is useful because grade supports premium pricing and can guide where renovation or presentation improvements may matter most.</a:t>
            </a:r>
            <a:endParaRPr b="0" lang="en-US" sz="2000" spc="-1" strike="noStrike">
              <a:latin typeface="Arial"/>
            </a:endParaRPr>
          </a:p>
        </p:txBody>
      </p:sp>
      <p:sp>
        <p:nvSpPr>
          <p:cNvPr id="234" name="PlaceHolder 3"/>
          <p:cNvSpPr>
            <a:spLocks noGrp="1"/>
          </p:cNvSpPr>
          <p:nvPr>
            <p:ph type="sldNum" idx="11"/>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F4BBF077-9EF5-4A41-8C55-E053DBBA63EC}"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5" name="PlaceHolder 1"/>
          <p:cNvSpPr>
            <a:spLocks noGrp="1"/>
          </p:cNvSpPr>
          <p:nvPr>
            <p:ph type="sldImg"/>
          </p:nvPr>
        </p:nvSpPr>
        <p:spPr>
          <a:xfrm>
            <a:off x="685800" y="1143000"/>
            <a:ext cx="5486040" cy="3085920"/>
          </a:xfrm>
          <a:prstGeom prst="rect">
            <a:avLst/>
          </a:prstGeom>
          <a:ln w="0">
            <a:noFill/>
          </a:ln>
        </p:spPr>
      </p:sp>
      <p:sp>
        <p:nvSpPr>
          <p:cNvPr id="236"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216000">
              <a:lnSpc>
                <a:spcPct val="100000"/>
              </a:lnSpc>
              <a:buNone/>
            </a:pPr>
            <a:r>
              <a:rPr b="0" lang="en-US" sz="2000" spc="-1" strike="noStrike">
                <a:latin typeface="Arial"/>
              </a:rPr>
              <a:t>For seasonality, be honest. The data does not strongly support timing as a major factor. There is some variation across months, but it is modest. Recommend that the seller focus first on pricing, location, property quality, and renovation decisions rather than trying to time the market perfectly.</a:t>
            </a:r>
            <a:endParaRPr b="0" lang="en-US" sz="2000" spc="-1" strike="noStrike">
              <a:latin typeface="Arial"/>
            </a:endParaRPr>
          </a:p>
        </p:txBody>
      </p:sp>
      <p:sp>
        <p:nvSpPr>
          <p:cNvPr id="237" name="PlaceHolder 3"/>
          <p:cNvSpPr>
            <a:spLocks noGrp="1"/>
          </p:cNvSpPr>
          <p:nvPr>
            <p:ph type="sldNum" idx="12"/>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3C115E5E-E717-4C50-8AAF-838FEA915F0D}"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 name="PlaceHolder 1"/>
          <p:cNvSpPr>
            <a:spLocks noGrp="1"/>
          </p:cNvSpPr>
          <p:nvPr>
            <p:ph type="sldImg"/>
          </p:nvPr>
        </p:nvSpPr>
        <p:spPr>
          <a:xfrm>
            <a:off x="685800" y="1143000"/>
            <a:ext cx="5486040" cy="3085920"/>
          </a:xfrm>
          <a:prstGeom prst="rect">
            <a:avLst/>
          </a:prstGeom>
          <a:ln w="0">
            <a:noFill/>
          </a:ln>
        </p:spPr>
      </p:sp>
      <p:sp>
        <p:nvSpPr>
          <p:cNvPr id="239"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216000">
              <a:lnSpc>
                <a:spcPct val="100000"/>
              </a:lnSpc>
              <a:buNone/>
            </a:pPr>
            <a:r>
              <a:rPr b="0" lang="en-US" sz="2000" spc="-1" strike="noStrike">
                <a:latin typeface="Arial"/>
              </a:rPr>
              <a:t>This is the action slide. Summarize the recommendations in plain English. Timothy should price based on micro-location, not county-wide averages. He should consider renovation, but only when the expected price uplift is greater than the cost. He should use grade and quality as part of the selling story. Timing can be considered, but it should not be the core strategy.</a:t>
            </a:r>
            <a:endParaRPr b="0" lang="en-US" sz="2000" spc="-1" strike="noStrike">
              <a:latin typeface="Arial"/>
            </a:endParaRPr>
          </a:p>
        </p:txBody>
      </p:sp>
      <p:sp>
        <p:nvSpPr>
          <p:cNvPr id="240" name="PlaceHolder 3"/>
          <p:cNvSpPr>
            <a:spLocks noGrp="1"/>
          </p:cNvSpPr>
          <p:nvPr>
            <p:ph type="sldNum" idx="13"/>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43CA9808-5D90-4E8E-8C99-64C55054D3C9}"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1" name="PlaceHolder 1"/>
          <p:cNvSpPr>
            <a:spLocks noGrp="1"/>
          </p:cNvSpPr>
          <p:nvPr>
            <p:ph type="sldImg"/>
          </p:nvPr>
        </p:nvSpPr>
        <p:spPr>
          <a:xfrm>
            <a:off x="685800" y="1143000"/>
            <a:ext cx="5486040" cy="3085920"/>
          </a:xfrm>
          <a:prstGeom prst="rect">
            <a:avLst/>
          </a:prstGeom>
          <a:ln w="0">
            <a:noFill/>
          </a:ln>
        </p:spPr>
      </p:sp>
      <p:sp>
        <p:nvSpPr>
          <p:cNvPr id="242" name="PlaceHolder 2"/>
          <p:cNvSpPr>
            <a:spLocks noGrp="1"/>
          </p:cNvSpPr>
          <p:nvPr>
            <p:ph type="body"/>
          </p:nvPr>
        </p:nvSpPr>
        <p:spPr>
          <a:xfrm>
            <a:off x="685800" y="4400640"/>
            <a:ext cx="5486040" cy="3600000"/>
          </a:xfrm>
          <a:prstGeom prst="rect">
            <a:avLst/>
          </a:prstGeom>
          <a:noFill/>
          <a:ln w="0">
            <a:noFill/>
          </a:ln>
        </p:spPr>
        <p:txBody>
          <a:bodyPr anchor="t">
            <a:noAutofit/>
          </a:bodyPr>
          <a:p>
            <a:pPr marL="216000" indent="-216000">
              <a:lnSpc>
                <a:spcPct val="100000"/>
              </a:lnSpc>
              <a:buNone/>
            </a:pPr>
            <a:r>
              <a:rPr b="0" lang="en-US" sz="2000" spc="-1" strike="noStrike">
                <a:latin typeface="Arial"/>
              </a:rPr>
              <a:t>Close with the main conclusion. Say that the seller should not treat all homes the same. The strategy should start with location and then consider grade and renovation. Seasonality can be monitored, but it is not the strongest lever in this analysis.</a:t>
            </a:r>
            <a:endParaRPr b="0" lang="en-US" sz="2000" spc="-1" strike="noStrike">
              <a:latin typeface="Arial"/>
            </a:endParaRPr>
          </a:p>
        </p:txBody>
      </p:sp>
      <p:sp>
        <p:nvSpPr>
          <p:cNvPr id="243" name="PlaceHolder 3"/>
          <p:cNvSpPr>
            <a:spLocks noGrp="1"/>
          </p:cNvSpPr>
          <p:nvPr>
            <p:ph type="sldNum" idx="14"/>
          </p:nvPr>
        </p:nvSpPr>
        <p:spPr>
          <a:xfrm>
            <a:off x="3884760" y="8685360"/>
            <a:ext cx="2971440" cy="458280"/>
          </a:xfrm>
          <a:prstGeom prst="rect">
            <a:avLst/>
          </a:prstGeom>
          <a:noFill/>
          <a:ln w="0">
            <a:noFill/>
          </a:ln>
        </p:spPr>
        <p:txBody>
          <a:bodyPr anchor="b">
            <a:noAutofit/>
          </a:bodyPr>
          <a:lstStyle>
            <a:lvl1pPr algn="r">
              <a:lnSpc>
                <a:spcPct val="100000"/>
              </a:lnSpc>
              <a:buNone/>
              <a:defRPr b="0" lang="en-US" sz="1200" spc="-1" strike="noStrike">
                <a:solidFill>
                  <a:srgbClr val="000000"/>
                </a:solidFill>
                <a:latin typeface="+mn-lt"/>
                <a:ea typeface="+mn-ea"/>
              </a:defRPr>
            </a:lvl1pPr>
          </a:lstStyle>
          <a:p>
            <a:pPr algn="r">
              <a:lnSpc>
                <a:spcPct val="100000"/>
              </a:lnSpc>
              <a:buNone/>
            </a:pPr>
            <a:fld id="{0741D001-A96A-46EA-BA72-B0C51C435347}" type="slidenum">
              <a:rPr b="0" lang="en-US" sz="1200" spc="-1" strike="noStrike">
                <a:solidFill>
                  <a:srgbClr val="000000"/>
                </a:solidFill>
                <a:latin typeface="+mn-lt"/>
                <a:ea typeface="+mn-ea"/>
              </a:rPr>
              <a:t>&lt;number&gt;</a:t>
            </a:fld>
            <a:endParaRPr b="0" lang="en-US" sz="1200" spc="-1" strike="noStrike">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Aptos"/>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Aptos"/>
            </a:endParaRPr>
          </a:p>
        </p:txBody>
      </p:sp>
      <p:sp>
        <p:nvSpPr>
          <p:cNvPr id="5"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endParaRPr b="0" lang="en-US" sz="3200" spc="-1" strike="noStrike">
              <a:solidFill>
                <a:srgbClr val="000000"/>
              </a:solidFill>
              <a:latin typeface="Aptos"/>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Aptos"/>
            </a:endParaRPr>
          </a:p>
        </p:txBody>
      </p:sp>
      <p:sp>
        <p:nvSpPr>
          <p:cNvPr id="7"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US" sz="3200" spc="-1" strike="noStrike">
              <a:solidFill>
                <a:srgbClr val="000000"/>
              </a:solidFill>
              <a:latin typeface="Aptos"/>
            </a:endParaRPr>
          </a:p>
        </p:txBody>
      </p:sp>
      <p:sp>
        <p:nvSpPr>
          <p:cNvPr id="8"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US" sz="3200" spc="-1" strike="noStrike">
              <a:solidFill>
                <a:srgbClr val="000000"/>
              </a:solidFill>
              <a:latin typeface="Aptos"/>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Aptos"/>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a:noFill/>
          <a:ln w="0">
            <a:noFill/>
          </a:ln>
        </p:spPr>
        <p:txBody>
          <a:bodyPr lIns="0" rIns="0" tIns="0" bIns="0" anchor="ctr">
            <a:noAutofit/>
          </a:bodyPr>
          <a:p>
            <a:pPr algn="ctr">
              <a:buNone/>
            </a:pP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Aptos"/>
            </a:endParaRPr>
          </a:p>
        </p:txBody>
      </p:sp>
      <p:sp>
        <p:nvSpPr>
          <p:cNvPr id="12"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Aptos"/>
            </a:endParaRPr>
          </a:p>
        </p:txBody>
      </p:sp>
      <p:sp>
        <p:nvSpPr>
          <p:cNvPr id="1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endParaRPr b="0" lang="en-US" sz="3200" spc="-1" strike="noStrike">
              <a:solidFill>
                <a:srgbClr val="000000"/>
              </a:solidFill>
              <a:latin typeface="Aptos"/>
            </a:endParaRPr>
          </a:p>
        </p:txBody>
      </p:sp>
      <p:sp>
        <p:nvSpPr>
          <p:cNvPr id="14"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Aptos"/>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Aptos"/>
            </a:endParaRPr>
          </a:p>
        </p:txBody>
      </p:sp>
      <p:sp>
        <p:nvSpPr>
          <p:cNvPr id="16"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endParaRPr b="0" lang="en-US" sz="3200" spc="-1" strike="noStrike">
              <a:solidFill>
                <a:srgbClr val="000000"/>
              </a:solidFill>
              <a:latin typeface="Aptos"/>
            </a:endParaRPr>
          </a:p>
        </p:txBody>
      </p:sp>
      <p:sp>
        <p:nvSpPr>
          <p:cNvPr id="17"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Aptos"/>
            </a:endParaRPr>
          </a:p>
        </p:txBody>
      </p:sp>
      <p:sp>
        <p:nvSpPr>
          <p:cNvPr id="18" name="PlaceHolder 4"/>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Aptos"/>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Aptos"/>
            </a:endParaRPr>
          </a:p>
        </p:txBody>
      </p:sp>
      <p:sp>
        <p:nvSpPr>
          <p:cNvPr id="20"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Aptos"/>
            </a:endParaRPr>
          </a:p>
        </p:txBody>
      </p:sp>
      <p:sp>
        <p:nvSpPr>
          <p:cNvPr id="21"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Aptos"/>
            </a:endParaRPr>
          </a:p>
        </p:txBody>
      </p:sp>
      <p:sp>
        <p:nvSpPr>
          <p:cNvPr id="22" name="PlaceHolder 4"/>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US" sz="3200" spc="-1" strike="noStrike">
              <a:solidFill>
                <a:srgbClr val="000000"/>
              </a:solidFill>
              <a:latin typeface="Aptos"/>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Aptos"/>
            </a:endParaRPr>
          </a:p>
        </p:txBody>
      </p:sp>
      <p:sp>
        <p:nvSpPr>
          <p:cNvPr id="24" name="PlaceHolder 2"/>
          <p:cNvSpPr>
            <a:spLocks noGrp="1"/>
          </p:cNvSpPr>
          <p:nvPr>
            <p:ph/>
          </p:nvPr>
        </p:nvSpPr>
        <p:spPr>
          <a:xfrm>
            <a:off x="609480" y="1604520"/>
            <a:ext cx="10972440" cy="1896840"/>
          </a:xfrm>
          <a:prstGeom prst="rect">
            <a:avLst/>
          </a:prstGeom>
          <a:noFill/>
          <a:ln w="0">
            <a:noFill/>
          </a:ln>
        </p:spPr>
        <p:txBody>
          <a:bodyPr lIns="0" rIns="0" tIns="0" bIns="0" anchor="t">
            <a:normAutofit/>
          </a:bodyPr>
          <a:p>
            <a:endParaRPr b="0" lang="en-US" sz="3200" spc="-1" strike="noStrike">
              <a:solidFill>
                <a:srgbClr val="000000"/>
              </a:solidFill>
              <a:latin typeface="Aptos"/>
            </a:endParaRPr>
          </a:p>
        </p:txBody>
      </p:sp>
      <p:sp>
        <p:nvSpPr>
          <p:cNvPr id="25" name="PlaceHolder 3"/>
          <p:cNvSpPr>
            <a:spLocks noGrp="1"/>
          </p:cNvSpPr>
          <p:nvPr>
            <p:ph/>
          </p:nvPr>
        </p:nvSpPr>
        <p:spPr>
          <a:xfrm>
            <a:off x="609480" y="3682080"/>
            <a:ext cx="10972440" cy="1896840"/>
          </a:xfrm>
          <a:prstGeom prst="rect">
            <a:avLst/>
          </a:prstGeom>
          <a:noFill/>
          <a:ln w="0">
            <a:noFill/>
          </a:ln>
        </p:spPr>
        <p:txBody>
          <a:bodyPr lIns="0" rIns="0" tIns="0" bIns="0" anchor="t">
            <a:normAutofit/>
          </a:bodyPr>
          <a:p>
            <a:endParaRPr b="0" lang="en-US" sz="3200" spc="-1" strike="noStrike">
              <a:solidFill>
                <a:srgbClr val="000000"/>
              </a:solidFill>
              <a:latin typeface="Aptos"/>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Aptos"/>
            </a:endParaRPr>
          </a:p>
        </p:txBody>
      </p:sp>
      <p:sp>
        <p:nvSpPr>
          <p:cNvPr id="27" name="PlaceHolder 2"/>
          <p:cNvSpPr>
            <a:spLocks noGrp="1"/>
          </p:cNvSpPr>
          <p:nvPr>
            <p:ph/>
          </p:nvPr>
        </p:nvSpPr>
        <p:spPr>
          <a:xfrm>
            <a:off x="609480" y="160452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Aptos"/>
            </a:endParaRPr>
          </a:p>
        </p:txBody>
      </p:sp>
      <p:sp>
        <p:nvSpPr>
          <p:cNvPr id="28" name="PlaceHolder 3"/>
          <p:cNvSpPr>
            <a:spLocks noGrp="1"/>
          </p:cNvSpPr>
          <p:nvPr>
            <p:ph/>
          </p:nvPr>
        </p:nvSpPr>
        <p:spPr>
          <a:xfrm>
            <a:off x="6231960" y="160452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Aptos"/>
            </a:endParaRPr>
          </a:p>
        </p:txBody>
      </p:sp>
      <p:sp>
        <p:nvSpPr>
          <p:cNvPr id="29" name="PlaceHolder 4"/>
          <p:cNvSpPr>
            <a:spLocks noGrp="1"/>
          </p:cNvSpPr>
          <p:nvPr>
            <p:ph/>
          </p:nvPr>
        </p:nvSpPr>
        <p:spPr>
          <a:xfrm>
            <a:off x="609480" y="368208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Aptos"/>
            </a:endParaRPr>
          </a:p>
        </p:txBody>
      </p:sp>
      <p:sp>
        <p:nvSpPr>
          <p:cNvPr id="30" name="PlaceHolder 5"/>
          <p:cNvSpPr>
            <a:spLocks noGrp="1"/>
          </p:cNvSpPr>
          <p:nvPr>
            <p:ph/>
          </p:nvPr>
        </p:nvSpPr>
        <p:spPr>
          <a:xfrm>
            <a:off x="6231960" y="3682080"/>
            <a:ext cx="5354280" cy="1896840"/>
          </a:xfrm>
          <a:prstGeom prst="rect">
            <a:avLst/>
          </a:prstGeom>
          <a:noFill/>
          <a:ln w="0">
            <a:noFill/>
          </a:ln>
        </p:spPr>
        <p:txBody>
          <a:bodyPr lIns="0" rIns="0" tIns="0" bIns="0" anchor="t">
            <a:normAutofit/>
          </a:bodyPr>
          <a:p>
            <a:endParaRPr b="0" lang="en-US" sz="3200" spc="-1" strike="noStrike">
              <a:solidFill>
                <a:srgbClr val="000000"/>
              </a:solidFill>
              <a:latin typeface="Aptos"/>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endParaRPr b="0" lang="en-US" sz="1800" spc="-1" strike="noStrike">
              <a:solidFill>
                <a:srgbClr val="000000"/>
              </a:solidFill>
              <a:latin typeface="Aptos"/>
            </a:endParaRPr>
          </a:p>
        </p:txBody>
      </p:sp>
      <p:sp>
        <p:nvSpPr>
          <p:cNvPr id="32" name="PlaceHolder 2"/>
          <p:cNvSpPr>
            <a:spLocks noGrp="1"/>
          </p:cNvSpPr>
          <p:nvPr>
            <p:ph/>
          </p:nvPr>
        </p:nvSpPr>
        <p:spPr>
          <a:xfrm>
            <a:off x="609480" y="1604520"/>
            <a:ext cx="3533040" cy="1896840"/>
          </a:xfrm>
          <a:prstGeom prst="rect">
            <a:avLst/>
          </a:prstGeom>
          <a:noFill/>
          <a:ln w="0">
            <a:noFill/>
          </a:ln>
        </p:spPr>
        <p:txBody>
          <a:bodyPr lIns="0" rIns="0" tIns="0" bIns="0" anchor="t">
            <a:normAutofit/>
          </a:bodyPr>
          <a:p>
            <a:endParaRPr b="0" lang="en-US" sz="3200" spc="-1" strike="noStrike">
              <a:solidFill>
                <a:srgbClr val="000000"/>
              </a:solidFill>
              <a:latin typeface="Aptos"/>
            </a:endParaRPr>
          </a:p>
        </p:txBody>
      </p:sp>
      <p:sp>
        <p:nvSpPr>
          <p:cNvPr id="33" name="PlaceHolder 3"/>
          <p:cNvSpPr>
            <a:spLocks noGrp="1"/>
          </p:cNvSpPr>
          <p:nvPr>
            <p:ph/>
          </p:nvPr>
        </p:nvSpPr>
        <p:spPr>
          <a:xfrm>
            <a:off x="4319640" y="1604520"/>
            <a:ext cx="3533040" cy="1896840"/>
          </a:xfrm>
          <a:prstGeom prst="rect">
            <a:avLst/>
          </a:prstGeom>
          <a:noFill/>
          <a:ln w="0">
            <a:noFill/>
          </a:ln>
        </p:spPr>
        <p:txBody>
          <a:bodyPr lIns="0" rIns="0" tIns="0" bIns="0" anchor="t">
            <a:normAutofit/>
          </a:bodyPr>
          <a:p>
            <a:endParaRPr b="0" lang="en-US" sz="3200" spc="-1" strike="noStrike">
              <a:solidFill>
                <a:srgbClr val="000000"/>
              </a:solidFill>
              <a:latin typeface="Aptos"/>
            </a:endParaRPr>
          </a:p>
        </p:txBody>
      </p:sp>
      <p:sp>
        <p:nvSpPr>
          <p:cNvPr id="34" name="PlaceHolder 4"/>
          <p:cNvSpPr>
            <a:spLocks noGrp="1"/>
          </p:cNvSpPr>
          <p:nvPr>
            <p:ph/>
          </p:nvPr>
        </p:nvSpPr>
        <p:spPr>
          <a:xfrm>
            <a:off x="8029800" y="1604520"/>
            <a:ext cx="3533040" cy="1896840"/>
          </a:xfrm>
          <a:prstGeom prst="rect">
            <a:avLst/>
          </a:prstGeom>
          <a:noFill/>
          <a:ln w="0">
            <a:noFill/>
          </a:ln>
        </p:spPr>
        <p:txBody>
          <a:bodyPr lIns="0" rIns="0" tIns="0" bIns="0" anchor="t">
            <a:normAutofit/>
          </a:bodyPr>
          <a:p>
            <a:endParaRPr b="0" lang="en-US" sz="3200" spc="-1" strike="noStrike">
              <a:solidFill>
                <a:srgbClr val="000000"/>
              </a:solidFill>
              <a:latin typeface="Aptos"/>
            </a:endParaRPr>
          </a:p>
        </p:txBody>
      </p:sp>
      <p:sp>
        <p:nvSpPr>
          <p:cNvPr id="35" name="PlaceHolder 5"/>
          <p:cNvSpPr>
            <a:spLocks noGrp="1"/>
          </p:cNvSpPr>
          <p:nvPr>
            <p:ph/>
          </p:nvPr>
        </p:nvSpPr>
        <p:spPr>
          <a:xfrm>
            <a:off x="609480" y="3682080"/>
            <a:ext cx="3533040" cy="1896840"/>
          </a:xfrm>
          <a:prstGeom prst="rect">
            <a:avLst/>
          </a:prstGeom>
          <a:noFill/>
          <a:ln w="0">
            <a:noFill/>
          </a:ln>
        </p:spPr>
        <p:txBody>
          <a:bodyPr lIns="0" rIns="0" tIns="0" bIns="0" anchor="t">
            <a:normAutofit/>
          </a:bodyPr>
          <a:p>
            <a:endParaRPr b="0" lang="en-US" sz="3200" spc="-1" strike="noStrike">
              <a:solidFill>
                <a:srgbClr val="000000"/>
              </a:solidFill>
              <a:latin typeface="Aptos"/>
            </a:endParaRPr>
          </a:p>
        </p:txBody>
      </p:sp>
      <p:sp>
        <p:nvSpPr>
          <p:cNvPr id="36" name="PlaceHolder 6"/>
          <p:cNvSpPr>
            <a:spLocks noGrp="1"/>
          </p:cNvSpPr>
          <p:nvPr>
            <p:ph/>
          </p:nvPr>
        </p:nvSpPr>
        <p:spPr>
          <a:xfrm>
            <a:off x="4319640" y="3682080"/>
            <a:ext cx="3533040" cy="1896840"/>
          </a:xfrm>
          <a:prstGeom prst="rect">
            <a:avLst/>
          </a:prstGeom>
          <a:noFill/>
          <a:ln w="0">
            <a:noFill/>
          </a:ln>
        </p:spPr>
        <p:txBody>
          <a:bodyPr lIns="0" rIns="0" tIns="0" bIns="0" anchor="t">
            <a:normAutofit/>
          </a:bodyPr>
          <a:p>
            <a:endParaRPr b="0" lang="en-US" sz="3200" spc="-1" strike="noStrike">
              <a:solidFill>
                <a:srgbClr val="000000"/>
              </a:solidFill>
              <a:latin typeface="Aptos"/>
            </a:endParaRPr>
          </a:p>
        </p:txBody>
      </p:sp>
      <p:sp>
        <p:nvSpPr>
          <p:cNvPr id="37" name="PlaceHolder 7"/>
          <p:cNvSpPr>
            <a:spLocks noGrp="1"/>
          </p:cNvSpPr>
          <p:nvPr>
            <p:ph/>
          </p:nvPr>
        </p:nvSpPr>
        <p:spPr>
          <a:xfrm>
            <a:off x="8029800" y="3682080"/>
            <a:ext cx="3533040" cy="1896840"/>
          </a:xfrm>
          <a:prstGeom prst="rect">
            <a:avLst/>
          </a:prstGeom>
          <a:noFill/>
          <a:ln w="0">
            <a:noFill/>
          </a:ln>
        </p:spPr>
        <p:txBody>
          <a:bodyPr lIns="0" rIns="0" tIns="0" bIns="0" anchor="t">
            <a:normAutofit/>
          </a:bodyPr>
          <a:p>
            <a:endParaRPr b="0" lang="en-US" sz="3200" spc="-1" strike="noStrike">
              <a:solidFill>
                <a:srgbClr val="000000"/>
              </a:solidFill>
              <a:latin typeface="Aptos"/>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r>
              <a:rPr b="0" lang="en-US" sz="1800" spc="-1" strike="noStrike">
                <a:solidFill>
                  <a:srgbClr val="000000"/>
                </a:solidFill>
                <a:latin typeface="Aptos"/>
              </a:rPr>
              <a:t>Click to edit the title text format</a:t>
            </a:r>
            <a:endParaRPr b="0" lang="en-US" sz="1800" spc="-1" strike="noStrike">
              <a:solidFill>
                <a:srgbClr val="000000"/>
              </a:solidFill>
              <a:latin typeface="Aptos"/>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ptos"/>
              </a:rPr>
              <a:t>Click to edit the outline text format</a:t>
            </a:r>
            <a:endParaRPr b="0" lang="en-US" sz="3200" spc="-1" strike="noStrike">
              <a:solidFill>
                <a:srgbClr val="000000"/>
              </a:solidFill>
              <a:latin typeface="Aptos"/>
            </a:endParaRPr>
          </a:p>
          <a:p>
            <a:pPr lvl="1" marL="864000" indent="-324000">
              <a:spcBef>
                <a:spcPts val="1134"/>
              </a:spcBef>
              <a:buClr>
                <a:srgbClr val="000000"/>
              </a:buClr>
              <a:buSzPct val="75000"/>
              <a:buFont typeface="Symbol" charset="2"/>
              <a:buChar char=""/>
            </a:pPr>
            <a:r>
              <a:rPr b="0" lang="en-US" sz="2400" spc="-1" strike="noStrike">
                <a:solidFill>
                  <a:srgbClr val="000000"/>
                </a:solidFill>
                <a:latin typeface="Aptos"/>
              </a:rPr>
              <a:t>Second Outline Level</a:t>
            </a:r>
            <a:endParaRPr b="0" lang="en-US" sz="2400" spc="-1" strike="noStrike">
              <a:solidFill>
                <a:srgbClr val="000000"/>
              </a:solidFill>
              <a:latin typeface="Aptos"/>
            </a:endParaRPr>
          </a:p>
          <a:p>
            <a:pPr lvl="2" marL="1296000" indent="-288000">
              <a:spcBef>
                <a:spcPts val="850"/>
              </a:spcBef>
              <a:buClr>
                <a:srgbClr val="000000"/>
              </a:buClr>
              <a:buSzPct val="45000"/>
              <a:buFont typeface="Wingdings" charset="2"/>
              <a:buChar char=""/>
            </a:pPr>
            <a:r>
              <a:rPr b="0" lang="en-US" sz="2000" spc="-1" strike="noStrike">
                <a:solidFill>
                  <a:srgbClr val="000000"/>
                </a:solidFill>
                <a:latin typeface="Aptos"/>
              </a:rPr>
              <a:t>Third Outline Level</a:t>
            </a:r>
            <a:endParaRPr b="0" lang="en-US" sz="2000" spc="-1" strike="noStrike">
              <a:solidFill>
                <a:srgbClr val="000000"/>
              </a:solidFill>
              <a:latin typeface="Aptos"/>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ptos"/>
              </a:rPr>
              <a:t>Fourth Outline Level</a:t>
            </a:r>
            <a:endParaRPr b="0" lang="en-US" sz="2000" spc="-1" strike="noStrike">
              <a:solidFill>
                <a:srgbClr val="000000"/>
              </a:solidFill>
              <a:latin typeface="Aptos"/>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ptos"/>
              </a:rPr>
              <a:t>Fifth Outline Level</a:t>
            </a:r>
            <a:endParaRPr b="0" lang="en-US" sz="2000" spc="-1" strike="noStrike">
              <a:solidFill>
                <a:srgbClr val="000000"/>
              </a:solidFill>
              <a:latin typeface="Aptos"/>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ptos"/>
              </a:rPr>
              <a:t>Sixth Outline Level</a:t>
            </a:r>
            <a:endParaRPr b="0" lang="en-US" sz="2000" spc="-1" strike="noStrike">
              <a:solidFill>
                <a:srgbClr val="000000"/>
              </a:solidFill>
              <a:latin typeface="Aptos"/>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ptos"/>
              </a:rPr>
              <a:t>Seventh Outline Level</a:t>
            </a:r>
            <a:endParaRPr b="0" lang="en-US" sz="2000" spc="-1" strike="noStrike">
              <a:solidFill>
                <a:srgbClr val="000000"/>
              </a:solidFill>
              <a:latin typeface="Aptos"/>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jpeg"/><Relationship Id="rId2" Type="http://schemas.openxmlformats.org/officeDocument/2006/relationships/slideLayout" Target="../slideLayouts/slideLayout1.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3.jpeg"/><Relationship Id="rId2" Type="http://schemas.openxmlformats.org/officeDocument/2006/relationships/slideLayout" Target="../slideLayouts/slideLayout1.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4.jpe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5.jpeg"/><Relationship Id="rId2" Type="http://schemas.openxmlformats.org/officeDocument/2006/relationships/slideLayout" Target="../slideLayouts/slideLayout1.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6.jpeg"/><Relationship Id="rId2" Type="http://schemas.openxmlformats.org/officeDocument/2006/relationships/slideLayout" Target="../slideLayouts/slideLayout1.xml"/><Relationship Id="rId3" Type="http://schemas.openxmlformats.org/officeDocument/2006/relationships/notesSlide" Target="../notesSlides/notesSlide1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4" name="Image 0" descr="/mnt/data/mercer_16x9_dark.jpg"/>
          <p:cNvPicPr/>
          <p:nvPr/>
        </p:nvPicPr>
        <p:blipFill>
          <a:blip r:embed="rId1"/>
          <a:stretch/>
        </p:blipFill>
        <p:spPr>
          <a:xfrm>
            <a:off x="0" y="0"/>
            <a:ext cx="12191400" cy="6857640"/>
          </a:xfrm>
          <a:prstGeom prst="rect">
            <a:avLst/>
          </a:prstGeom>
          <a:ln w="0">
            <a:noFill/>
          </a:ln>
        </p:spPr>
      </p:pic>
      <p:sp>
        <p:nvSpPr>
          <p:cNvPr id="45" name="Shape 0"/>
          <p:cNvSpPr/>
          <p:nvPr/>
        </p:nvSpPr>
        <p:spPr>
          <a:xfrm>
            <a:off x="594360" y="658440"/>
            <a:ext cx="72720" cy="4205880"/>
          </a:xfrm>
          <a:prstGeom prst="rect">
            <a:avLst/>
          </a:prstGeom>
          <a:solidFill>
            <a:srgbClr val="c9a227"/>
          </a:solidFill>
          <a:ln w="12700">
            <a:solidFill>
              <a:srgbClr val="c9a227"/>
            </a:solidFill>
            <a:round/>
          </a:ln>
        </p:spPr>
        <p:style>
          <a:lnRef idx="0"/>
          <a:fillRef idx="0"/>
          <a:effectRef idx="0"/>
          <a:fontRef idx="minor"/>
        </p:style>
      </p:sp>
      <p:sp>
        <p:nvSpPr>
          <p:cNvPr id="46" name="Text 1"/>
          <p:cNvSpPr/>
          <p:nvPr/>
        </p:nvSpPr>
        <p:spPr>
          <a:xfrm>
            <a:off x="868680" y="786240"/>
            <a:ext cx="6400440" cy="150840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4100" spc="-1" strike="noStrike">
                <a:solidFill>
                  <a:srgbClr val="ffffff"/>
                </a:solidFill>
                <a:latin typeface="Aptos Display"/>
                <a:ea typeface="Aptos Display"/>
              </a:rPr>
              <a:t>King County</a:t>
            </a:r>
            <a:endParaRPr b="0" lang="en-US" sz="4100" spc="-1" strike="noStrike">
              <a:latin typeface="Arial"/>
            </a:endParaRPr>
          </a:p>
          <a:p>
            <a:pPr>
              <a:lnSpc>
                <a:spcPct val="100000"/>
              </a:lnSpc>
              <a:buNone/>
              <a:tabLst>
                <a:tab algn="l" pos="0"/>
              </a:tabLst>
            </a:pPr>
            <a:r>
              <a:rPr b="1" lang="en-US" sz="4100" spc="-1" strike="noStrike">
                <a:solidFill>
                  <a:srgbClr val="ffffff"/>
                </a:solidFill>
                <a:latin typeface="Aptos Display"/>
                <a:ea typeface="Aptos Display"/>
              </a:rPr>
              <a:t>House Sales Analysis</a:t>
            </a:r>
            <a:endParaRPr b="0" lang="en-US" sz="4100" spc="-1" strike="noStrike">
              <a:latin typeface="Arial"/>
            </a:endParaRPr>
          </a:p>
        </p:txBody>
      </p:sp>
      <p:sp>
        <p:nvSpPr>
          <p:cNvPr id="47" name="Text 2"/>
          <p:cNvSpPr/>
          <p:nvPr/>
        </p:nvSpPr>
        <p:spPr>
          <a:xfrm>
            <a:off x="887040" y="2514600"/>
            <a:ext cx="6217560" cy="5482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lang="en-US" sz="1700" spc="-1" strike="noStrike">
                <a:solidFill>
                  <a:srgbClr val="f6f4ef"/>
                </a:solidFill>
                <a:latin typeface="Aptos"/>
                <a:ea typeface="Aptos"/>
              </a:rPr>
              <a:t>Maximizing resale value through location, renovation, grade, and timing</a:t>
            </a:r>
            <a:endParaRPr b="0" lang="en-US" sz="1700" spc="-1" strike="noStrike">
              <a:latin typeface="Arial"/>
            </a:endParaRPr>
          </a:p>
        </p:txBody>
      </p:sp>
      <p:sp>
        <p:nvSpPr>
          <p:cNvPr id="48" name="Text 3"/>
          <p:cNvSpPr/>
          <p:nvPr/>
        </p:nvSpPr>
        <p:spPr>
          <a:xfrm>
            <a:off x="887040" y="5321880"/>
            <a:ext cx="4023000" cy="3286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500" spc="-1" strike="noStrike">
                <a:solidFill>
                  <a:srgbClr val="ffffff"/>
                </a:solidFill>
                <a:latin typeface="Aptos"/>
                <a:ea typeface="Aptos"/>
              </a:rPr>
              <a:t>Prepared for Timothy Stevens</a:t>
            </a:r>
            <a:endParaRPr b="0" lang="en-US" sz="1500" spc="-1" strike="noStrike">
              <a:latin typeface="Arial"/>
            </a:endParaRPr>
          </a:p>
        </p:txBody>
      </p:sp>
      <p:sp>
        <p:nvSpPr>
          <p:cNvPr id="49" name="Text 4"/>
          <p:cNvSpPr/>
          <p:nvPr/>
        </p:nvSpPr>
        <p:spPr>
          <a:xfrm>
            <a:off x="887040" y="5687640"/>
            <a:ext cx="3200040" cy="25560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lang="en-US" sz="1100" spc="-1" strike="noStrike">
                <a:solidFill>
                  <a:srgbClr val="e8dcc5"/>
                </a:solidFill>
                <a:latin typeface="Aptos"/>
                <a:ea typeface="Aptos"/>
              </a:rPr>
              <a:t>Exploratory Data Analysis</a:t>
            </a:r>
            <a:endParaRPr b="0" lang="en-US" sz="1100" spc="-1" strike="noStrike">
              <a:latin typeface="Arial"/>
            </a:endParaRPr>
          </a:p>
        </p:txBody>
      </p:sp>
      <p:sp>
        <p:nvSpPr>
          <p:cNvPr id="50" name="Text 21"/>
          <p:cNvSpPr/>
          <p:nvPr/>
        </p:nvSpPr>
        <p:spPr>
          <a:xfrm>
            <a:off x="8159040" y="5321880"/>
            <a:ext cx="4023000" cy="3286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500" spc="-1" strike="noStrike">
                <a:solidFill>
                  <a:srgbClr val="ffffff"/>
                </a:solidFill>
                <a:latin typeface="Aptos"/>
                <a:ea typeface="Aptos"/>
              </a:rPr>
              <a:t>Prepared by Elham Rouzban</a:t>
            </a:r>
            <a:endParaRPr b="0" lang="en-US" sz="1500" spc="-1" strike="noStrike">
              <a:latin typeface="Arial"/>
            </a:endParaRPr>
          </a:p>
        </p:txBody>
      </p:sp>
      <p:sp>
        <p:nvSpPr>
          <p:cNvPr id="51" name="Text 22"/>
          <p:cNvSpPr/>
          <p:nvPr/>
        </p:nvSpPr>
        <p:spPr>
          <a:xfrm>
            <a:off x="8087040" y="5687640"/>
            <a:ext cx="3200040" cy="25560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lang="en-US" sz="1100" spc="-1" strike="noStrike">
                <a:solidFill>
                  <a:srgbClr val="e8dcc5"/>
                </a:solidFill>
                <a:latin typeface="Aptos"/>
                <a:ea typeface="Aptos"/>
              </a:rPr>
              <a:t>AI Engineer Bootcamp</a:t>
            </a:r>
            <a:endParaRPr b="0" lang="en-US" sz="1100" spc="-1" strike="noStrike">
              <a:latin typeface="Arial"/>
            </a:endParaRPr>
          </a:p>
          <a:p>
            <a:pPr>
              <a:lnSpc>
                <a:spcPct val="100000"/>
              </a:lnSpc>
              <a:buNone/>
              <a:tabLst>
                <a:tab algn="l" pos="0"/>
              </a:tabLst>
            </a:pPr>
            <a:r>
              <a:rPr b="0" lang="en-US" sz="1100" spc="-1" strike="noStrike">
                <a:solidFill>
                  <a:srgbClr val="e8dcc5"/>
                </a:solidFill>
                <a:latin typeface="Aptos"/>
                <a:ea typeface="Aptos"/>
              </a:rPr>
              <a:t>July 2026</a:t>
            </a:r>
            <a:endParaRPr b="0" lang="en-US" sz="11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6f4ef"/>
        </a:solidFill>
      </p:bgPr>
    </p:bg>
    <p:spTree>
      <p:nvGrpSpPr>
        <p:cNvPr id="1" name=""/>
        <p:cNvGrpSpPr/>
        <p:nvPr/>
      </p:nvGrpSpPr>
      <p:grpSpPr>
        <a:xfrm>
          <a:off x="0" y="0"/>
          <a:ext cx="0" cy="0"/>
          <a:chOff x="0" y="0"/>
          <a:chExt cx="0" cy="0"/>
        </a:xfrm>
      </p:grpSpPr>
      <p:sp>
        <p:nvSpPr>
          <p:cNvPr id="52" name="Shape 0"/>
          <p:cNvSpPr/>
          <p:nvPr/>
        </p:nvSpPr>
        <p:spPr>
          <a:xfrm>
            <a:off x="0" y="0"/>
            <a:ext cx="12191400" cy="72720"/>
          </a:xfrm>
          <a:prstGeom prst="rect">
            <a:avLst/>
          </a:prstGeom>
          <a:solidFill>
            <a:srgbClr val="c9a227"/>
          </a:solidFill>
          <a:ln w="12700">
            <a:solidFill>
              <a:srgbClr val="c9a227"/>
            </a:solidFill>
            <a:round/>
          </a:ln>
        </p:spPr>
        <p:style>
          <a:lnRef idx="0"/>
          <a:fillRef idx="0"/>
          <a:effectRef idx="0"/>
          <a:fontRef idx="minor"/>
        </p:style>
      </p:sp>
      <p:sp>
        <p:nvSpPr>
          <p:cNvPr id="53" name="Text 1"/>
          <p:cNvSpPr/>
          <p:nvPr/>
        </p:nvSpPr>
        <p:spPr>
          <a:xfrm>
            <a:off x="594360" y="329040"/>
            <a:ext cx="3291480" cy="2098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850" spc="-1" strike="noStrike">
                <a:solidFill>
                  <a:srgbClr val="c9a227"/>
                </a:solidFill>
                <a:latin typeface="Aptos"/>
                <a:ea typeface="Aptos"/>
              </a:rPr>
              <a:t>PRESENTATION ROADMAP</a:t>
            </a:r>
            <a:endParaRPr b="0" lang="en-US" sz="850" spc="-1" strike="noStrike">
              <a:latin typeface="Arial"/>
            </a:endParaRPr>
          </a:p>
        </p:txBody>
      </p:sp>
      <p:sp>
        <p:nvSpPr>
          <p:cNvPr id="54" name="Text 2"/>
          <p:cNvSpPr/>
          <p:nvPr/>
        </p:nvSpPr>
        <p:spPr>
          <a:xfrm>
            <a:off x="594360" y="658440"/>
            <a:ext cx="6857640" cy="59400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3300" spc="-1" strike="noStrike">
                <a:solidFill>
                  <a:srgbClr val="0d1b2a"/>
                </a:solidFill>
                <a:latin typeface="Aptos Display"/>
                <a:ea typeface="Aptos Display"/>
              </a:rPr>
              <a:t>The 10-minute story</a:t>
            </a:r>
            <a:endParaRPr b="0" lang="en-US" sz="3300" spc="-1" strike="noStrike">
              <a:latin typeface="Arial"/>
            </a:endParaRPr>
          </a:p>
        </p:txBody>
      </p:sp>
      <p:sp>
        <p:nvSpPr>
          <p:cNvPr id="55" name="Text 3"/>
          <p:cNvSpPr/>
          <p:nvPr/>
        </p:nvSpPr>
        <p:spPr>
          <a:xfrm>
            <a:off x="603360" y="1325880"/>
            <a:ext cx="8412120" cy="41112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lang="en-US" sz="1700" spc="-1" strike="noStrike">
                <a:solidFill>
                  <a:srgbClr val="1f2937"/>
                </a:solidFill>
                <a:latin typeface="Aptos"/>
              </a:rPr>
              <a:t>I will move from the business question to the evidence, and end with clear recommendations.</a:t>
            </a:r>
            <a:endParaRPr b="0" lang="en-US" sz="1700" spc="-1" strike="noStrike">
              <a:latin typeface="Arial"/>
            </a:endParaRPr>
          </a:p>
        </p:txBody>
      </p:sp>
      <p:sp>
        <p:nvSpPr>
          <p:cNvPr id="56" name="Text 4"/>
          <p:cNvSpPr/>
          <p:nvPr/>
        </p:nvSpPr>
        <p:spPr>
          <a:xfrm>
            <a:off x="731520" y="2240280"/>
            <a:ext cx="658080" cy="39276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2400" spc="-1" strike="noStrike">
                <a:solidFill>
                  <a:srgbClr val="c9a227"/>
                </a:solidFill>
                <a:latin typeface="Aptos Display"/>
                <a:ea typeface="Aptos Display"/>
              </a:rPr>
              <a:t>01</a:t>
            </a:r>
            <a:endParaRPr b="0" lang="en-US" sz="2400" spc="-1" strike="noStrike">
              <a:latin typeface="Arial"/>
            </a:endParaRPr>
          </a:p>
        </p:txBody>
      </p:sp>
      <p:sp>
        <p:nvSpPr>
          <p:cNvPr id="57" name="Shape 5"/>
          <p:cNvSpPr/>
          <p:nvPr/>
        </p:nvSpPr>
        <p:spPr>
          <a:xfrm>
            <a:off x="749520" y="2743200"/>
            <a:ext cx="932760" cy="360"/>
          </a:xfrm>
          <a:prstGeom prst="line">
            <a:avLst/>
          </a:prstGeom>
          <a:ln w="25400">
            <a:solidFill>
              <a:srgbClr val="c9a227"/>
            </a:solidFill>
            <a:round/>
          </a:ln>
        </p:spPr>
        <p:style>
          <a:lnRef idx="0"/>
          <a:fillRef idx="0"/>
          <a:effectRef idx="0"/>
          <a:fontRef idx="minor"/>
        </p:style>
      </p:sp>
      <p:sp>
        <p:nvSpPr>
          <p:cNvPr id="58" name="Text 6"/>
          <p:cNvSpPr/>
          <p:nvPr/>
        </p:nvSpPr>
        <p:spPr>
          <a:xfrm>
            <a:off x="731520" y="2999160"/>
            <a:ext cx="2148480" cy="31968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1800" spc="-1" strike="noStrike">
                <a:solidFill>
                  <a:srgbClr val="0d1b2a"/>
                </a:solidFill>
                <a:latin typeface="Aptos"/>
              </a:rPr>
              <a:t>Client problem</a:t>
            </a:r>
            <a:endParaRPr b="0" lang="en-US" sz="1800" spc="-1" strike="noStrike">
              <a:latin typeface="Arial"/>
            </a:endParaRPr>
          </a:p>
        </p:txBody>
      </p:sp>
      <p:sp>
        <p:nvSpPr>
          <p:cNvPr id="59" name="Text 7"/>
          <p:cNvSpPr/>
          <p:nvPr/>
        </p:nvSpPr>
        <p:spPr>
          <a:xfrm>
            <a:off x="731520" y="3502080"/>
            <a:ext cx="2239920" cy="65808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250" spc="-1" strike="noStrike">
                <a:solidFill>
                  <a:srgbClr val="1f2937"/>
                </a:solidFill>
                <a:latin typeface="Aptos"/>
              </a:rPr>
              <a:t>What decision does Timothy need to make?</a:t>
            </a:r>
            <a:endParaRPr b="0" lang="en-US" sz="1250" spc="-1" strike="noStrike">
              <a:latin typeface="Arial"/>
            </a:endParaRPr>
          </a:p>
        </p:txBody>
      </p:sp>
      <p:sp>
        <p:nvSpPr>
          <p:cNvPr id="60" name="Text 8"/>
          <p:cNvSpPr/>
          <p:nvPr/>
        </p:nvSpPr>
        <p:spPr>
          <a:xfrm>
            <a:off x="3493080" y="2240280"/>
            <a:ext cx="658080" cy="39276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2400" spc="-1" strike="noStrike">
                <a:solidFill>
                  <a:srgbClr val="c9a227"/>
                </a:solidFill>
                <a:latin typeface="Aptos Display"/>
                <a:ea typeface="Aptos Display"/>
              </a:rPr>
              <a:t>02</a:t>
            </a:r>
            <a:endParaRPr b="0" lang="en-US" sz="2400" spc="-1" strike="noStrike">
              <a:latin typeface="Arial"/>
            </a:endParaRPr>
          </a:p>
        </p:txBody>
      </p:sp>
      <p:sp>
        <p:nvSpPr>
          <p:cNvPr id="61" name="Shape 9"/>
          <p:cNvSpPr/>
          <p:nvPr/>
        </p:nvSpPr>
        <p:spPr>
          <a:xfrm>
            <a:off x="3511080" y="2743200"/>
            <a:ext cx="932760" cy="360"/>
          </a:xfrm>
          <a:prstGeom prst="line">
            <a:avLst/>
          </a:prstGeom>
          <a:ln w="25400">
            <a:solidFill>
              <a:srgbClr val="c9a227"/>
            </a:solidFill>
            <a:round/>
          </a:ln>
        </p:spPr>
        <p:style>
          <a:lnRef idx="0"/>
          <a:fillRef idx="0"/>
          <a:effectRef idx="0"/>
          <a:fontRef idx="minor"/>
        </p:style>
      </p:sp>
      <p:sp>
        <p:nvSpPr>
          <p:cNvPr id="62" name="Text 10"/>
          <p:cNvSpPr/>
          <p:nvPr/>
        </p:nvSpPr>
        <p:spPr>
          <a:xfrm>
            <a:off x="3493080" y="2999160"/>
            <a:ext cx="2148480" cy="31968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1800" spc="-1" strike="noStrike">
                <a:solidFill>
                  <a:srgbClr val="0d1b2a"/>
                </a:solidFill>
                <a:latin typeface="Aptos"/>
              </a:rPr>
              <a:t>Data foundation</a:t>
            </a:r>
            <a:endParaRPr b="0" lang="en-US" sz="1800" spc="-1" strike="noStrike">
              <a:latin typeface="Arial"/>
            </a:endParaRPr>
          </a:p>
        </p:txBody>
      </p:sp>
      <p:sp>
        <p:nvSpPr>
          <p:cNvPr id="63" name="Text 11"/>
          <p:cNvSpPr/>
          <p:nvPr/>
        </p:nvSpPr>
        <p:spPr>
          <a:xfrm>
            <a:off x="3493080" y="3502080"/>
            <a:ext cx="2239920" cy="65808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250" spc="-1" strike="noStrike">
                <a:solidFill>
                  <a:srgbClr val="1f2937"/>
                </a:solidFill>
                <a:latin typeface="Aptos"/>
              </a:rPr>
              <a:t>Which data was used and how it was prepared?</a:t>
            </a:r>
            <a:endParaRPr b="0" lang="en-US" sz="1250" spc="-1" strike="noStrike">
              <a:latin typeface="Arial"/>
            </a:endParaRPr>
          </a:p>
        </p:txBody>
      </p:sp>
      <p:sp>
        <p:nvSpPr>
          <p:cNvPr id="64" name="Text 12"/>
          <p:cNvSpPr/>
          <p:nvPr/>
        </p:nvSpPr>
        <p:spPr>
          <a:xfrm>
            <a:off x="6254640" y="2240280"/>
            <a:ext cx="658080" cy="39276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2400" spc="-1" strike="noStrike">
                <a:solidFill>
                  <a:srgbClr val="c9a227"/>
                </a:solidFill>
                <a:latin typeface="Aptos Display"/>
                <a:ea typeface="Aptos Display"/>
              </a:rPr>
              <a:t>03</a:t>
            </a:r>
            <a:endParaRPr b="0" lang="en-US" sz="2400" spc="-1" strike="noStrike">
              <a:latin typeface="Arial"/>
            </a:endParaRPr>
          </a:p>
        </p:txBody>
      </p:sp>
      <p:sp>
        <p:nvSpPr>
          <p:cNvPr id="65" name="Shape 13"/>
          <p:cNvSpPr/>
          <p:nvPr/>
        </p:nvSpPr>
        <p:spPr>
          <a:xfrm>
            <a:off x="6272640" y="2743200"/>
            <a:ext cx="932760" cy="360"/>
          </a:xfrm>
          <a:prstGeom prst="line">
            <a:avLst/>
          </a:prstGeom>
          <a:ln w="25400">
            <a:solidFill>
              <a:srgbClr val="c9a227"/>
            </a:solidFill>
            <a:round/>
          </a:ln>
        </p:spPr>
        <p:style>
          <a:lnRef idx="0"/>
          <a:fillRef idx="0"/>
          <a:effectRef idx="0"/>
          <a:fontRef idx="minor"/>
        </p:style>
      </p:sp>
      <p:sp>
        <p:nvSpPr>
          <p:cNvPr id="66" name="Text 14"/>
          <p:cNvSpPr/>
          <p:nvPr/>
        </p:nvSpPr>
        <p:spPr>
          <a:xfrm>
            <a:off x="6254640" y="2999160"/>
            <a:ext cx="2148480" cy="319680"/>
          </a:xfrm>
          <a:prstGeom prst="rect">
            <a:avLst/>
          </a:prstGeom>
          <a:noFill/>
          <a:ln w="0">
            <a:noFill/>
          </a:ln>
        </p:spPr>
        <p:style>
          <a:lnRef idx="0"/>
          <a:fillRef idx="0"/>
          <a:effectRef idx="0"/>
          <a:fontRef idx="minor"/>
        </p:style>
        <p:txBody>
          <a:bodyPr lIns="0" rIns="0" tIns="0" bIns="0" anchor="ctr">
            <a:normAutofit fontScale="76000"/>
          </a:bodyPr>
          <a:p>
            <a:pPr>
              <a:lnSpc>
                <a:spcPct val="100000"/>
              </a:lnSpc>
              <a:buNone/>
              <a:tabLst>
                <a:tab algn="l" pos="0"/>
              </a:tabLst>
            </a:pPr>
            <a:r>
              <a:rPr b="1" lang="en-US" sz="1800" spc="-1" strike="noStrike">
                <a:solidFill>
                  <a:srgbClr val="0d1b2a"/>
                </a:solidFill>
                <a:latin typeface="Aptos"/>
              </a:rPr>
              <a:t>Hypothesis testing</a:t>
            </a:r>
            <a:endParaRPr b="0" lang="en-US" sz="1800" spc="-1" strike="noStrike">
              <a:latin typeface="Arial"/>
            </a:endParaRPr>
          </a:p>
        </p:txBody>
      </p:sp>
      <p:sp>
        <p:nvSpPr>
          <p:cNvPr id="67" name="Text 15"/>
          <p:cNvSpPr/>
          <p:nvPr/>
        </p:nvSpPr>
        <p:spPr>
          <a:xfrm>
            <a:off x="6254640" y="3502080"/>
            <a:ext cx="2239920" cy="65808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250" spc="-1" strike="noStrike">
                <a:solidFill>
                  <a:srgbClr val="1f2937"/>
                </a:solidFill>
                <a:latin typeface="Aptos"/>
              </a:rPr>
              <a:t>What evidence supports or weakens each hypothesis?</a:t>
            </a:r>
            <a:endParaRPr b="0" lang="en-US" sz="1250" spc="-1" strike="noStrike">
              <a:latin typeface="Arial"/>
            </a:endParaRPr>
          </a:p>
        </p:txBody>
      </p:sp>
      <p:sp>
        <p:nvSpPr>
          <p:cNvPr id="68" name="Text 16"/>
          <p:cNvSpPr/>
          <p:nvPr/>
        </p:nvSpPr>
        <p:spPr>
          <a:xfrm>
            <a:off x="9015840" y="2240280"/>
            <a:ext cx="658080" cy="39276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2400" spc="-1" strike="noStrike">
                <a:solidFill>
                  <a:srgbClr val="c9a227"/>
                </a:solidFill>
                <a:latin typeface="Aptos Display"/>
                <a:ea typeface="Aptos Display"/>
              </a:rPr>
              <a:t>04</a:t>
            </a:r>
            <a:endParaRPr b="0" lang="en-US" sz="2400" spc="-1" strike="noStrike">
              <a:latin typeface="Arial"/>
            </a:endParaRPr>
          </a:p>
        </p:txBody>
      </p:sp>
      <p:sp>
        <p:nvSpPr>
          <p:cNvPr id="69" name="Shape 17"/>
          <p:cNvSpPr/>
          <p:nvPr/>
        </p:nvSpPr>
        <p:spPr>
          <a:xfrm>
            <a:off x="9034200" y="2743200"/>
            <a:ext cx="932760" cy="360"/>
          </a:xfrm>
          <a:prstGeom prst="line">
            <a:avLst/>
          </a:prstGeom>
          <a:ln w="25400">
            <a:solidFill>
              <a:srgbClr val="c9a227"/>
            </a:solidFill>
            <a:round/>
          </a:ln>
        </p:spPr>
        <p:style>
          <a:lnRef idx="0"/>
          <a:fillRef idx="0"/>
          <a:effectRef idx="0"/>
          <a:fontRef idx="minor"/>
        </p:style>
      </p:sp>
      <p:sp>
        <p:nvSpPr>
          <p:cNvPr id="70" name="Text 18"/>
          <p:cNvSpPr/>
          <p:nvPr/>
        </p:nvSpPr>
        <p:spPr>
          <a:xfrm>
            <a:off x="9015840" y="2999160"/>
            <a:ext cx="2148480" cy="31968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1800" spc="-1" strike="noStrike">
                <a:solidFill>
                  <a:srgbClr val="0d1b2a"/>
                </a:solidFill>
                <a:latin typeface="Aptos"/>
              </a:rPr>
              <a:t>Business actions</a:t>
            </a:r>
            <a:endParaRPr b="0" lang="en-US" sz="1800" spc="-1" strike="noStrike">
              <a:latin typeface="Arial"/>
            </a:endParaRPr>
          </a:p>
        </p:txBody>
      </p:sp>
      <p:sp>
        <p:nvSpPr>
          <p:cNvPr id="71" name="Text 19"/>
          <p:cNvSpPr/>
          <p:nvPr/>
        </p:nvSpPr>
        <p:spPr>
          <a:xfrm>
            <a:off x="9015840" y="3502080"/>
            <a:ext cx="2239920" cy="65808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250" spc="-1" strike="noStrike">
                <a:solidFill>
                  <a:srgbClr val="1f2937"/>
                </a:solidFill>
                <a:latin typeface="Aptos"/>
              </a:rPr>
              <a:t>What should the seller do next?</a:t>
            </a:r>
            <a:endParaRPr b="0" lang="en-US" sz="1250" spc="-1" strike="noStrike">
              <a:latin typeface="Arial"/>
            </a:endParaRPr>
          </a:p>
        </p:txBody>
      </p:sp>
      <p:sp>
        <p:nvSpPr>
          <p:cNvPr id="72" name="Text 20"/>
          <p:cNvSpPr/>
          <p:nvPr/>
        </p:nvSpPr>
        <p:spPr>
          <a:xfrm>
            <a:off x="594360" y="6528960"/>
            <a:ext cx="3840120" cy="16416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lang="en-US" sz="750" spc="-1" strike="noStrike">
                <a:solidFill>
                  <a:srgbClr val="8b8b8b"/>
                </a:solidFill>
                <a:latin typeface="Aptos"/>
              </a:rPr>
              <a:t>King County Housing EDA  •  2</a:t>
            </a:r>
            <a:endParaRPr b="0" lang="en-US" sz="750" spc="-1" strike="noStrike">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6f4ef"/>
        </a:solidFill>
      </p:bgPr>
    </p:bg>
    <p:spTree>
      <p:nvGrpSpPr>
        <p:cNvPr id="1" name=""/>
        <p:cNvGrpSpPr/>
        <p:nvPr/>
      </p:nvGrpSpPr>
      <p:grpSpPr>
        <a:xfrm>
          <a:off x="0" y="0"/>
          <a:ext cx="0" cy="0"/>
          <a:chOff x="0" y="0"/>
          <a:chExt cx="0" cy="0"/>
        </a:xfrm>
      </p:grpSpPr>
      <p:sp>
        <p:nvSpPr>
          <p:cNvPr id="73" name="Shape 0"/>
          <p:cNvSpPr/>
          <p:nvPr/>
        </p:nvSpPr>
        <p:spPr>
          <a:xfrm>
            <a:off x="0" y="0"/>
            <a:ext cx="7954920" cy="72720"/>
          </a:xfrm>
          <a:prstGeom prst="rect">
            <a:avLst/>
          </a:prstGeom>
          <a:solidFill>
            <a:srgbClr val="c9a227"/>
          </a:solidFill>
          <a:ln w="12700">
            <a:solidFill>
              <a:srgbClr val="c9a227"/>
            </a:solidFill>
            <a:round/>
          </a:ln>
        </p:spPr>
        <p:style>
          <a:lnRef idx="0"/>
          <a:fillRef idx="0"/>
          <a:effectRef idx="0"/>
          <a:fontRef idx="minor"/>
        </p:style>
      </p:sp>
      <p:pic>
        <p:nvPicPr>
          <p:cNvPr id="74" name="Image 0" descr="/mnt/data/aerial_side_tint.jpg"/>
          <p:cNvPicPr/>
          <p:nvPr/>
        </p:nvPicPr>
        <p:blipFill>
          <a:blip r:embed="rId1"/>
          <a:stretch/>
        </p:blipFill>
        <p:spPr>
          <a:xfrm>
            <a:off x="7955280" y="0"/>
            <a:ext cx="4233240" cy="6857640"/>
          </a:xfrm>
          <a:prstGeom prst="rect">
            <a:avLst/>
          </a:prstGeom>
          <a:ln w="0">
            <a:noFill/>
          </a:ln>
        </p:spPr>
      </p:pic>
      <p:sp>
        <p:nvSpPr>
          <p:cNvPr id="75" name="Text 1"/>
          <p:cNvSpPr/>
          <p:nvPr/>
        </p:nvSpPr>
        <p:spPr>
          <a:xfrm>
            <a:off x="594360" y="329040"/>
            <a:ext cx="3291480" cy="2098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850" spc="-1" strike="noStrike">
                <a:solidFill>
                  <a:srgbClr val="c9a227"/>
                </a:solidFill>
                <a:latin typeface="Aptos"/>
                <a:ea typeface="Aptos"/>
              </a:rPr>
              <a:t>CLIENT &amp; QUESTION</a:t>
            </a:r>
            <a:endParaRPr b="0" lang="en-US" sz="850" spc="-1" strike="noStrike">
              <a:latin typeface="Arial"/>
            </a:endParaRPr>
          </a:p>
        </p:txBody>
      </p:sp>
      <p:sp>
        <p:nvSpPr>
          <p:cNvPr id="76" name="Text 2"/>
          <p:cNvSpPr/>
          <p:nvPr/>
        </p:nvSpPr>
        <p:spPr>
          <a:xfrm>
            <a:off x="594360" y="658440"/>
            <a:ext cx="6857640" cy="59400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3300" spc="-1" strike="noStrike">
                <a:solidFill>
                  <a:srgbClr val="0d1b2a"/>
                </a:solidFill>
                <a:latin typeface="Aptos Display"/>
                <a:ea typeface="Aptos Display"/>
              </a:rPr>
              <a:t>Who are we helping?</a:t>
            </a:r>
            <a:endParaRPr b="0" lang="en-US" sz="3300" spc="-1" strike="noStrike">
              <a:latin typeface="Arial"/>
            </a:endParaRPr>
          </a:p>
        </p:txBody>
      </p:sp>
      <p:sp>
        <p:nvSpPr>
          <p:cNvPr id="77" name="Text 3"/>
          <p:cNvSpPr/>
          <p:nvPr/>
        </p:nvSpPr>
        <p:spPr>
          <a:xfrm>
            <a:off x="603360" y="1508760"/>
            <a:ext cx="5120280" cy="36540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2200" spc="-1" strike="noStrike">
                <a:solidFill>
                  <a:srgbClr val="0d1b2a"/>
                </a:solidFill>
                <a:latin typeface="Aptos"/>
              </a:rPr>
              <a:t>Timothy Stevens — Seller</a:t>
            </a:r>
            <a:endParaRPr b="0" lang="en-US" sz="2200" spc="-1" strike="noStrike">
              <a:latin typeface="Arial"/>
            </a:endParaRPr>
          </a:p>
        </p:txBody>
      </p:sp>
      <p:sp>
        <p:nvSpPr>
          <p:cNvPr id="78" name="Text 4"/>
          <p:cNvSpPr/>
          <p:nvPr/>
        </p:nvSpPr>
        <p:spPr>
          <a:xfrm>
            <a:off x="841320" y="2030040"/>
            <a:ext cx="6034680" cy="1416960"/>
          </a:xfrm>
          <a:prstGeom prst="rect">
            <a:avLst/>
          </a:prstGeom>
          <a:noFill/>
          <a:ln w="0">
            <a:noFill/>
          </a:ln>
        </p:spPr>
        <p:style>
          <a:lnRef idx="0"/>
          <a:fillRef idx="0"/>
          <a:effectRef idx="0"/>
          <a:fontRef idx="minor"/>
        </p:style>
        <p:txBody>
          <a:bodyPr lIns="90000" rIns="90000" tIns="45000" bIns="45000" anchor="ctr">
            <a:normAutofit/>
          </a:bodyPr>
          <a:p>
            <a:pPr marL="152280" indent="-152280">
              <a:lnSpc>
                <a:spcPct val="100000"/>
              </a:lnSpc>
              <a:buClr>
                <a:srgbClr val="1f2937"/>
              </a:buClr>
              <a:buFont typeface="Symbol" charset="2"/>
              <a:buChar char=""/>
            </a:pPr>
            <a:r>
              <a:rPr b="0" lang="en-US" sz="1700" spc="-1" strike="noStrike">
                <a:solidFill>
                  <a:srgbClr val="1f2937"/>
                </a:solidFill>
                <a:latin typeface="Aptos"/>
                <a:ea typeface="Aptos"/>
              </a:rPr>
              <a:t>Owns expensive houses in the city center</a:t>
            </a:r>
            <a:endParaRPr b="0" lang="en-US" sz="1700" spc="-1" strike="noStrike">
              <a:latin typeface="Arial"/>
            </a:endParaRPr>
          </a:p>
          <a:p>
            <a:pPr marL="152280" indent="-152280">
              <a:lnSpc>
                <a:spcPct val="100000"/>
              </a:lnSpc>
              <a:buClr>
                <a:srgbClr val="1f2937"/>
              </a:buClr>
              <a:buFont typeface="Symbol" charset="2"/>
              <a:buChar char=""/>
            </a:pPr>
            <a:r>
              <a:rPr b="0" lang="en-US" sz="1700" spc="-1" strike="noStrike">
                <a:solidFill>
                  <a:srgbClr val="1f2937"/>
                </a:solidFill>
                <a:latin typeface="Aptos"/>
                <a:ea typeface="Aptos"/>
              </a:rPr>
              <a:t>Wants to sell within the next year</a:t>
            </a:r>
            <a:endParaRPr b="0" lang="en-US" sz="1700" spc="-1" strike="noStrike">
              <a:latin typeface="Arial"/>
            </a:endParaRPr>
          </a:p>
          <a:p>
            <a:pPr marL="152280" indent="-152280">
              <a:lnSpc>
                <a:spcPct val="100000"/>
              </a:lnSpc>
              <a:buClr>
                <a:srgbClr val="1f2937"/>
              </a:buClr>
              <a:buFont typeface="Symbol" charset="2"/>
              <a:buChar char=""/>
            </a:pPr>
            <a:r>
              <a:rPr b="0" lang="en-US" sz="1700" spc="-1" strike="noStrike">
                <a:solidFill>
                  <a:srgbClr val="1f2937"/>
                </a:solidFill>
                <a:latin typeface="Aptos"/>
                <a:ea typeface="Aptos"/>
              </a:rPr>
              <a:t>Open to renovation if it increases profit</a:t>
            </a:r>
            <a:endParaRPr b="0" lang="en-US" sz="1700" spc="-1" strike="noStrike">
              <a:latin typeface="Arial"/>
            </a:endParaRPr>
          </a:p>
        </p:txBody>
      </p:sp>
      <p:sp>
        <p:nvSpPr>
          <p:cNvPr id="79" name="Shape 5"/>
          <p:cNvSpPr/>
          <p:nvPr/>
        </p:nvSpPr>
        <p:spPr>
          <a:xfrm>
            <a:off x="603360" y="3822120"/>
            <a:ext cx="6217920" cy="360"/>
          </a:xfrm>
          <a:prstGeom prst="line">
            <a:avLst/>
          </a:prstGeom>
          <a:ln w="27940">
            <a:solidFill>
              <a:srgbClr val="c9a227"/>
            </a:solidFill>
            <a:round/>
          </a:ln>
        </p:spPr>
        <p:style>
          <a:lnRef idx="0"/>
          <a:fillRef idx="0"/>
          <a:effectRef idx="0"/>
          <a:fontRef idx="minor"/>
        </p:style>
      </p:sp>
      <p:sp>
        <p:nvSpPr>
          <p:cNvPr id="80" name="Text 6"/>
          <p:cNvSpPr/>
          <p:nvPr/>
        </p:nvSpPr>
        <p:spPr>
          <a:xfrm>
            <a:off x="603360" y="4160520"/>
            <a:ext cx="2742840" cy="34704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2000" spc="-1" strike="noStrike">
                <a:solidFill>
                  <a:srgbClr val="0d1b2a"/>
                </a:solidFill>
                <a:latin typeface="Aptos"/>
              </a:rPr>
              <a:t>Business question</a:t>
            </a:r>
            <a:endParaRPr b="0" lang="en-US" sz="2000" spc="-1" strike="noStrike">
              <a:latin typeface="Arial"/>
            </a:endParaRPr>
          </a:p>
        </p:txBody>
      </p:sp>
      <p:sp>
        <p:nvSpPr>
          <p:cNvPr id="81" name="Text 7"/>
          <p:cNvSpPr/>
          <p:nvPr/>
        </p:nvSpPr>
        <p:spPr>
          <a:xfrm>
            <a:off x="603360" y="4590360"/>
            <a:ext cx="6217560" cy="71280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1900" spc="-1" strike="noStrike">
                <a:solidFill>
                  <a:srgbClr val="1f2937"/>
                </a:solidFill>
                <a:latin typeface="Aptos"/>
              </a:rPr>
              <a:t>Which property factors should the seller prioritize to maximize resale value?</a:t>
            </a:r>
            <a:endParaRPr b="0" lang="en-US" sz="1900" spc="-1" strike="noStrike">
              <a:latin typeface="Arial"/>
            </a:endParaRPr>
          </a:p>
        </p:txBody>
      </p:sp>
      <p:sp>
        <p:nvSpPr>
          <p:cNvPr id="82" name="Text 8"/>
          <p:cNvSpPr/>
          <p:nvPr/>
        </p:nvSpPr>
        <p:spPr>
          <a:xfrm>
            <a:off x="594360" y="6528960"/>
            <a:ext cx="3840120" cy="16416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lang="en-US" sz="750" spc="-1" strike="noStrike">
                <a:solidFill>
                  <a:srgbClr val="8b8b8b"/>
                </a:solidFill>
                <a:latin typeface="Aptos"/>
              </a:rPr>
              <a:t>King County Housing EDA  •  3</a:t>
            </a:r>
            <a:endParaRPr b="0" lang="en-US" sz="750" spc="-1" strike="noStrike">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6f4ef"/>
        </a:solidFill>
      </p:bgPr>
    </p:bg>
    <p:spTree>
      <p:nvGrpSpPr>
        <p:cNvPr id="1" name=""/>
        <p:cNvGrpSpPr/>
        <p:nvPr/>
      </p:nvGrpSpPr>
      <p:grpSpPr>
        <a:xfrm>
          <a:off x="0" y="0"/>
          <a:ext cx="0" cy="0"/>
          <a:chOff x="0" y="0"/>
          <a:chExt cx="0" cy="0"/>
        </a:xfrm>
      </p:grpSpPr>
      <p:sp>
        <p:nvSpPr>
          <p:cNvPr id="83" name="Shape 0"/>
          <p:cNvSpPr/>
          <p:nvPr/>
        </p:nvSpPr>
        <p:spPr>
          <a:xfrm>
            <a:off x="0" y="0"/>
            <a:ext cx="12191400" cy="72720"/>
          </a:xfrm>
          <a:prstGeom prst="rect">
            <a:avLst/>
          </a:prstGeom>
          <a:solidFill>
            <a:srgbClr val="c9a227"/>
          </a:solidFill>
          <a:ln w="12700">
            <a:solidFill>
              <a:srgbClr val="c9a227"/>
            </a:solidFill>
            <a:round/>
          </a:ln>
        </p:spPr>
        <p:style>
          <a:lnRef idx="0"/>
          <a:fillRef idx="0"/>
          <a:effectRef idx="0"/>
          <a:fontRef idx="minor"/>
        </p:style>
      </p:sp>
      <p:sp>
        <p:nvSpPr>
          <p:cNvPr id="84" name="Text 1"/>
          <p:cNvSpPr/>
          <p:nvPr/>
        </p:nvSpPr>
        <p:spPr>
          <a:xfrm>
            <a:off x="594360" y="329040"/>
            <a:ext cx="3291480" cy="2098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850" spc="-1" strike="noStrike">
                <a:solidFill>
                  <a:srgbClr val="c9a227"/>
                </a:solidFill>
                <a:latin typeface="Aptos"/>
                <a:ea typeface="Aptos"/>
              </a:rPr>
              <a:t>DATA FOUNDATION</a:t>
            </a:r>
            <a:endParaRPr b="0" lang="en-US" sz="850" spc="-1" strike="noStrike">
              <a:latin typeface="Arial"/>
            </a:endParaRPr>
          </a:p>
        </p:txBody>
      </p:sp>
      <p:sp>
        <p:nvSpPr>
          <p:cNvPr id="85" name="Text 2"/>
          <p:cNvSpPr/>
          <p:nvPr/>
        </p:nvSpPr>
        <p:spPr>
          <a:xfrm>
            <a:off x="594360" y="658440"/>
            <a:ext cx="6857640" cy="59400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3300" spc="-1" strike="noStrike">
                <a:solidFill>
                  <a:srgbClr val="0d1b2a"/>
                </a:solidFill>
                <a:latin typeface="Aptos Display"/>
                <a:ea typeface="Aptos Display"/>
              </a:rPr>
              <a:t>What data did we use?</a:t>
            </a:r>
            <a:endParaRPr b="0" lang="en-US" sz="3300" spc="-1" strike="noStrike">
              <a:latin typeface="Arial"/>
            </a:endParaRPr>
          </a:p>
        </p:txBody>
      </p:sp>
      <p:sp>
        <p:nvSpPr>
          <p:cNvPr id="86" name="Text 3"/>
          <p:cNvSpPr/>
          <p:nvPr/>
        </p:nvSpPr>
        <p:spPr>
          <a:xfrm>
            <a:off x="603360" y="1325880"/>
            <a:ext cx="7589160" cy="502560"/>
          </a:xfrm>
          <a:prstGeom prst="rect">
            <a:avLst/>
          </a:prstGeom>
          <a:noFill/>
          <a:ln w="0">
            <a:noFill/>
          </a:ln>
        </p:spPr>
        <p:style>
          <a:lnRef idx="0"/>
          <a:fillRef idx="0"/>
          <a:effectRef idx="0"/>
          <a:fontRef idx="minor"/>
        </p:style>
        <p:txBody>
          <a:bodyPr lIns="360" rIns="360" tIns="360" bIns="360" anchor="ctr">
            <a:normAutofit fontScale="96000"/>
          </a:bodyPr>
          <a:p>
            <a:pPr>
              <a:lnSpc>
                <a:spcPct val="100000"/>
              </a:lnSpc>
              <a:buNone/>
              <a:tabLst>
                <a:tab algn="l" pos="0"/>
              </a:tabLst>
            </a:pPr>
            <a:r>
              <a:rPr b="0" lang="en-US" sz="1700" spc="-1" strike="noStrike">
                <a:solidFill>
                  <a:srgbClr val="1f2937"/>
                </a:solidFill>
                <a:latin typeface="Aptos"/>
                <a:ea typeface="Aptos"/>
              </a:rPr>
              <a:t>King County housing data: transactions, property characteristics, quality, location, and sale price.</a:t>
            </a:r>
            <a:endParaRPr b="0" lang="en-US" sz="1700" spc="-1" strike="noStrike">
              <a:latin typeface="Arial"/>
            </a:endParaRPr>
          </a:p>
        </p:txBody>
      </p:sp>
      <p:sp>
        <p:nvSpPr>
          <p:cNvPr id="87" name="Text 4"/>
          <p:cNvSpPr/>
          <p:nvPr/>
        </p:nvSpPr>
        <p:spPr>
          <a:xfrm>
            <a:off x="685800" y="2148840"/>
            <a:ext cx="2377080" cy="43848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2600" spc="-1" strike="noStrike">
                <a:solidFill>
                  <a:srgbClr val="0d1b2a"/>
                </a:solidFill>
                <a:latin typeface="Aptos Display"/>
                <a:ea typeface="Aptos Display"/>
              </a:rPr>
              <a:t>21,597</a:t>
            </a:r>
            <a:endParaRPr b="0" lang="en-US" sz="2600" spc="-1" strike="noStrike">
              <a:latin typeface="Arial"/>
            </a:endParaRPr>
          </a:p>
        </p:txBody>
      </p:sp>
      <p:sp>
        <p:nvSpPr>
          <p:cNvPr id="88" name="Shape 5"/>
          <p:cNvSpPr/>
          <p:nvPr/>
        </p:nvSpPr>
        <p:spPr>
          <a:xfrm>
            <a:off x="685800" y="2697480"/>
            <a:ext cx="731520" cy="360"/>
          </a:xfrm>
          <a:prstGeom prst="line">
            <a:avLst/>
          </a:prstGeom>
          <a:ln w="31750">
            <a:solidFill>
              <a:srgbClr val="c9a227"/>
            </a:solidFill>
            <a:round/>
          </a:ln>
        </p:spPr>
        <p:style>
          <a:lnRef idx="0"/>
          <a:fillRef idx="0"/>
          <a:effectRef idx="0"/>
          <a:fontRef idx="minor"/>
        </p:style>
      </p:sp>
      <p:sp>
        <p:nvSpPr>
          <p:cNvPr id="89" name="Text 6"/>
          <p:cNvSpPr/>
          <p:nvPr/>
        </p:nvSpPr>
        <p:spPr>
          <a:xfrm>
            <a:off x="685800" y="2862000"/>
            <a:ext cx="2377080" cy="38376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250" spc="-1" strike="noStrike">
                <a:solidFill>
                  <a:srgbClr val="1f2937"/>
                </a:solidFill>
                <a:latin typeface="Aptos"/>
                <a:ea typeface="Aptos"/>
              </a:rPr>
              <a:t>house sale records</a:t>
            </a:r>
            <a:endParaRPr b="0" lang="en-US" sz="1250" spc="-1" strike="noStrike">
              <a:latin typeface="Arial"/>
            </a:endParaRPr>
          </a:p>
        </p:txBody>
      </p:sp>
      <p:sp>
        <p:nvSpPr>
          <p:cNvPr id="90" name="Text 7"/>
          <p:cNvSpPr/>
          <p:nvPr/>
        </p:nvSpPr>
        <p:spPr>
          <a:xfrm>
            <a:off x="3337560" y="2148840"/>
            <a:ext cx="2468520" cy="43848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2600" spc="-1" strike="noStrike">
                <a:solidFill>
                  <a:srgbClr val="0d1b2a"/>
                </a:solidFill>
                <a:latin typeface="Aptos Display"/>
                <a:ea typeface="Aptos Display"/>
              </a:rPr>
              <a:t>21</a:t>
            </a:r>
            <a:endParaRPr b="0" lang="en-US" sz="2600" spc="-1" strike="noStrike">
              <a:latin typeface="Arial"/>
            </a:endParaRPr>
          </a:p>
        </p:txBody>
      </p:sp>
      <p:sp>
        <p:nvSpPr>
          <p:cNvPr id="91" name="Shape 8"/>
          <p:cNvSpPr/>
          <p:nvPr/>
        </p:nvSpPr>
        <p:spPr>
          <a:xfrm>
            <a:off x="3337560" y="2697480"/>
            <a:ext cx="731520" cy="360"/>
          </a:xfrm>
          <a:prstGeom prst="line">
            <a:avLst/>
          </a:prstGeom>
          <a:ln w="31750">
            <a:solidFill>
              <a:srgbClr val="c9a227"/>
            </a:solidFill>
            <a:round/>
          </a:ln>
        </p:spPr>
        <p:style>
          <a:lnRef idx="0"/>
          <a:fillRef idx="0"/>
          <a:effectRef idx="0"/>
          <a:fontRef idx="minor"/>
        </p:style>
      </p:sp>
      <p:sp>
        <p:nvSpPr>
          <p:cNvPr id="92" name="Text 9"/>
          <p:cNvSpPr/>
          <p:nvPr/>
        </p:nvSpPr>
        <p:spPr>
          <a:xfrm>
            <a:off x="3337560" y="2862000"/>
            <a:ext cx="2468520" cy="38376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250" spc="-1" strike="noStrike">
                <a:solidFill>
                  <a:srgbClr val="1f2937"/>
                </a:solidFill>
                <a:latin typeface="Aptos"/>
                <a:ea typeface="Aptos"/>
              </a:rPr>
              <a:t>variables describing each property</a:t>
            </a:r>
            <a:endParaRPr b="0" lang="en-US" sz="1250" spc="-1" strike="noStrike">
              <a:latin typeface="Arial"/>
            </a:endParaRPr>
          </a:p>
        </p:txBody>
      </p:sp>
      <p:sp>
        <p:nvSpPr>
          <p:cNvPr id="93" name="Text 10"/>
          <p:cNvSpPr/>
          <p:nvPr/>
        </p:nvSpPr>
        <p:spPr>
          <a:xfrm>
            <a:off x="5806440" y="2148840"/>
            <a:ext cx="2057040" cy="43848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2600" spc="-1" strike="noStrike">
                <a:solidFill>
                  <a:srgbClr val="0d1b2a"/>
                </a:solidFill>
                <a:latin typeface="Aptos Display"/>
                <a:ea typeface="Aptos Display"/>
              </a:rPr>
              <a:t>price</a:t>
            </a:r>
            <a:endParaRPr b="0" lang="en-US" sz="2600" spc="-1" strike="noStrike">
              <a:latin typeface="Arial"/>
            </a:endParaRPr>
          </a:p>
        </p:txBody>
      </p:sp>
      <p:sp>
        <p:nvSpPr>
          <p:cNvPr id="94" name="Shape 11"/>
          <p:cNvSpPr/>
          <p:nvPr/>
        </p:nvSpPr>
        <p:spPr>
          <a:xfrm>
            <a:off x="5806440" y="2697480"/>
            <a:ext cx="731520" cy="360"/>
          </a:xfrm>
          <a:prstGeom prst="line">
            <a:avLst/>
          </a:prstGeom>
          <a:ln w="31750">
            <a:solidFill>
              <a:srgbClr val="c9a227"/>
            </a:solidFill>
            <a:round/>
          </a:ln>
        </p:spPr>
        <p:style>
          <a:lnRef idx="0"/>
          <a:fillRef idx="0"/>
          <a:effectRef idx="0"/>
          <a:fontRef idx="minor"/>
        </p:style>
      </p:sp>
      <p:sp>
        <p:nvSpPr>
          <p:cNvPr id="95" name="Text 12"/>
          <p:cNvSpPr/>
          <p:nvPr/>
        </p:nvSpPr>
        <p:spPr>
          <a:xfrm>
            <a:off x="5806440" y="2862000"/>
            <a:ext cx="2057040" cy="38376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250" spc="-1" strike="noStrike">
                <a:solidFill>
                  <a:srgbClr val="1f2937"/>
                </a:solidFill>
                <a:latin typeface="Aptos"/>
                <a:ea typeface="Aptos"/>
              </a:rPr>
              <a:t>target variable for the analysis</a:t>
            </a:r>
            <a:endParaRPr b="0" lang="en-US" sz="1250" spc="-1" strike="noStrike">
              <a:latin typeface="Arial"/>
            </a:endParaRPr>
          </a:p>
        </p:txBody>
      </p:sp>
      <p:sp>
        <p:nvSpPr>
          <p:cNvPr id="96" name="Shape 13"/>
          <p:cNvSpPr/>
          <p:nvPr/>
        </p:nvSpPr>
        <p:spPr>
          <a:xfrm>
            <a:off x="685800" y="3703320"/>
            <a:ext cx="7040880" cy="360"/>
          </a:xfrm>
          <a:prstGeom prst="line">
            <a:avLst/>
          </a:prstGeom>
          <a:ln w="15240">
            <a:solidFill>
              <a:srgbClr val="d8d1c4"/>
            </a:solidFill>
            <a:round/>
          </a:ln>
        </p:spPr>
        <p:style>
          <a:lnRef idx="0"/>
          <a:fillRef idx="0"/>
          <a:effectRef idx="0"/>
          <a:fontRef idx="minor"/>
        </p:style>
      </p:sp>
      <p:sp>
        <p:nvSpPr>
          <p:cNvPr id="97" name="Text 14"/>
          <p:cNvSpPr/>
          <p:nvPr/>
        </p:nvSpPr>
        <p:spPr>
          <a:xfrm>
            <a:off x="685800" y="4041720"/>
            <a:ext cx="4205880" cy="3106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800" spc="-1" strike="noStrike">
                <a:solidFill>
                  <a:srgbClr val="0d1b2a"/>
                </a:solidFill>
                <a:latin typeface="Aptos"/>
              </a:rPr>
              <a:t>Data preparation decisions</a:t>
            </a:r>
            <a:endParaRPr b="0" lang="en-US" sz="1800" spc="-1" strike="noStrike">
              <a:latin typeface="Arial"/>
            </a:endParaRPr>
          </a:p>
        </p:txBody>
      </p:sp>
      <p:sp>
        <p:nvSpPr>
          <p:cNvPr id="98" name="Text 15"/>
          <p:cNvSpPr/>
          <p:nvPr/>
        </p:nvSpPr>
        <p:spPr>
          <a:xfrm>
            <a:off x="932760" y="4553640"/>
            <a:ext cx="6949080" cy="1234080"/>
          </a:xfrm>
          <a:prstGeom prst="rect">
            <a:avLst/>
          </a:prstGeom>
          <a:noFill/>
          <a:ln w="0">
            <a:noFill/>
          </a:ln>
        </p:spPr>
        <p:style>
          <a:lnRef idx="0"/>
          <a:fillRef idx="0"/>
          <a:effectRef idx="0"/>
          <a:fontRef idx="minor"/>
        </p:style>
        <p:txBody>
          <a:bodyPr lIns="90000" rIns="90000" tIns="45000" bIns="45000" anchor="ctr">
            <a:normAutofit/>
          </a:bodyPr>
          <a:p>
            <a:pPr marL="152280" indent="-152280">
              <a:lnSpc>
                <a:spcPct val="100000"/>
              </a:lnSpc>
              <a:buClr>
                <a:srgbClr val="1f2937"/>
              </a:buClr>
              <a:buFont typeface="Symbol" charset="2"/>
              <a:buChar char=""/>
            </a:pPr>
            <a:r>
              <a:rPr b="0" lang="en-US" sz="1450" spc="-1" strike="noStrike">
                <a:solidFill>
                  <a:srgbClr val="1f2937"/>
                </a:solidFill>
                <a:latin typeface="Aptos"/>
                <a:ea typeface="Aptos"/>
              </a:rPr>
              <a:t>Checked missing values, duplicates, data types, and summary statistics</a:t>
            </a:r>
            <a:endParaRPr b="0" lang="en-US" sz="1450" spc="-1" strike="noStrike">
              <a:latin typeface="Arial"/>
            </a:endParaRPr>
          </a:p>
          <a:p>
            <a:pPr marL="152280" indent="-152280">
              <a:lnSpc>
                <a:spcPct val="100000"/>
              </a:lnSpc>
              <a:buClr>
                <a:srgbClr val="1f2937"/>
              </a:buClr>
              <a:buFont typeface="Symbol" charset="2"/>
              <a:buChar char=""/>
            </a:pPr>
            <a:r>
              <a:rPr b="0" lang="en-US" sz="1450" spc="-1" strike="noStrike">
                <a:solidFill>
                  <a:srgbClr val="1f2937"/>
                </a:solidFill>
                <a:latin typeface="Aptos"/>
                <a:ea typeface="Aptos"/>
              </a:rPr>
              <a:t>Converted date to datetime and zipcode to categorical</a:t>
            </a:r>
            <a:endParaRPr b="0" lang="en-US" sz="1450" spc="-1" strike="noStrike">
              <a:latin typeface="Arial"/>
            </a:endParaRPr>
          </a:p>
          <a:p>
            <a:pPr marL="152280" indent="-152280">
              <a:lnSpc>
                <a:spcPct val="100000"/>
              </a:lnSpc>
              <a:buClr>
                <a:srgbClr val="1f2937"/>
              </a:buClr>
              <a:buFont typeface="Symbol" charset="2"/>
              <a:buChar char=""/>
            </a:pPr>
            <a:r>
              <a:rPr b="0" lang="en-US" sz="1450" spc="-1" strike="noStrike">
                <a:solidFill>
                  <a:srgbClr val="1f2937"/>
                </a:solidFill>
                <a:latin typeface="Aptos"/>
                <a:ea typeface="Aptos"/>
              </a:rPr>
              <a:t>Kept unknown renovation values separate instead of forcing them to zero</a:t>
            </a:r>
            <a:endParaRPr b="0" lang="en-US" sz="1450" spc="-1" strike="noStrike">
              <a:latin typeface="Arial"/>
            </a:endParaRPr>
          </a:p>
        </p:txBody>
      </p:sp>
      <p:pic>
        <p:nvPicPr>
          <p:cNvPr id="99" name="Image 0" descr="/mnt/data/interior_side.jpg"/>
          <p:cNvPicPr/>
          <p:nvPr/>
        </p:nvPicPr>
        <p:blipFill>
          <a:blip r:embed="rId1"/>
          <a:stretch/>
        </p:blipFill>
        <p:spPr>
          <a:xfrm>
            <a:off x="8458200" y="1481400"/>
            <a:ext cx="2971440" cy="4343040"/>
          </a:xfrm>
          <a:prstGeom prst="rect">
            <a:avLst/>
          </a:prstGeom>
          <a:ln w="0">
            <a:noFill/>
          </a:ln>
        </p:spPr>
      </p:pic>
      <p:sp>
        <p:nvSpPr>
          <p:cNvPr id="100" name="Text 16"/>
          <p:cNvSpPr/>
          <p:nvPr/>
        </p:nvSpPr>
        <p:spPr>
          <a:xfrm>
            <a:off x="594360" y="6528960"/>
            <a:ext cx="3840120" cy="16416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lang="en-US" sz="750" spc="-1" strike="noStrike">
                <a:solidFill>
                  <a:srgbClr val="8b8b8b"/>
                </a:solidFill>
                <a:latin typeface="Aptos"/>
              </a:rPr>
              <a:t>King County Housing EDA  •  4</a:t>
            </a:r>
            <a:endParaRPr b="0" lang="en-US" sz="750" spc="-1" strike="noStrike">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6f4ef"/>
        </a:solidFill>
      </p:bgPr>
    </p:bg>
    <p:spTree>
      <p:nvGrpSpPr>
        <p:cNvPr id="1" name=""/>
        <p:cNvGrpSpPr/>
        <p:nvPr/>
      </p:nvGrpSpPr>
      <p:grpSpPr>
        <a:xfrm>
          <a:off x="0" y="0"/>
          <a:ext cx="0" cy="0"/>
          <a:chOff x="0" y="0"/>
          <a:chExt cx="0" cy="0"/>
        </a:xfrm>
      </p:grpSpPr>
      <p:sp>
        <p:nvSpPr>
          <p:cNvPr id="101" name="Shape 0"/>
          <p:cNvSpPr/>
          <p:nvPr/>
        </p:nvSpPr>
        <p:spPr>
          <a:xfrm>
            <a:off x="0" y="0"/>
            <a:ext cx="12191400" cy="72720"/>
          </a:xfrm>
          <a:prstGeom prst="rect">
            <a:avLst/>
          </a:prstGeom>
          <a:solidFill>
            <a:srgbClr val="c9a227"/>
          </a:solidFill>
          <a:ln w="12700">
            <a:solidFill>
              <a:srgbClr val="c9a227"/>
            </a:solidFill>
            <a:round/>
          </a:ln>
        </p:spPr>
        <p:style>
          <a:lnRef idx="0"/>
          <a:fillRef idx="0"/>
          <a:effectRef idx="0"/>
          <a:fontRef idx="minor"/>
        </p:style>
      </p:sp>
      <p:sp>
        <p:nvSpPr>
          <p:cNvPr id="102" name="Text 1"/>
          <p:cNvSpPr/>
          <p:nvPr/>
        </p:nvSpPr>
        <p:spPr>
          <a:xfrm>
            <a:off x="594360" y="329040"/>
            <a:ext cx="3291480" cy="2098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850" spc="-1" strike="noStrike">
                <a:solidFill>
                  <a:srgbClr val="c9a227"/>
                </a:solidFill>
                <a:latin typeface="Aptos"/>
                <a:ea typeface="Aptos"/>
              </a:rPr>
              <a:t>HYPOTHESES</a:t>
            </a:r>
            <a:endParaRPr b="0" lang="en-US" sz="850" spc="-1" strike="noStrike">
              <a:latin typeface="Arial"/>
            </a:endParaRPr>
          </a:p>
        </p:txBody>
      </p:sp>
      <p:sp>
        <p:nvSpPr>
          <p:cNvPr id="103" name="Text 2"/>
          <p:cNvSpPr/>
          <p:nvPr/>
        </p:nvSpPr>
        <p:spPr>
          <a:xfrm>
            <a:off x="594360" y="658440"/>
            <a:ext cx="6857640" cy="59400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3300" spc="-1" strike="noStrike">
                <a:solidFill>
                  <a:srgbClr val="0d1b2a"/>
                </a:solidFill>
                <a:latin typeface="Aptos Display"/>
                <a:ea typeface="Aptos Display"/>
              </a:rPr>
              <a:t>What did we test?</a:t>
            </a:r>
            <a:endParaRPr b="0" lang="en-US" sz="3300" spc="-1" strike="noStrike">
              <a:latin typeface="Arial"/>
            </a:endParaRPr>
          </a:p>
        </p:txBody>
      </p:sp>
      <p:sp>
        <p:nvSpPr>
          <p:cNvPr id="104" name="Text 3"/>
          <p:cNvSpPr/>
          <p:nvPr/>
        </p:nvSpPr>
        <p:spPr>
          <a:xfrm>
            <a:off x="685800" y="1600200"/>
            <a:ext cx="639720" cy="3106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900" spc="-1" strike="noStrike">
                <a:solidFill>
                  <a:srgbClr val="c9a227"/>
                </a:solidFill>
                <a:latin typeface="Aptos"/>
              </a:rPr>
              <a:t>H1</a:t>
            </a:r>
            <a:endParaRPr b="0" lang="en-US" sz="1900" spc="-1" strike="noStrike">
              <a:latin typeface="Arial"/>
            </a:endParaRPr>
          </a:p>
        </p:txBody>
      </p:sp>
      <p:sp>
        <p:nvSpPr>
          <p:cNvPr id="105" name="Text 4"/>
          <p:cNvSpPr/>
          <p:nvPr/>
        </p:nvSpPr>
        <p:spPr>
          <a:xfrm>
            <a:off x="1508760" y="1581840"/>
            <a:ext cx="2011320" cy="3286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2000" spc="-1" strike="noStrike">
                <a:solidFill>
                  <a:srgbClr val="0d1b2a"/>
                </a:solidFill>
                <a:latin typeface="Aptos"/>
              </a:rPr>
              <a:t>Location</a:t>
            </a:r>
            <a:endParaRPr b="0" lang="en-US" sz="2000" spc="-1" strike="noStrike">
              <a:latin typeface="Arial"/>
            </a:endParaRPr>
          </a:p>
        </p:txBody>
      </p:sp>
      <p:sp>
        <p:nvSpPr>
          <p:cNvPr id="106" name="Text 5"/>
          <p:cNvSpPr/>
          <p:nvPr/>
        </p:nvSpPr>
        <p:spPr>
          <a:xfrm>
            <a:off x="3657600" y="1572840"/>
            <a:ext cx="7131960" cy="402120"/>
          </a:xfrm>
          <a:prstGeom prst="rect">
            <a:avLst/>
          </a:prstGeom>
          <a:noFill/>
          <a:ln w="0">
            <a:noFill/>
          </a:ln>
        </p:spPr>
        <p:style>
          <a:lnRef idx="0"/>
          <a:fillRef idx="0"/>
          <a:effectRef idx="0"/>
          <a:fontRef idx="minor"/>
        </p:style>
        <p:txBody>
          <a:bodyPr lIns="0" rIns="0" tIns="0" bIns="0" anchor="ctr">
            <a:normAutofit fontScale="92000"/>
          </a:bodyPr>
          <a:p>
            <a:pPr>
              <a:lnSpc>
                <a:spcPct val="100000"/>
              </a:lnSpc>
              <a:buNone/>
              <a:tabLst>
                <a:tab algn="l" pos="0"/>
              </a:tabLst>
            </a:pPr>
            <a:r>
              <a:rPr b="0" lang="en-US" sz="1550" spc="-1" strike="noStrike">
                <a:solidFill>
                  <a:srgbClr val="1f2937"/>
                </a:solidFill>
                <a:latin typeface="Aptos"/>
              </a:rPr>
              <a:t>Top ZIP codes, waterfront access, and better views are associated with higher prices.</a:t>
            </a:r>
            <a:endParaRPr b="0" lang="en-US" sz="1550" spc="-1" strike="noStrike">
              <a:latin typeface="Arial"/>
            </a:endParaRPr>
          </a:p>
        </p:txBody>
      </p:sp>
      <p:sp>
        <p:nvSpPr>
          <p:cNvPr id="107" name="Shape 6"/>
          <p:cNvSpPr/>
          <p:nvPr/>
        </p:nvSpPr>
        <p:spPr>
          <a:xfrm>
            <a:off x="685800" y="2203560"/>
            <a:ext cx="9784080" cy="360"/>
          </a:xfrm>
          <a:prstGeom prst="line">
            <a:avLst/>
          </a:prstGeom>
          <a:ln w="12700">
            <a:solidFill>
              <a:srgbClr val="e4ded2"/>
            </a:solidFill>
            <a:round/>
          </a:ln>
        </p:spPr>
        <p:style>
          <a:lnRef idx="0"/>
          <a:fillRef idx="0"/>
          <a:effectRef idx="0"/>
          <a:fontRef idx="minor"/>
        </p:style>
      </p:sp>
      <p:sp>
        <p:nvSpPr>
          <p:cNvPr id="108" name="Text 7"/>
          <p:cNvSpPr/>
          <p:nvPr/>
        </p:nvSpPr>
        <p:spPr>
          <a:xfrm>
            <a:off x="685800" y="2679120"/>
            <a:ext cx="639720" cy="3106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900" spc="-1" strike="noStrike">
                <a:solidFill>
                  <a:srgbClr val="c9a227"/>
                </a:solidFill>
                <a:latin typeface="Aptos"/>
              </a:rPr>
              <a:t>H2</a:t>
            </a:r>
            <a:endParaRPr b="0" lang="en-US" sz="1900" spc="-1" strike="noStrike">
              <a:latin typeface="Arial"/>
            </a:endParaRPr>
          </a:p>
        </p:txBody>
      </p:sp>
      <p:sp>
        <p:nvSpPr>
          <p:cNvPr id="109" name="Text 8"/>
          <p:cNvSpPr/>
          <p:nvPr/>
        </p:nvSpPr>
        <p:spPr>
          <a:xfrm>
            <a:off x="1508760" y="2660760"/>
            <a:ext cx="2011320" cy="3286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2000" spc="-1" strike="noStrike">
                <a:solidFill>
                  <a:srgbClr val="0d1b2a"/>
                </a:solidFill>
                <a:latin typeface="Aptos"/>
              </a:rPr>
              <a:t>Renovation</a:t>
            </a:r>
            <a:endParaRPr b="0" lang="en-US" sz="2000" spc="-1" strike="noStrike">
              <a:latin typeface="Arial"/>
            </a:endParaRPr>
          </a:p>
        </p:txBody>
      </p:sp>
      <p:sp>
        <p:nvSpPr>
          <p:cNvPr id="110" name="Text 9"/>
          <p:cNvSpPr/>
          <p:nvPr/>
        </p:nvSpPr>
        <p:spPr>
          <a:xfrm>
            <a:off x="3657600" y="2651760"/>
            <a:ext cx="7131960" cy="40212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550" spc="-1" strike="noStrike">
                <a:solidFill>
                  <a:srgbClr val="1f2937"/>
                </a:solidFill>
                <a:latin typeface="Aptos"/>
              </a:rPr>
              <a:t>Renovated homes achieve higher selling prices than non-renovated homes.</a:t>
            </a:r>
            <a:endParaRPr b="0" lang="en-US" sz="1550" spc="-1" strike="noStrike">
              <a:latin typeface="Arial"/>
            </a:endParaRPr>
          </a:p>
        </p:txBody>
      </p:sp>
      <p:sp>
        <p:nvSpPr>
          <p:cNvPr id="111" name="Shape 10"/>
          <p:cNvSpPr/>
          <p:nvPr/>
        </p:nvSpPr>
        <p:spPr>
          <a:xfrm>
            <a:off x="685800" y="3282480"/>
            <a:ext cx="9784080" cy="360"/>
          </a:xfrm>
          <a:prstGeom prst="line">
            <a:avLst/>
          </a:prstGeom>
          <a:ln w="12700">
            <a:solidFill>
              <a:srgbClr val="e4ded2"/>
            </a:solidFill>
            <a:round/>
          </a:ln>
        </p:spPr>
        <p:style>
          <a:lnRef idx="0"/>
          <a:fillRef idx="0"/>
          <a:effectRef idx="0"/>
          <a:fontRef idx="minor"/>
        </p:style>
      </p:sp>
      <p:sp>
        <p:nvSpPr>
          <p:cNvPr id="112" name="Text 11"/>
          <p:cNvSpPr/>
          <p:nvPr/>
        </p:nvSpPr>
        <p:spPr>
          <a:xfrm>
            <a:off x="685800" y="3758040"/>
            <a:ext cx="639720" cy="3106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900" spc="-1" strike="noStrike">
                <a:solidFill>
                  <a:srgbClr val="c9a227"/>
                </a:solidFill>
                <a:latin typeface="Aptos"/>
              </a:rPr>
              <a:t>H3</a:t>
            </a:r>
            <a:endParaRPr b="0" lang="en-US" sz="1900" spc="-1" strike="noStrike">
              <a:latin typeface="Arial"/>
            </a:endParaRPr>
          </a:p>
        </p:txBody>
      </p:sp>
      <p:sp>
        <p:nvSpPr>
          <p:cNvPr id="113" name="Text 12"/>
          <p:cNvSpPr/>
          <p:nvPr/>
        </p:nvSpPr>
        <p:spPr>
          <a:xfrm>
            <a:off x="1508760" y="3740040"/>
            <a:ext cx="2011320" cy="3286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2000" spc="-1" strike="noStrike">
                <a:solidFill>
                  <a:srgbClr val="0d1b2a"/>
                </a:solidFill>
                <a:latin typeface="Aptos"/>
              </a:rPr>
              <a:t>Grade</a:t>
            </a:r>
            <a:endParaRPr b="0" lang="en-US" sz="2000" spc="-1" strike="noStrike">
              <a:latin typeface="Arial"/>
            </a:endParaRPr>
          </a:p>
        </p:txBody>
      </p:sp>
      <p:sp>
        <p:nvSpPr>
          <p:cNvPr id="114" name="Text 13"/>
          <p:cNvSpPr/>
          <p:nvPr/>
        </p:nvSpPr>
        <p:spPr>
          <a:xfrm>
            <a:off x="3657600" y="3730680"/>
            <a:ext cx="7131960" cy="40212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550" spc="-1" strike="noStrike">
                <a:solidFill>
                  <a:srgbClr val="1f2937"/>
                </a:solidFill>
                <a:latin typeface="Aptos"/>
              </a:rPr>
              <a:t>Higher construction quality is associated with higher selling prices.</a:t>
            </a:r>
            <a:endParaRPr b="0" lang="en-US" sz="1550" spc="-1" strike="noStrike">
              <a:latin typeface="Arial"/>
            </a:endParaRPr>
          </a:p>
        </p:txBody>
      </p:sp>
      <p:sp>
        <p:nvSpPr>
          <p:cNvPr id="115" name="Shape 14"/>
          <p:cNvSpPr/>
          <p:nvPr/>
        </p:nvSpPr>
        <p:spPr>
          <a:xfrm>
            <a:off x="685800" y="4361400"/>
            <a:ext cx="9784080" cy="360"/>
          </a:xfrm>
          <a:prstGeom prst="line">
            <a:avLst/>
          </a:prstGeom>
          <a:ln w="12700">
            <a:solidFill>
              <a:srgbClr val="e4ded2"/>
            </a:solidFill>
            <a:round/>
          </a:ln>
        </p:spPr>
        <p:style>
          <a:lnRef idx="0"/>
          <a:fillRef idx="0"/>
          <a:effectRef idx="0"/>
          <a:fontRef idx="minor"/>
        </p:style>
      </p:sp>
      <p:sp>
        <p:nvSpPr>
          <p:cNvPr id="116" name="Text 15"/>
          <p:cNvSpPr/>
          <p:nvPr/>
        </p:nvSpPr>
        <p:spPr>
          <a:xfrm>
            <a:off x="685800" y="4837320"/>
            <a:ext cx="639720" cy="3106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900" spc="-1" strike="noStrike">
                <a:solidFill>
                  <a:srgbClr val="c9a227"/>
                </a:solidFill>
                <a:latin typeface="Aptos"/>
              </a:rPr>
              <a:t>H4</a:t>
            </a:r>
            <a:endParaRPr b="0" lang="en-US" sz="1900" spc="-1" strike="noStrike">
              <a:latin typeface="Arial"/>
            </a:endParaRPr>
          </a:p>
        </p:txBody>
      </p:sp>
      <p:sp>
        <p:nvSpPr>
          <p:cNvPr id="117" name="Text 16"/>
          <p:cNvSpPr/>
          <p:nvPr/>
        </p:nvSpPr>
        <p:spPr>
          <a:xfrm>
            <a:off x="1508760" y="4818960"/>
            <a:ext cx="2011320" cy="3286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2000" spc="-1" strike="noStrike">
                <a:solidFill>
                  <a:srgbClr val="0d1b2a"/>
                </a:solidFill>
                <a:latin typeface="Aptos"/>
              </a:rPr>
              <a:t>Seasonality</a:t>
            </a:r>
            <a:endParaRPr b="0" lang="en-US" sz="2000" spc="-1" strike="noStrike">
              <a:latin typeface="Arial"/>
            </a:endParaRPr>
          </a:p>
        </p:txBody>
      </p:sp>
      <p:sp>
        <p:nvSpPr>
          <p:cNvPr id="118" name="Text 17"/>
          <p:cNvSpPr/>
          <p:nvPr/>
        </p:nvSpPr>
        <p:spPr>
          <a:xfrm>
            <a:off x="3657600" y="4809600"/>
            <a:ext cx="7131960" cy="40212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550" spc="-1" strike="noStrike">
                <a:solidFill>
                  <a:srgbClr val="1f2937"/>
                </a:solidFill>
                <a:latin typeface="Aptos"/>
              </a:rPr>
              <a:t>Spring and summer sales achieve higher prices than fall and winter.</a:t>
            </a:r>
            <a:endParaRPr b="0" lang="en-US" sz="1550" spc="-1" strike="noStrike">
              <a:latin typeface="Arial"/>
            </a:endParaRPr>
          </a:p>
        </p:txBody>
      </p:sp>
      <p:sp>
        <p:nvSpPr>
          <p:cNvPr id="119" name="Shape 18"/>
          <p:cNvSpPr/>
          <p:nvPr/>
        </p:nvSpPr>
        <p:spPr>
          <a:xfrm>
            <a:off x="685800" y="5440680"/>
            <a:ext cx="9784080" cy="360"/>
          </a:xfrm>
          <a:prstGeom prst="line">
            <a:avLst/>
          </a:prstGeom>
          <a:ln w="12700">
            <a:solidFill>
              <a:srgbClr val="e4ded2"/>
            </a:solidFill>
            <a:round/>
          </a:ln>
        </p:spPr>
        <p:style>
          <a:lnRef idx="0"/>
          <a:fillRef idx="0"/>
          <a:effectRef idx="0"/>
          <a:fontRef idx="minor"/>
        </p:style>
      </p:sp>
      <p:sp>
        <p:nvSpPr>
          <p:cNvPr id="120" name="Text 19"/>
          <p:cNvSpPr/>
          <p:nvPr/>
        </p:nvSpPr>
        <p:spPr>
          <a:xfrm>
            <a:off x="594360" y="6528960"/>
            <a:ext cx="3840120" cy="16416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lang="en-US" sz="750" spc="-1" strike="noStrike">
                <a:solidFill>
                  <a:srgbClr val="8b8b8b"/>
                </a:solidFill>
                <a:latin typeface="Aptos"/>
              </a:rPr>
              <a:t>King County Housing EDA  •  5</a:t>
            </a:r>
            <a:endParaRPr b="0" lang="en-US" sz="750" spc="-1" strike="noStrike">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6f4ef"/>
        </a:solidFill>
      </p:bgPr>
    </p:bg>
    <p:spTree>
      <p:nvGrpSpPr>
        <p:cNvPr id="1" name=""/>
        <p:cNvGrpSpPr/>
        <p:nvPr/>
      </p:nvGrpSpPr>
      <p:grpSpPr>
        <a:xfrm>
          <a:off x="0" y="0"/>
          <a:ext cx="0" cy="0"/>
          <a:chOff x="0" y="0"/>
          <a:chExt cx="0" cy="0"/>
        </a:xfrm>
      </p:grpSpPr>
      <p:sp>
        <p:nvSpPr>
          <p:cNvPr id="121" name="Shape 0"/>
          <p:cNvSpPr/>
          <p:nvPr/>
        </p:nvSpPr>
        <p:spPr>
          <a:xfrm>
            <a:off x="0" y="0"/>
            <a:ext cx="8092080" cy="72720"/>
          </a:xfrm>
          <a:prstGeom prst="rect">
            <a:avLst/>
          </a:prstGeom>
          <a:solidFill>
            <a:srgbClr val="c9a227"/>
          </a:solidFill>
          <a:ln w="12700">
            <a:solidFill>
              <a:srgbClr val="c9a227"/>
            </a:solidFill>
            <a:round/>
          </a:ln>
        </p:spPr>
        <p:style>
          <a:lnRef idx="0"/>
          <a:fillRef idx="0"/>
          <a:effectRef idx="0"/>
          <a:fontRef idx="minor"/>
        </p:style>
      </p:sp>
      <p:pic>
        <p:nvPicPr>
          <p:cNvPr id="122" name="Image 0" descr="/mnt/data/mercer_side_tint.jpg"/>
          <p:cNvPicPr/>
          <p:nvPr/>
        </p:nvPicPr>
        <p:blipFill>
          <a:blip r:embed="rId1"/>
          <a:stretch/>
        </p:blipFill>
        <p:spPr>
          <a:xfrm>
            <a:off x="8092440" y="0"/>
            <a:ext cx="4096080" cy="6857640"/>
          </a:xfrm>
          <a:prstGeom prst="rect">
            <a:avLst/>
          </a:prstGeom>
          <a:ln w="0">
            <a:noFill/>
          </a:ln>
        </p:spPr>
      </p:pic>
      <p:sp>
        <p:nvSpPr>
          <p:cNvPr id="123" name="Text 1"/>
          <p:cNvSpPr/>
          <p:nvPr/>
        </p:nvSpPr>
        <p:spPr>
          <a:xfrm>
            <a:off x="594360" y="329040"/>
            <a:ext cx="3291480" cy="2098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850" spc="-1" strike="noStrike">
                <a:solidFill>
                  <a:srgbClr val="c9a227"/>
                </a:solidFill>
                <a:latin typeface="Aptos"/>
                <a:ea typeface="Aptos"/>
              </a:rPr>
              <a:t>FINDING 1</a:t>
            </a:r>
            <a:endParaRPr b="0" lang="en-US" sz="850" spc="-1" strike="noStrike">
              <a:latin typeface="Arial"/>
            </a:endParaRPr>
          </a:p>
        </p:txBody>
      </p:sp>
      <p:sp>
        <p:nvSpPr>
          <p:cNvPr id="124" name="Text 2"/>
          <p:cNvSpPr/>
          <p:nvPr/>
        </p:nvSpPr>
        <p:spPr>
          <a:xfrm>
            <a:off x="594360" y="658440"/>
            <a:ext cx="6857640" cy="594000"/>
          </a:xfrm>
          <a:prstGeom prst="rect">
            <a:avLst/>
          </a:prstGeom>
          <a:noFill/>
          <a:ln w="0">
            <a:noFill/>
          </a:ln>
        </p:spPr>
        <p:style>
          <a:lnRef idx="0"/>
          <a:fillRef idx="0"/>
          <a:effectRef idx="0"/>
          <a:fontRef idx="minor"/>
        </p:style>
        <p:txBody>
          <a:bodyPr lIns="0" rIns="0" tIns="0" bIns="0" anchor="ctr">
            <a:normAutofit fontScale="76000"/>
          </a:bodyPr>
          <a:p>
            <a:pPr>
              <a:lnSpc>
                <a:spcPct val="100000"/>
              </a:lnSpc>
              <a:buNone/>
              <a:tabLst>
                <a:tab algn="l" pos="0"/>
              </a:tabLst>
            </a:pPr>
            <a:r>
              <a:rPr b="1" lang="en-US" sz="3300" spc="-1" strike="noStrike">
                <a:solidFill>
                  <a:srgbClr val="0d1b2a"/>
                </a:solidFill>
                <a:latin typeface="Aptos Display"/>
                <a:ea typeface="Aptos Display"/>
              </a:rPr>
              <a:t>Location creates the largest price gap</a:t>
            </a:r>
            <a:endParaRPr b="0" lang="en-US" sz="3300" spc="-1" strike="noStrike">
              <a:latin typeface="Arial"/>
            </a:endParaRPr>
          </a:p>
        </p:txBody>
      </p:sp>
      <p:sp>
        <p:nvSpPr>
          <p:cNvPr id="125" name="Text 3"/>
          <p:cNvSpPr/>
          <p:nvPr/>
        </p:nvSpPr>
        <p:spPr>
          <a:xfrm>
            <a:off x="603360" y="1325880"/>
            <a:ext cx="6491880" cy="502560"/>
          </a:xfrm>
          <a:prstGeom prst="rect">
            <a:avLst/>
          </a:prstGeom>
          <a:noFill/>
          <a:ln w="0">
            <a:noFill/>
          </a:ln>
        </p:spPr>
        <p:style>
          <a:lnRef idx="0"/>
          <a:fillRef idx="0"/>
          <a:effectRef idx="0"/>
          <a:fontRef idx="minor"/>
        </p:style>
        <p:txBody>
          <a:bodyPr lIns="360" rIns="360" tIns="360" bIns="360" anchor="ctr">
            <a:normAutofit fontScale="96000"/>
          </a:bodyPr>
          <a:p>
            <a:pPr>
              <a:lnSpc>
                <a:spcPct val="100000"/>
              </a:lnSpc>
              <a:buNone/>
              <a:tabLst>
                <a:tab algn="l" pos="0"/>
              </a:tabLst>
            </a:pPr>
            <a:r>
              <a:rPr b="0" lang="en-US" sz="1700" spc="-1" strike="noStrike">
                <a:solidFill>
                  <a:srgbClr val="1f2937"/>
                </a:solidFill>
                <a:latin typeface="Aptos"/>
                <a:ea typeface="Aptos"/>
              </a:rPr>
              <a:t>Neighborhood, water access, and view quality are all associated with higher median prices.</a:t>
            </a:r>
            <a:endParaRPr b="0" lang="en-US" sz="1700" spc="-1" strike="noStrike">
              <a:latin typeface="Arial"/>
            </a:endParaRPr>
          </a:p>
        </p:txBody>
      </p:sp>
      <p:sp>
        <p:nvSpPr>
          <p:cNvPr id="126" name="Text 4"/>
          <p:cNvSpPr/>
          <p:nvPr/>
        </p:nvSpPr>
        <p:spPr>
          <a:xfrm>
            <a:off x="685800" y="2377440"/>
            <a:ext cx="2239920" cy="43848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2600" spc="-1" strike="noStrike">
                <a:solidFill>
                  <a:srgbClr val="0d1b2a"/>
                </a:solidFill>
                <a:latin typeface="Aptos Display"/>
                <a:ea typeface="Aptos Display"/>
              </a:rPr>
              <a:t>$1.895M</a:t>
            </a:r>
            <a:endParaRPr b="0" lang="en-US" sz="2600" spc="-1" strike="noStrike">
              <a:latin typeface="Arial"/>
            </a:endParaRPr>
          </a:p>
        </p:txBody>
      </p:sp>
      <p:sp>
        <p:nvSpPr>
          <p:cNvPr id="127" name="Shape 5"/>
          <p:cNvSpPr/>
          <p:nvPr/>
        </p:nvSpPr>
        <p:spPr>
          <a:xfrm>
            <a:off x="685800" y="2926080"/>
            <a:ext cx="731520" cy="360"/>
          </a:xfrm>
          <a:prstGeom prst="line">
            <a:avLst/>
          </a:prstGeom>
          <a:ln w="31750">
            <a:solidFill>
              <a:srgbClr val="c9a227"/>
            </a:solidFill>
            <a:round/>
          </a:ln>
        </p:spPr>
        <p:style>
          <a:lnRef idx="0"/>
          <a:fillRef idx="0"/>
          <a:effectRef idx="0"/>
          <a:fontRef idx="minor"/>
        </p:style>
      </p:sp>
      <p:sp>
        <p:nvSpPr>
          <p:cNvPr id="128" name="Text 6"/>
          <p:cNvSpPr/>
          <p:nvPr/>
        </p:nvSpPr>
        <p:spPr>
          <a:xfrm>
            <a:off x="685800" y="3090600"/>
            <a:ext cx="2239920" cy="38376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250" spc="-1" strike="noStrike">
                <a:solidFill>
                  <a:srgbClr val="1f2937"/>
                </a:solidFill>
                <a:latin typeface="Aptos"/>
                <a:ea typeface="Aptos"/>
              </a:rPr>
              <a:t>median price in top ZIP code 98039</a:t>
            </a:r>
            <a:endParaRPr b="0" lang="en-US" sz="1250" spc="-1" strike="noStrike">
              <a:latin typeface="Arial"/>
            </a:endParaRPr>
          </a:p>
        </p:txBody>
      </p:sp>
      <p:sp>
        <p:nvSpPr>
          <p:cNvPr id="129" name="Text 7"/>
          <p:cNvSpPr/>
          <p:nvPr/>
        </p:nvSpPr>
        <p:spPr>
          <a:xfrm>
            <a:off x="3063240" y="2377440"/>
            <a:ext cx="2239920" cy="43848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2600" spc="-1" strike="noStrike">
                <a:solidFill>
                  <a:srgbClr val="0d1b2a"/>
                </a:solidFill>
                <a:latin typeface="Aptos Display"/>
                <a:ea typeface="Aptos Display"/>
              </a:rPr>
              <a:t>$235k</a:t>
            </a:r>
            <a:endParaRPr b="0" lang="en-US" sz="2600" spc="-1" strike="noStrike">
              <a:latin typeface="Arial"/>
            </a:endParaRPr>
          </a:p>
        </p:txBody>
      </p:sp>
      <p:sp>
        <p:nvSpPr>
          <p:cNvPr id="130" name="Shape 8"/>
          <p:cNvSpPr/>
          <p:nvPr/>
        </p:nvSpPr>
        <p:spPr>
          <a:xfrm>
            <a:off x="3063240" y="2926080"/>
            <a:ext cx="731520" cy="360"/>
          </a:xfrm>
          <a:prstGeom prst="line">
            <a:avLst/>
          </a:prstGeom>
          <a:ln w="31750">
            <a:solidFill>
              <a:srgbClr val="c9a227"/>
            </a:solidFill>
            <a:round/>
          </a:ln>
        </p:spPr>
        <p:style>
          <a:lnRef idx="0"/>
          <a:fillRef idx="0"/>
          <a:effectRef idx="0"/>
          <a:fontRef idx="minor"/>
        </p:style>
      </p:sp>
      <p:sp>
        <p:nvSpPr>
          <p:cNvPr id="131" name="Text 9"/>
          <p:cNvSpPr/>
          <p:nvPr/>
        </p:nvSpPr>
        <p:spPr>
          <a:xfrm>
            <a:off x="3063240" y="3090600"/>
            <a:ext cx="2239920" cy="38376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250" spc="-1" strike="noStrike">
                <a:solidFill>
                  <a:srgbClr val="1f2937"/>
                </a:solidFill>
                <a:latin typeface="Aptos"/>
                <a:ea typeface="Aptos"/>
              </a:rPr>
              <a:t>median price in lowest ZIP code 98168</a:t>
            </a:r>
            <a:endParaRPr b="0" lang="en-US" sz="1250" spc="-1" strike="noStrike">
              <a:latin typeface="Arial"/>
            </a:endParaRPr>
          </a:p>
        </p:txBody>
      </p:sp>
      <p:sp>
        <p:nvSpPr>
          <p:cNvPr id="132" name="Text 10"/>
          <p:cNvSpPr/>
          <p:nvPr/>
        </p:nvSpPr>
        <p:spPr>
          <a:xfrm>
            <a:off x="5440680" y="2377440"/>
            <a:ext cx="2331360" cy="43848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2600" spc="-1" strike="noStrike">
                <a:solidFill>
                  <a:srgbClr val="0d1b2a"/>
                </a:solidFill>
                <a:latin typeface="Aptos Display"/>
                <a:ea typeface="Aptos Display"/>
              </a:rPr>
              <a:t>3.4×</a:t>
            </a:r>
            <a:endParaRPr b="0" lang="en-US" sz="2600" spc="-1" strike="noStrike">
              <a:latin typeface="Arial"/>
            </a:endParaRPr>
          </a:p>
        </p:txBody>
      </p:sp>
      <p:sp>
        <p:nvSpPr>
          <p:cNvPr id="133" name="Shape 11"/>
          <p:cNvSpPr/>
          <p:nvPr/>
        </p:nvSpPr>
        <p:spPr>
          <a:xfrm>
            <a:off x="5440680" y="2926080"/>
            <a:ext cx="731520" cy="360"/>
          </a:xfrm>
          <a:prstGeom prst="line">
            <a:avLst/>
          </a:prstGeom>
          <a:ln w="31750">
            <a:solidFill>
              <a:srgbClr val="c9a227"/>
            </a:solidFill>
            <a:round/>
          </a:ln>
        </p:spPr>
        <p:style>
          <a:lnRef idx="0"/>
          <a:fillRef idx="0"/>
          <a:effectRef idx="0"/>
          <a:fontRef idx="minor"/>
        </p:style>
      </p:sp>
      <p:sp>
        <p:nvSpPr>
          <p:cNvPr id="134" name="Text 12"/>
          <p:cNvSpPr/>
          <p:nvPr/>
        </p:nvSpPr>
        <p:spPr>
          <a:xfrm>
            <a:off x="5440680" y="3090600"/>
            <a:ext cx="2331360" cy="38376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250" spc="-1" strike="noStrike">
                <a:solidFill>
                  <a:srgbClr val="1f2937"/>
                </a:solidFill>
                <a:latin typeface="Aptos"/>
                <a:ea typeface="Aptos"/>
              </a:rPr>
              <a:t>waterfront median vs non-waterfront median</a:t>
            </a:r>
            <a:endParaRPr b="0" lang="en-US" sz="1250" spc="-1" strike="noStrike">
              <a:latin typeface="Arial"/>
            </a:endParaRPr>
          </a:p>
        </p:txBody>
      </p:sp>
      <p:sp>
        <p:nvSpPr>
          <p:cNvPr id="135" name="Text 13"/>
          <p:cNvSpPr/>
          <p:nvPr/>
        </p:nvSpPr>
        <p:spPr>
          <a:xfrm>
            <a:off x="685800" y="4343400"/>
            <a:ext cx="2285640" cy="30132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800" spc="-1" strike="noStrike">
                <a:solidFill>
                  <a:srgbClr val="0d1b2a"/>
                </a:solidFill>
                <a:latin typeface="Aptos"/>
              </a:rPr>
              <a:t>Interpretation</a:t>
            </a:r>
            <a:endParaRPr b="0" lang="en-US" sz="1800" spc="-1" strike="noStrike">
              <a:latin typeface="Arial"/>
            </a:endParaRPr>
          </a:p>
        </p:txBody>
      </p:sp>
      <p:sp>
        <p:nvSpPr>
          <p:cNvPr id="136" name="Text 14"/>
          <p:cNvSpPr/>
          <p:nvPr/>
        </p:nvSpPr>
        <p:spPr>
          <a:xfrm>
            <a:off x="685800" y="4773240"/>
            <a:ext cx="6583320" cy="73116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600" spc="-1" strike="noStrike">
                <a:solidFill>
                  <a:srgbClr val="1f2937"/>
                </a:solidFill>
                <a:latin typeface="Aptos"/>
              </a:rPr>
              <a:t>Location is not one variable. In this dataset it appears through ZIP code, waterfront access, and view quality.</a:t>
            </a:r>
            <a:endParaRPr b="0" lang="en-US" sz="1600" spc="-1" strike="noStrike">
              <a:latin typeface="Arial"/>
            </a:endParaRPr>
          </a:p>
        </p:txBody>
      </p:sp>
      <p:sp>
        <p:nvSpPr>
          <p:cNvPr id="137" name="Text 15"/>
          <p:cNvSpPr/>
          <p:nvPr/>
        </p:nvSpPr>
        <p:spPr>
          <a:xfrm>
            <a:off x="594360" y="6528960"/>
            <a:ext cx="3840120" cy="16416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lang="en-US" sz="750" spc="-1" strike="noStrike">
                <a:solidFill>
                  <a:srgbClr val="8b8b8b"/>
                </a:solidFill>
                <a:latin typeface="Aptos"/>
              </a:rPr>
              <a:t>King County Housing EDA  •  6</a:t>
            </a:r>
            <a:endParaRPr b="0" lang="en-US" sz="750" spc="-1" strike="noStrike">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6f4ef"/>
        </a:solidFill>
      </p:bgPr>
    </p:bg>
    <p:spTree>
      <p:nvGrpSpPr>
        <p:cNvPr id="1" name=""/>
        <p:cNvGrpSpPr/>
        <p:nvPr/>
      </p:nvGrpSpPr>
      <p:grpSpPr>
        <a:xfrm>
          <a:off x="0" y="0"/>
          <a:ext cx="0" cy="0"/>
          <a:chOff x="0" y="0"/>
          <a:chExt cx="0" cy="0"/>
        </a:xfrm>
      </p:grpSpPr>
      <p:sp>
        <p:nvSpPr>
          <p:cNvPr id="138" name="Shape 0"/>
          <p:cNvSpPr/>
          <p:nvPr/>
        </p:nvSpPr>
        <p:spPr>
          <a:xfrm>
            <a:off x="0" y="0"/>
            <a:ext cx="12191400" cy="72720"/>
          </a:xfrm>
          <a:prstGeom prst="rect">
            <a:avLst/>
          </a:prstGeom>
          <a:solidFill>
            <a:srgbClr val="c9a227"/>
          </a:solidFill>
          <a:ln w="12700">
            <a:solidFill>
              <a:srgbClr val="c9a227"/>
            </a:solidFill>
            <a:round/>
          </a:ln>
        </p:spPr>
        <p:style>
          <a:lnRef idx="0"/>
          <a:fillRef idx="0"/>
          <a:effectRef idx="0"/>
          <a:fontRef idx="minor"/>
        </p:style>
      </p:sp>
      <p:sp>
        <p:nvSpPr>
          <p:cNvPr id="139" name="Text 1"/>
          <p:cNvSpPr/>
          <p:nvPr/>
        </p:nvSpPr>
        <p:spPr>
          <a:xfrm>
            <a:off x="594360" y="329040"/>
            <a:ext cx="3291480" cy="2098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850" spc="-1" strike="noStrike">
                <a:solidFill>
                  <a:srgbClr val="c9a227"/>
                </a:solidFill>
                <a:latin typeface="Aptos"/>
                <a:ea typeface="Aptos"/>
              </a:rPr>
              <a:t>FINDING 2</a:t>
            </a:r>
            <a:endParaRPr b="0" lang="en-US" sz="850" spc="-1" strike="noStrike">
              <a:latin typeface="Arial"/>
            </a:endParaRPr>
          </a:p>
        </p:txBody>
      </p:sp>
      <p:sp>
        <p:nvSpPr>
          <p:cNvPr id="140" name="Text 2"/>
          <p:cNvSpPr/>
          <p:nvPr/>
        </p:nvSpPr>
        <p:spPr>
          <a:xfrm>
            <a:off x="594360" y="658440"/>
            <a:ext cx="6857640" cy="594000"/>
          </a:xfrm>
          <a:prstGeom prst="rect">
            <a:avLst/>
          </a:prstGeom>
          <a:noFill/>
          <a:ln w="0">
            <a:noFill/>
          </a:ln>
        </p:spPr>
        <p:style>
          <a:lnRef idx="0"/>
          <a:fillRef idx="0"/>
          <a:effectRef idx="0"/>
          <a:fontRef idx="minor"/>
        </p:style>
        <p:txBody>
          <a:bodyPr lIns="0" rIns="0" tIns="0" bIns="0" anchor="ctr">
            <a:normAutofit fontScale="73000"/>
          </a:bodyPr>
          <a:p>
            <a:pPr>
              <a:lnSpc>
                <a:spcPct val="100000"/>
              </a:lnSpc>
              <a:buNone/>
              <a:tabLst>
                <a:tab algn="l" pos="0"/>
              </a:tabLst>
            </a:pPr>
            <a:r>
              <a:rPr b="1" lang="en-US" sz="3300" spc="-1" strike="noStrike">
                <a:solidFill>
                  <a:srgbClr val="0d1b2a"/>
                </a:solidFill>
                <a:latin typeface="Aptos Display"/>
                <a:ea typeface="Aptos Display"/>
              </a:rPr>
              <a:t>Renovation is associated with a price premium</a:t>
            </a:r>
            <a:endParaRPr b="0" lang="en-US" sz="3300" spc="-1" strike="noStrike">
              <a:latin typeface="Arial"/>
            </a:endParaRPr>
          </a:p>
        </p:txBody>
      </p:sp>
      <p:sp>
        <p:nvSpPr>
          <p:cNvPr id="141" name="Text 3"/>
          <p:cNvSpPr/>
          <p:nvPr/>
        </p:nvSpPr>
        <p:spPr>
          <a:xfrm>
            <a:off x="603360" y="1325880"/>
            <a:ext cx="8137800" cy="41112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lang="en-US" sz="1550" spc="-1" strike="noStrike">
                <a:solidFill>
                  <a:srgbClr val="1f2937"/>
                </a:solidFill>
                <a:latin typeface="Aptos"/>
              </a:rPr>
              <a:t>Known renovation status only: rows with unknown renovation information were not forced into either group.</a:t>
            </a:r>
            <a:endParaRPr b="0" lang="en-US" sz="1550" spc="-1" strike="noStrike">
              <a:latin typeface="Arial"/>
            </a:endParaRPr>
          </a:p>
        </p:txBody>
      </p:sp>
      <p:sp>
        <p:nvSpPr>
          <p:cNvPr id="142" name="Text 4"/>
          <p:cNvSpPr/>
          <p:nvPr/>
        </p:nvSpPr>
        <p:spPr>
          <a:xfrm>
            <a:off x="777240" y="2331720"/>
            <a:ext cx="2742840" cy="43848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2600" spc="-1" strike="noStrike">
                <a:solidFill>
                  <a:srgbClr val="0d1b2a"/>
                </a:solidFill>
                <a:latin typeface="Aptos Display"/>
                <a:ea typeface="Aptos Display"/>
              </a:rPr>
              <a:t>$448k</a:t>
            </a:r>
            <a:endParaRPr b="0" lang="en-US" sz="2600" spc="-1" strike="noStrike">
              <a:latin typeface="Arial"/>
            </a:endParaRPr>
          </a:p>
        </p:txBody>
      </p:sp>
      <p:sp>
        <p:nvSpPr>
          <p:cNvPr id="143" name="Shape 5"/>
          <p:cNvSpPr/>
          <p:nvPr/>
        </p:nvSpPr>
        <p:spPr>
          <a:xfrm>
            <a:off x="777240" y="2880360"/>
            <a:ext cx="731520" cy="360"/>
          </a:xfrm>
          <a:prstGeom prst="line">
            <a:avLst/>
          </a:prstGeom>
          <a:ln w="31750">
            <a:solidFill>
              <a:srgbClr val="c9a227"/>
            </a:solidFill>
            <a:round/>
          </a:ln>
        </p:spPr>
        <p:style>
          <a:lnRef idx="0"/>
          <a:fillRef idx="0"/>
          <a:effectRef idx="0"/>
          <a:fontRef idx="minor"/>
        </p:style>
      </p:sp>
      <p:sp>
        <p:nvSpPr>
          <p:cNvPr id="144" name="Text 6"/>
          <p:cNvSpPr/>
          <p:nvPr/>
        </p:nvSpPr>
        <p:spPr>
          <a:xfrm>
            <a:off x="777240" y="3044880"/>
            <a:ext cx="2742840" cy="38376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250" spc="-1" strike="noStrike">
                <a:solidFill>
                  <a:srgbClr val="1f2937"/>
                </a:solidFill>
                <a:latin typeface="Aptos"/>
                <a:ea typeface="Aptos"/>
              </a:rPr>
              <a:t>median price for non-renovated homes</a:t>
            </a:r>
            <a:endParaRPr b="0" lang="en-US" sz="1250" spc="-1" strike="noStrike">
              <a:latin typeface="Arial"/>
            </a:endParaRPr>
          </a:p>
        </p:txBody>
      </p:sp>
      <p:sp>
        <p:nvSpPr>
          <p:cNvPr id="145" name="Text 7"/>
          <p:cNvSpPr/>
          <p:nvPr/>
        </p:nvSpPr>
        <p:spPr>
          <a:xfrm>
            <a:off x="3840480" y="2331720"/>
            <a:ext cx="2742840" cy="43848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2600" spc="-1" strike="noStrike">
                <a:solidFill>
                  <a:srgbClr val="0d1b2a"/>
                </a:solidFill>
                <a:latin typeface="Aptos Display"/>
                <a:ea typeface="Aptos Display"/>
              </a:rPr>
              <a:t>$607.5k</a:t>
            </a:r>
            <a:endParaRPr b="0" lang="en-US" sz="2600" spc="-1" strike="noStrike">
              <a:latin typeface="Arial"/>
            </a:endParaRPr>
          </a:p>
        </p:txBody>
      </p:sp>
      <p:sp>
        <p:nvSpPr>
          <p:cNvPr id="146" name="Shape 8"/>
          <p:cNvSpPr/>
          <p:nvPr/>
        </p:nvSpPr>
        <p:spPr>
          <a:xfrm>
            <a:off x="3840480" y="2880360"/>
            <a:ext cx="731520" cy="360"/>
          </a:xfrm>
          <a:prstGeom prst="line">
            <a:avLst/>
          </a:prstGeom>
          <a:ln w="31750">
            <a:solidFill>
              <a:srgbClr val="c9a227"/>
            </a:solidFill>
            <a:round/>
          </a:ln>
        </p:spPr>
        <p:style>
          <a:lnRef idx="0"/>
          <a:fillRef idx="0"/>
          <a:effectRef idx="0"/>
          <a:fontRef idx="minor"/>
        </p:style>
      </p:sp>
      <p:sp>
        <p:nvSpPr>
          <p:cNvPr id="147" name="Text 9"/>
          <p:cNvSpPr/>
          <p:nvPr/>
        </p:nvSpPr>
        <p:spPr>
          <a:xfrm>
            <a:off x="3840480" y="3044880"/>
            <a:ext cx="2742840" cy="38376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250" spc="-1" strike="noStrike">
                <a:solidFill>
                  <a:srgbClr val="1f2937"/>
                </a:solidFill>
                <a:latin typeface="Aptos"/>
                <a:ea typeface="Aptos"/>
              </a:rPr>
              <a:t>median price for renovated homes</a:t>
            </a:r>
            <a:endParaRPr b="0" lang="en-US" sz="1250" spc="-1" strike="noStrike">
              <a:latin typeface="Arial"/>
            </a:endParaRPr>
          </a:p>
        </p:txBody>
      </p:sp>
      <p:sp>
        <p:nvSpPr>
          <p:cNvPr id="148" name="Text 10"/>
          <p:cNvSpPr/>
          <p:nvPr/>
        </p:nvSpPr>
        <p:spPr>
          <a:xfrm>
            <a:off x="6903720" y="2331720"/>
            <a:ext cx="2742840" cy="43848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2600" spc="-1" strike="noStrike">
                <a:solidFill>
                  <a:srgbClr val="0d1b2a"/>
                </a:solidFill>
                <a:latin typeface="Aptos Display"/>
                <a:ea typeface="Aptos Display"/>
              </a:rPr>
              <a:t>+36%</a:t>
            </a:r>
            <a:endParaRPr b="0" lang="en-US" sz="2600" spc="-1" strike="noStrike">
              <a:latin typeface="Arial"/>
            </a:endParaRPr>
          </a:p>
        </p:txBody>
      </p:sp>
      <p:sp>
        <p:nvSpPr>
          <p:cNvPr id="149" name="Shape 11"/>
          <p:cNvSpPr/>
          <p:nvPr/>
        </p:nvSpPr>
        <p:spPr>
          <a:xfrm>
            <a:off x="6903720" y="2880360"/>
            <a:ext cx="731520" cy="360"/>
          </a:xfrm>
          <a:prstGeom prst="line">
            <a:avLst/>
          </a:prstGeom>
          <a:ln w="31750">
            <a:solidFill>
              <a:srgbClr val="c9a227"/>
            </a:solidFill>
            <a:round/>
          </a:ln>
        </p:spPr>
        <p:style>
          <a:lnRef idx="0"/>
          <a:fillRef idx="0"/>
          <a:effectRef idx="0"/>
          <a:fontRef idx="minor"/>
        </p:style>
      </p:sp>
      <p:sp>
        <p:nvSpPr>
          <p:cNvPr id="150" name="Text 12"/>
          <p:cNvSpPr/>
          <p:nvPr/>
        </p:nvSpPr>
        <p:spPr>
          <a:xfrm>
            <a:off x="6903720" y="3044880"/>
            <a:ext cx="2742840" cy="38376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250" spc="-1" strike="noStrike">
                <a:solidFill>
                  <a:srgbClr val="1f2937"/>
                </a:solidFill>
                <a:latin typeface="Aptos"/>
                <a:ea typeface="Aptos"/>
              </a:rPr>
              <a:t>approximate median price difference</a:t>
            </a:r>
            <a:endParaRPr b="0" lang="en-US" sz="1250" spc="-1" strike="noStrike">
              <a:latin typeface="Arial"/>
            </a:endParaRPr>
          </a:p>
        </p:txBody>
      </p:sp>
      <p:sp>
        <p:nvSpPr>
          <p:cNvPr id="151" name="Text 13"/>
          <p:cNvSpPr/>
          <p:nvPr/>
        </p:nvSpPr>
        <p:spPr>
          <a:xfrm>
            <a:off x="777240" y="4498920"/>
            <a:ext cx="2377080" cy="3196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800" spc="-1" strike="noStrike">
                <a:solidFill>
                  <a:srgbClr val="0d1b2a"/>
                </a:solidFill>
                <a:latin typeface="Aptos"/>
              </a:rPr>
              <a:t>What this means</a:t>
            </a:r>
            <a:endParaRPr b="0" lang="en-US" sz="1800" spc="-1" strike="noStrike">
              <a:latin typeface="Arial"/>
            </a:endParaRPr>
          </a:p>
        </p:txBody>
      </p:sp>
      <p:sp>
        <p:nvSpPr>
          <p:cNvPr id="152" name="Text 14"/>
          <p:cNvSpPr/>
          <p:nvPr/>
        </p:nvSpPr>
        <p:spPr>
          <a:xfrm>
            <a:off x="777240" y="4901040"/>
            <a:ext cx="9509400" cy="59400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600" spc="-1" strike="noStrike">
                <a:solidFill>
                  <a:srgbClr val="1f2937"/>
                </a:solidFill>
                <a:latin typeface="Aptos"/>
              </a:rPr>
              <a:t>Renovation can support a higher resale price, but it should be evaluated against renovation cost and neighborhood ceiling prices.</a:t>
            </a:r>
            <a:endParaRPr b="0" lang="en-US" sz="1600" spc="-1" strike="noStrike">
              <a:latin typeface="Arial"/>
            </a:endParaRPr>
          </a:p>
        </p:txBody>
      </p:sp>
      <p:sp>
        <p:nvSpPr>
          <p:cNvPr id="153" name="Text 15"/>
          <p:cNvSpPr/>
          <p:nvPr/>
        </p:nvSpPr>
        <p:spPr>
          <a:xfrm>
            <a:off x="594360" y="6528960"/>
            <a:ext cx="3840120" cy="16416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lang="en-US" sz="750" spc="-1" strike="noStrike">
                <a:solidFill>
                  <a:srgbClr val="8b8b8b"/>
                </a:solidFill>
                <a:latin typeface="Aptos"/>
              </a:rPr>
              <a:t>King County Housing EDA  •  7</a:t>
            </a:r>
            <a:endParaRPr b="0" lang="en-US" sz="750" spc="-1" strike="noStrike">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6f4ef"/>
        </a:solidFill>
      </p:bgPr>
    </p:bg>
    <p:spTree>
      <p:nvGrpSpPr>
        <p:cNvPr id="1" name=""/>
        <p:cNvGrpSpPr/>
        <p:nvPr/>
      </p:nvGrpSpPr>
      <p:grpSpPr>
        <a:xfrm>
          <a:off x="0" y="0"/>
          <a:ext cx="0" cy="0"/>
          <a:chOff x="0" y="0"/>
          <a:chExt cx="0" cy="0"/>
        </a:xfrm>
      </p:grpSpPr>
      <p:sp>
        <p:nvSpPr>
          <p:cNvPr id="154" name="Shape 0"/>
          <p:cNvSpPr/>
          <p:nvPr/>
        </p:nvSpPr>
        <p:spPr>
          <a:xfrm>
            <a:off x="0" y="0"/>
            <a:ext cx="8366400" cy="72720"/>
          </a:xfrm>
          <a:prstGeom prst="rect">
            <a:avLst/>
          </a:prstGeom>
          <a:solidFill>
            <a:srgbClr val="c9a227"/>
          </a:solidFill>
          <a:ln w="12700">
            <a:solidFill>
              <a:srgbClr val="c9a227"/>
            </a:solidFill>
            <a:round/>
          </a:ln>
        </p:spPr>
        <p:style>
          <a:lnRef idx="0"/>
          <a:fillRef idx="0"/>
          <a:effectRef idx="0"/>
          <a:fontRef idx="minor"/>
        </p:style>
      </p:sp>
      <p:pic>
        <p:nvPicPr>
          <p:cNvPr id="155" name="Image 0" descr="/mnt/data/interior_side.jpg"/>
          <p:cNvPicPr/>
          <p:nvPr/>
        </p:nvPicPr>
        <p:blipFill>
          <a:blip r:embed="rId1"/>
          <a:stretch/>
        </p:blipFill>
        <p:spPr>
          <a:xfrm>
            <a:off x="8366760" y="0"/>
            <a:ext cx="3821760" cy="6857640"/>
          </a:xfrm>
          <a:prstGeom prst="rect">
            <a:avLst/>
          </a:prstGeom>
          <a:ln w="0">
            <a:noFill/>
          </a:ln>
        </p:spPr>
      </p:pic>
      <p:sp>
        <p:nvSpPr>
          <p:cNvPr id="156" name="Text 1"/>
          <p:cNvSpPr/>
          <p:nvPr/>
        </p:nvSpPr>
        <p:spPr>
          <a:xfrm>
            <a:off x="594360" y="329040"/>
            <a:ext cx="3291480" cy="2098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850" spc="-1" strike="noStrike">
                <a:solidFill>
                  <a:srgbClr val="c9a227"/>
                </a:solidFill>
                <a:latin typeface="Aptos"/>
                <a:ea typeface="Aptos"/>
              </a:rPr>
              <a:t>FINDING 3</a:t>
            </a:r>
            <a:endParaRPr b="0" lang="en-US" sz="850" spc="-1" strike="noStrike">
              <a:latin typeface="Arial"/>
            </a:endParaRPr>
          </a:p>
        </p:txBody>
      </p:sp>
      <p:sp>
        <p:nvSpPr>
          <p:cNvPr id="157" name="Text 2"/>
          <p:cNvSpPr/>
          <p:nvPr/>
        </p:nvSpPr>
        <p:spPr>
          <a:xfrm>
            <a:off x="594360" y="658440"/>
            <a:ext cx="6857640" cy="59400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3300" spc="-1" strike="noStrike">
                <a:solidFill>
                  <a:srgbClr val="0d1b2a"/>
                </a:solidFill>
                <a:latin typeface="Aptos Display"/>
                <a:ea typeface="Aptos Display"/>
              </a:rPr>
              <a:t>Grade strongly signals value</a:t>
            </a:r>
            <a:endParaRPr b="0" lang="en-US" sz="3300" spc="-1" strike="noStrike">
              <a:latin typeface="Arial"/>
            </a:endParaRPr>
          </a:p>
        </p:txBody>
      </p:sp>
      <p:sp>
        <p:nvSpPr>
          <p:cNvPr id="158" name="Text 3"/>
          <p:cNvSpPr/>
          <p:nvPr/>
        </p:nvSpPr>
        <p:spPr>
          <a:xfrm>
            <a:off x="603360" y="1325880"/>
            <a:ext cx="6583320" cy="502560"/>
          </a:xfrm>
          <a:prstGeom prst="rect">
            <a:avLst/>
          </a:prstGeom>
          <a:noFill/>
          <a:ln w="0">
            <a:noFill/>
          </a:ln>
        </p:spPr>
        <p:style>
          <a:lnRef idx="0"/>
          <a:fillRef idx="0"/>
          <a:effectRef idx="0"/>
          <a:fontRef idx="minor"/>
        </p:style>
        <p:txBody>
          <a:bodyPr lIns="360" rIns="360" tIns="360" bIns="360" anchor="ctr">
            <a:normAutofit/>
          </a:bodyPr>
          <a:p>
            <a:pPr>
              <a:lnSpc>
                <a:spcPct val="100000"/>
              </a:lnSpc>
              <a:buNone/>
              <a:tabLst>
                <a:tab algn="l" pos="0"/>
              </a:tabLst>
            </a:pPr>
            <a:r>
              <a:rPr b="0" lang="en-US" sz="1700" spc="-1" strike="noStrike">
                <a:solidFill>
                  <a:srgbClr val="1f2937"/>
                </a:solidFill>
                <a:latin typeface="Aptos"/>
                <a:ea typeface="Aptos"/>
              </a:rPr>
              <a:t>Median price rises sharply as construction quality increases.</a:t>
            </a:r>
            <a:endParaRPr b="0" lang="en-US" sz="1700" spc="-1" strike="noStrike">
              <a:latin typeface="Arial"/>
            </a:endParaRPr>
          </a:p>
        </p:txBody>
      </p:sp>
      <p:sp>
        <p:nvSpPr>
          <p:cNvPr id="159" name="Text 4"/>
          <p:cNvSpPr/>
          <p:nvPr/>
        </p:nvSpPr>
        <p:spPr>
          <a:xfrm>
            <a:off x="731520" y="2331720"/>
            <a:ext cx="2422800" cy="43848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2600" spc="-1" strike="noStrike">
                <a:solidFill>
                  <a:srgbClr val="0d1b2a"/>
                </a:solidFill>
                <a:latin typeface="Aptos Display"/>
                <a:ea typeface="Aptos Display"/>
              </a:rPr>
              <a:t>$375k</a:t>
            </a:r>
            <a:endParaRPr b="0" lang="en-US" sz="2600" spc="-1" strike="noStrike">
              <a:latin typeface="Arial"/>
            </a:endParaRPr>
          </a:p>
        </p:txBody>
      </p:sp>
      <p:sp>
        <p:nvSpPr>
          <p:cNvPr id="160" name="Shape 5"/>
          <p:cNvSpPr/>
          <p:nvPr/>
        </p:nvSpPr>
        <p:spPr>
          <a:xfrm>
            <a:off x="731520" y="2880360"/>
            <a:ext cx="731520" cy="360"/>
          </a:xfrm>
          <a:prstGeom prst="line">
            <a:avLst/>
          </a:prstGeom>
          <a:ln w="31750">
            <a:solidFill>
              <a:srgbClr val="c9a227"/>
            </a:solidFill>
            <a:round/>
          </a:ln>
        </p:spPr>
        <p:style>
          <a:lnRef idx="0"/>
          <a:fillRef idx="0"/>
          <a:effectRef idx="0"/>
          <a:fontRef idx="minor"/>
        </p:style>
      </p:sp>
      <p:sp>
        <p:nvSpPr>
          <p:cNvPr id="161" name="Text 6"/>
          <p:cNvSpPr/>
          <p:nvPr/>
        </p:nvSpPr>
        <p:spPr>
          <a:xfrm>
            <a:off x="731520" y="3044880"/>
            <a:ext cx="2422800" cy="38376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250" spc="-1" strike="noStrike">
                <a:solidFill>
                  <a:srgbClr val="1f2937"/>
                </a:solidFill>
                <a:latin typeface="Aptos"/>
                <a:ea typeface="Aptos"/>
              </a:rPr>
              <a:t>median price at Grade 7</a:t>
            </a:r>
            <a:endParaRPr b="0" lang="en-US" sz="1250" spc="-1" strike="noStrike">
              <a:latin typeface="Arial"/>
            </a:endParaRPr>
          </a:p>
        </p:txBody>
      </p:sp>
      <p:sp>
        <p:nvSpPr>
          <p:cNvPr id="162" name="Text 7"/>
          <p:cNvSpPr/>
          <p:nvPr/>
        </p:nvSpPr>
        <p:spPr>
          <a:xfrm>
            <a:off x="3429000" y="2331720"/>
            <a:ext cx="2422800" cy="43848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2600" spc="-1" strike="noStrike">
                <a:solidFill>
                  <a:srgbClr val="0d1b2a"/>
                </a:solidFill>
                <a:latin typeface="Aptos Display"/>
                <a:ea typeface="Aptos Display"/>
              </a:rPr>
              <a:t>$914k</a:t>
            </a:r>
            <a:endParaRPr b="0" lang="en-US" sz="2600" spc="-1" strike="noStrike">
              <a:latin typeface="Arial"/>
            </a:endParaRPr>
          </a:p>
        </p:txBody>
      </p:sp>
      <p:sp>
        <p:nvSpPr>
          <p:cNvPr id="163" name="Shape 8"/>
          <p:cNvSpPr/>
          <p:nvPr/>
        </p:nvSpPr>
        <p:spPr>
          <a:xfrm>
            <a:off x="3429000" y="2880360"/>
            <a:ext cx="731520" cy="360"/>
          </a:xfrm>
          <a:prstGeom prst="line">
            <a:avLst/>
          </a:prstGeom>
          <a:ln w="31750">
            <a:solidFill>
              <a:srgbClr val="c9a227"/>
            </a:solidFill>
            <a:round/>
          </a:ln>
        </p:spPr>
        <p:style>
          <a:lnRef idx="0"/>
          <a:fillRef idx="0"/>
          <a:effectRef idx="0"/>
          <a:fontRef idx="minor"/>
        </p:style>
      </p:sp>
      <p:sp>
        <p:nvSpPr>
          <p:cNvPr id="164" name="Text 9"/>
          <p:cNvSpPr/>
          <p:nvPr/>
        </p:nvSpPr>
        <p:spPr>
          <a:xfrm>
            <a:off x="3429000" y="3044880"/>
            <a:ext cx="2422800" cy="38376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250" spc="-1" strike="noStrike">
                <a:solidFill>
                  <a:srgbClr val="1f2937"/>
                </a:solidFill>
                <a:latin typeface="Aptos"/>
                <a:ea typeface="Aptos"/>
              </a:rPr>
              <a:t>median price at Grade 10</a:t>
            </a:r>
            <a:endParaRPr b="0" lang="en-US" sz="1250" spc="-1" strike="noStrike">
              <a:latin typeface="Arial"/>
            </a:endParaRPr>
          </a:p>
        </p:txBody>
      </p:sp>
      <p:sp>
        <p:nvSpPr>
          <p:cNvPr id="165" name="Text 10"/>
          <p:cNvSpPr/>
          <p:nvPr/>
        </p:nvSpPr>
        <p:spPr>
          <a:xfrm>
            <a:off x="6172200" y="2331720"/>
            <a:ext cx="1965600" cy="43848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2600" spc="-1" strike="noStrike">
                <a:solidFill>
                  <a:srgbClr val="0d1b2a"/>
                </a:solidFill>
                <a:latin typeface="Aptos Display"/>
                <a:ea typeface="Aptos Display"/>
              </a:rPr>
              <a:t>$2.98M</a:t>
            </a:r>
            <a:endParaRPr b="0" lang="en-US" sz="2600" spc="-1" strike="noStrike">
              <a:latin typeface="Arial"/>
            </a:endParaRPr>
          </a:p>
        </p:txBody>
      </p:sp>
      <p:sp>
        <p:nvSpPr>
          <p:cNvPr id="166" name="Shape 11"/>
          <p:cNvSpPr/>
          <p:nvPr/>
        </p:nvSpPr>
        <p:spPr>
          <a:xfrm>
            <a:off x="6172200" y="2880360"/>
            <a:ext cx="731520" cy="360"/>
          </a:xfrm>
          <a:prstGeom prst="line">
            <a:avLst/>
          </a:prstGeom>
          <a:ln w="31750">
            <a:solidFill>
              <a:srgbClr val="c9a227"/>
            </a:solidFill>
            <a:round/>
          </a:ln>
        </p:spPr>
        <p:style>
          <a:lnRef idx="0"/>
          <a:fillRef idx="0"/>
          <a:effectRef idx="0"/>
          <a:fontRef idx="minor"/>
        </p:style>
      </p:sp>
      <p:sp>
        <p:nvSpPr>
          <p:cNvPr id="167" name="Text 12"/>
          <p:cNvSpPr/>
          <p:nvPr/>
        </p:nvSpPr>
        <p:spPr>
          <a:xfrm>
            <a:off x="6172200" y="3044880"/>
            <a:ext cx="1965600" cy="38376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250" spc="-1" strike="noStrike">
                <a:solidFill>
                  <a:srgbClr val="1f2937"/>
                </a:solidFill>
                <a:latin typeface="Aptos"/>
                <a:ea typeface="Aptos"/>
              </a:rPr>
              <a:t>median price at Grade 13</a:t>
            </a:r>
            <a:endParaRPr b="0" lang="en-US" sz="1250" spc="-1" strike="noStrike">
              <a:latin typeface="Arial"/>
            </a:endParaRPr>
          </a:p>
        </p:txBody>
      </p:sp>
      <p:sp>
        <p:nvSpPr>
          <p:cNvPr id="168" name="Text 13"/>
          <p:cNvSpPr/>
          <p:nvPr/>
        </p:nvSpPr>
        <p:spPr>
          <a:xfrm>
            <a:off x="731520" y="4434840"/>
            <a:ext cx="2559960" cy="3286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800" spc="-1" strike="noStrike">
                <a:solidFill>
                  <a:srgbClr val="0d1b2a"/>
                </a:solidFill>
                <a:latin typeface="Aptos"/>
              </a:rPr>
              <a:t>Business signal</a:t>
            </a:r>
            <a:endParaRPr b="0" lang="en-US" sz="1800" spc="-1" strike="noStrike">
              <a:latin typeface="Arial"/>
            </a:endParaRPr>
          </a:p>
        </p:txBody>
      </p:sp>
      <p:sp>
        <p:nvSpPr>
          <p:cNvPr id="169" name="Text 14"/>
          <p:cNvSpPr/>
          <p:nvPr/>
        </p:nvSpPr>
        <p:spPr>
          <a:xfrm>
            <a:off x="731520" y="4846320"/>
            <a:ext cx="6674760" cy="56664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600" spc="-1" strike="noStrike">
                <a:solidFill>
                  <a:srgbClr val="1f2937"/>
                </a:solidFill>
                <a:latin typeface="Aptos"/>
              </a:rPr>
              <a:t>Grade is one of the clearest value drivers. It supports premium pricing when the property quality is visibly high.</a:t>
            </a:r>
            <a:endParaRPr b="0" lang="en-US" sz="1600" spc="-1" strike="noStrike">
              <a:latin typeface="Arial"/>
            </a:endParaRPr>
          </a:p>
        </p:txBody>
      </p:sp>
      <p:sp>
        <p:nvSpPr>
          <p:cNvPr id="170" name="Text 15"/>
          <p:cNvSpPr/>
          <p:nvPr/>
        </p:nvSpPr>
        <p:spPr>
          <a:xfrm>
            <a:off x="594360" y="6528960"/>
            <a:ext cx="3840120" cy="16416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lang="en-US" sz="750" spc="-1" strike="noStrike">
                <a:solidFill>
                  <a:srgbClr val="8b8b8b"/>
                </a:solidFill>
                <a:latin typeface="Aptos"/>
              </a:rPr>
              <a:t>King County Housing EDA  •  8</a:t>
            </a:r>
            <a:endParaRPr b="0" lang="en-US" sz="750" spc="-1" strike="noStrike">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6f4ef"/>
        </a:solidFill>
      </p:bgPr>
    </p:bg>
    <p:spTree>
      <p:nvGrpSpPr>
        <p:cNvPr id="1" name=""/>
        <p:cNvGrpSpPr/>
        <p:nvPr/>
      </p:nvGrpSpPr>
      <p:grpSpPr>
        <a:xfrm>
          <a:off x="0" y="0"/>
          <a:ext cx="0" cy="0"/>
          <a:chOff x="0" y="0"/>
          <a:chExt cx="0" cy="0"/>
        </a:xfrm>
      </p:grpSpPr>
      <p:sp>
        <p:nvSpPr>
          <p:cNvPr id="171" name="Shape 0"/>
          <p:cNvSpPr/>
          <p:nvPr/>
        </p:nvSpPr>
        <p:spPr>
          <a:xfrm>
            <a:off x="0" y="0"/>
            <a:ext cx="12191400" cy="72720"/>
          </a:xfrm>
          <a:prstGeom prst="rect">
            <a:avLst/>
          </a:prstGeom>
          <a:solidFill>
            <a:srgbClr val="c9a227"/>
          </a:solidFill>
          <a:ln w="12700">
            <a:solidFill>
              <a:srgbClr val="c9a227"/>
            </a:solidFill>
            <a:round/>
          </a:ln>
        </p:spPr>
        <p:style>
          <a:lnRef idx="0"/>
          <a:fillRef idx="0"/>
          <a:effectRef idx="0"/>
          <a:fontRef idx="minor"/>
        </p:style>
      </p:sp>
      <p:sp>
        <p:nvSpPr>
          <p:cNvPr id="172" name="Text 1"/>
          <p:cNvSpPr/>
          <p:nvPr/>
        </p:nvSpPr>
        <p:spPr>
          <a:xfrm>
            <a:off x="594360" y="329040"/>
            <a:ext cx="3291480" cy="2098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850" spc="-1" strike="noStrike">
                <a:solidFill>
                  <a:srgbClr val="c9a227"/>
                </a:solidFill>
                <a:latin typeface="Aptos"/>
                <a:ea typeface="Aptos"/>
              </a:rPr>
              <a:t>FINDING 4</a:t>
            </a:r>
            <a:endParaRPr b="0" lang="en-US" sz="850" spc="-1" strike="noStrike">
              <a:latin typeface="Arial"/>
            </a:endParaRPr>
          </a:p>
        </p:txBody>
      </p:sp>
      <p:sp>
        <p:nvSpPr>
          <p:cNvPr id="173" name="Text 2"/>
          <p:cNvSpPr/>
          <p:nvPr/>
        </p:nvSpPr>
        <p:spPr>
          <a:xfrm>
            <a:off x="594360" y="658440"/>
            <a:ext cx="6857640" cy="594000"/>
          </a:xfrm>
          <a:prstGeom prst="rect">
            <a:avLst/>
          </a:prstGeom>
          <a:noFill/>
          <a:ln w="0">
            <a:noFill/>
          </a:ln>
        </p:spPr>
        <p:style>
          <a:lnRef idx="0"/>
          <a:fillRef idx="0"/>
          <a:effectRef idx="0"/>
          <a:fontRef idx="minor"/>
        </p:style>
        <p:txBody>
          <a:bodyPr lIns="0" rIns="0" tIns="0" bIns="0" anchor="ctr">
            <a:normAutofit fontScale="71000"/>
          </a:bodyPr>
          <a:p>
            <a:pPr>
              <a:lnSpc>
                <a:spcPct val="100000"/>
              </a:lnSpc>
              <a:buNone/>
              <a:tabLst>
                <a:tab algn="l" pos="0"/>
              </a:tabLst>
            </a:pPr>
            <a:r>
              <a:rPr b="1" lang="en-US" sz="3300" spc="-1" strike="noStrike">
                <a:solidFill>
                  <a:srgbClr val="0d1b2a"/>
                </a:solidFill>
                <a:latin typeface="Aptos Display"/>
                <a:ea typeface="Aptos Display"/>
              </a:rPr>
              <a:t>Timing matters less than property fundamentals</a:t>
            </a:r>
            <a:endParaRPr b="0" lang="en-US" sz="3300" spc="-1" strike="noStrike">
              <a:latin typeface="Arial"/>
            </a:endParaRPr>
          </a:p>
        </p:txBody>
      </p:sp>
      <p:sp>
        <p:nvSpPr>
          <p:cNvPr id="174" name="Text 3"/>
          <p:cNvSpPr/>
          <p:nvPr/>
        </p:nvSpPr>
        <p:spPr>
          <a:xfrm>
            <a:off x="603360" y="1325880"/>
            <a:ext cx="7863480" cy="502560"/>
          </a:xfrm>
          <a:prstGeom prst="rect">
            <a:avLst/>
          </a:prstGeom>
          <a:noFill/>
          <a:ln w="0">
            <a:noFill/>
          </a:ln>
        </p:spPr>
        <p:style>
          <a:lnRef idx="0"/>
          <a:fillRef idx="0"/>
          <a:effectRef idx="0"/>
          <a:fontRef idx="minor"/>
        </p:style>
        <p:txBody>
          <a:bodyPr lIns="360" rIns="360" tIns="360" bIns="360" anchor="ctr">
            <a:normAutofit fontScale="96000"/>
          </a:bodyPr>
          <a:p>
            <a:pPr>
              <a:lnSpc>
                <a:spcPct val="100000"/>
              </a:lnSpc>
              <a:buNone/>
              <a:tabLst>
                <a:tab algn="l" pos="0"/>
              </a:tabLst>
            </a:pPr>
            <a:r>
              <a:rPr b="0" lang="en-US" sz="1700" spc="-1" strike="noStrike">
                <a:solidFill>
                  <a:srgbClr val="1f2937"/>
                </a:solidFill>
                <a:latin typeface="Aptos"/>
                <a:ea typeface="Aptos"/>
              </a:rPr>
              <a:t>Monthly median prices varied, but the range was much smaller than the location or grade gaps.</a:t>
            </a:r>
            <a:endParaRPr b="0" lang="en-US" sz="1700" spc="-1" strike="noStrike">
              <a:latin typeface="Arial"/>
            </a:endParaRPr>
          </a:p>
        </p:txBody>
      </p:sp>
      <p:sp>
        <p:nvSpPr>
          <p:cNvPr id="175" name="Text 4"/>
          <p:cNvSpPr/>
          <p:nvPr/>
        </p:nvSpPr>
        <p:spPr>
          <a:xfrm>
            <a:off x="777240" y="2423160"/>
            <a:ext cx="2925720" cy="43848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2600" spc="-1" strike="noStrike">
                <a:solidFill>
                  <a:srgbClr val="0d1b2a"/>
                </a:solidFill>
                <a:latin typeface="Aptos Display"/>
                <a:ea typeface="Aptos Display"/>
              </a:rPr>
              <a:t>$426.5k</a:t>
            </a:r>
            <a:endParaRPr b="0" lang="en-US" sz="2600" spc="-1" strike="noStrike">
              <a:latin typeface="Arial"/>
            </a:endParaRPr>
          </a:p>
        </p:txBody>
      </p:sp>
      <p:sp>
        <p:nvSpPr>
          <p:cNvPr id="176" name="Shape 5"/>
          <p:cNvSpPr/>
          <p:nvPr/>
        </p:nvSpPr>
        <p:spPr>
          <a:xfrm>
            <a:off x="777240" y="2971800"/>
            <a:ext cx="731520" cy="360"/>
          </a:xfrm>
          <a:prstGeom prst="line">
            <a:avLst/>
          </a:prstGeom>
          <a:ln w="31750">
            <a:solidFill>
              <a:srgbClr val="c9a227"/>
            </a:solidFill>
            <a:round/>
          </a:ln>
        </p:spPr>
        <p:style>
          <a:lnRef idx="0"/>
          <a:fillRef idx="0"/>
          <a:effectRef idx="0"/>
          <a:fontRef idx="minor"/>
        </p:style>
      </p:sp>
      <p:sp>
        <p:nvSpPr>
          <p:cNvPr id="177" name="Text 6"/>
          <p:cNvSpPr/>
          <p:nvPr/>
        </p:nvSpPr>
        <p:spPr>
          <a:xfrm>
            <a:off x="777240" y="3136320"/>
            <a:ext cx="2925720" cy="38376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250" spc="-1" strike="noStrike">
                <a:solidFill>
                  <a:srgbClr val="1f2937"/>
                </a:solidFill>
                <a:latin typeface="Aptos"/>
                <a:ea typeface="Aptos"/>
              </a:rPr>
              <a:t>lowest monthly median price</a:t>
            </a:r>
            <a:endParaRPr b="0" lang="en-US" sz="1250" spc="-1" strike="noStrike">
              <a:latin typeface="Arial"/>
            </a:endParaRPr>
          </a:p>
        </p:txBody>
      </p:sp>
      <p:sp>
        <p:nvSpPr>
          <p:cNvPr id="178" name="Text 7"/>
          <p:cNvSpPr/>
          <p:nvPr/>
        </p:nvSpPr>
        <p:spPr>
          <a:xfrm>
            <a:off x="4069080" y="2423160"/>
            <a:ext cx="2925720" cy="43848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2600" spc="-1" strike="noStrike">
                <a:solidFill>
                  <a:srgbClr val="0d1b2a"/>
                </a:solidFill>
                <a:latin typeface="Aptos Display"/>
                <a:ea typeface="Aptos Display"/>
              </a:rPr>
              <a:t>$477k</a:t>
            </a:r>
            <a:endParaRPr b="0" lang="en-US" sz="2600" spc="-1" strike="noStrike">
              <a:latin typeface="Arial"/>
            </a:endParaRPr>
          </a:p>
        </p:txBody>
      </p:sp>
      <p:sp>
        <p:nvSpPr>
          <p:cNvPr id="179" name="Shape 8"/>
          <p:cNvSpPr/>
          <p:nvPr/>
        </p:nvSpPr>
        <p:spPr>
          <a:xfrm>
            <a:off x="4069080" y="2971800"/>
            <a:ext cx="731520" cy="360"/>
          </a:xfrm>
          <a:prstGeom prst="line">
            <a:avLst/>
          </a:prstGeom>
          <a:ln w="31750">
            <a:solidFill>
              <a:srgbClr val="c9a227"/>
            </a:solidFill>
            <a:round/>
          </a:ln>
        </p:spPr>
        <p:style>
          <a:lnRef idx="0"/>
          <a:fillRef idx="0"/>
          <a:effectRef idx="0"/>
          <a:fontRef idx="minor"/>
        </p:style>
      </p:sp>
      <p:sp>
        <p:nvSpPr>
          <p:cNvPr id="180" name="Text 9"/>
          <p:cNvSpPr/>
          <p:nvPr/>
        </p:nvSpPr>
        <p:spPr>
          <a:xfrm>
            <a:off x="4069080" y="3136320"/>
            <a:ext cx="2925720" cy="38376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250" spc="-1" strike="noStrike">
                <a:solidFill>
                  <a:srgbClr val="1f2937"/>
                </a:solidFill>
                <a:latin typeface="Aptos"/>
                <a:ea typeface="Aptos"/>
              </a:rPr>
              <a:t>highest monthly median price</a:t>
            </a:r>
            <a:endParaRPr b="0" lang="en-US" sz="1250" spc="-1" strike="noStrike">
              <a:latin typeface="Arial"/>
            </a:endParaRPr>
          </a:p>
        </p:txBody>
      </p:sp>
      <p:sp>
        <p:nvSpPr>
          <p:cNvPr id="181" name="Text 10"/>
          <p:cNvSpPr/>
          <p:nvPr/>
        </p:nvSpPr>
        <p:spPr>
          <a:xfrm>
            <a:off x="7360920" y="2423160"/>
            <a:ext cx="2742840" cy="43848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2600" spc="-1" strike="noStrike">
                <a:solidFill>
                  <a:srgbClr val="0d1b2a"/>
                </a:solidFill>
                <a:latin typeface="Aptos Display"/>
                <a:ea typeface="Aptos Display"/>
              </a:rPr>
              <a:t>~12%</a:t>
            </a:r>
            <a:endParaRPr b="0" lang="en-US" sz="2600" spc="-1" strike="noStrike">
              <a:latin typeface="Arial"/>
            </a:endParaRPr>
          </a:p>
        </p:txBody>
      </p:sp>
      <p:sp>
        <p:nvSpPr>
          <p:cNvPr id="182" name="Shape 11"/>
          <p:cNvSpPr/>
          <p:nvPr/>
        </p:nvSpPr>
        <p:spPr>
          <a:xfrm>
            <a:off x="7360920" y="2971800"/>
            <a:ext cx="731520" cy="360"/>
          </a:xfrm>
          <a:prstGeom prst="line">
            <a:avLst/>
          </a:prstGeom>
          <a:ln w="31750">
            <a:solidFill>
              <a:srgbClr val="c9a227"/>
            </a:solidFill>
            <a:round/>
          </a:ln>
        </p:spPr>
        <p:style>
          <a:lnRef idx="0"/>
          <a:fillRef idx="0"/>
          <a:effectRef idx="0"/>
          <a:fontRef idx="minor"/>
        </p:style>
      </p:sp>
      <p:sp>
        <p:nvSpPr>
          <p:cNvPr id="183" name="Text 12"/>
          <p:cNvSpPr/>
          <p:nvPr/>
        </p:nvSpPr>
        <p:spPr>
          <a:xfrm>
            <a:off x="7360920" y="3136320"/>
            <a:ext cx="2742840" cy="38376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250" spc="-1" strike="noStrike">
                <a:solidFill>
                  <a:srgbClr val="1f2937"/>
                </a:solidFill>
                <a:latin typeface="Aptos"/>
                <a:ea typeface="Aptos"/>
              </a:rPr>
              <a:t>monthly median range</a:t>
            </a:r>
            <a:endParaRPr b="0" lang="en-US" sz="1250" spc="-1" strike="noStrike">
              <a:latin typeface="Arial"/>
            </a:endParaRPr>
          </a:p>
        </p:txBody>
      </p:sp>
      <p:sp>
        <p:nvSpPr>
          <p:cNvPr id="184" name="Text 13"/>
          <p:cNvSpPr/>
          <p:nvPr/>
        </p:nvSpPr>
        <p:spPr>
          <a:xfrm>
            <a:off x="777240" y="4407480"/>
            <a:ext cx="2377080" cy="3196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800" spc="-1" strike="noStrike">
                <a:solidFill>
                  <a:srgbClr val="0d1b2a"/>
                </a:solidFill>
                <a:latin typeface="Aptos"/>
              </a:rPr>
              <a:t>Interpretation</a:t>
            </a:r>
            <a:endParaRPr b="0" lang="en-US" sz="1800" spc="-1" strike="noStrike">
              <a:latin typeface="Arial"/>
            </a:endParaRPr>
          </a:p>
        </p:txBody>
      </p:sp>
      <p:sp>
        <p:nvSpPr>
          <p:cNvPr id="185" name="Text 14"/>
          <p:cNvSpPr/>
          <p:nvPr/>
        </p:nvSpPr>
        <p:spPr>
          <a:xfrm>
            <a:off x="777240" y="4800600"/>
            <a:ext cx="9600840" cy="56664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600" spc="-1" strike="noStrike">
                <a:solidFill>
                  <a:srgbClr val="1f2937"/>
                </a:solidFill>
                <a:latin typeface="Aptos"/>
              </a:rPr>
              <a:t>Seasonality shows weak evidence compared with location, waterfront, renovation, and grade. The seller should not rely on timing alone.</a:t>
            </a:r>
            <a:endParaRPr b="0" lang="en-US" sz="1600" spc="-1" strike="noStrike">
              <a:latin typeface="Arial"/>
            </a:endParaRPr>
          </a:p>
        </p:txBody>
      </p:sp>
      <p:sp>
        <p:nvSpPr>
          <p:cNvPr id="186" name="Text 15"/>
          <p:cNvSpPr/>
          <p:nvPr/>
        </p:nvSpPr>
        <p:spPr>
          <a:xfrm>
            <a:off x="594360" y="6528960"/>
            <a:ext cx="3840120" cy="16416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lang="en-US" sz="750" spc="-1" strike="noStrike">
                <a:solidFill>
                  <a:srgbClr val="8b8b8b"/>
                </a:solidFill>
                <a:latin typeface="Aptos"/>
              </a:rPr>
              <a:t>King County Housing EDA  •  9</a:t>
            </a:r>
            <a:endParaRPr b="0" lang="en-US" sz="750" spc="-1" strike="noStrike">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2e7"/>
        </a:solidFill>
      </p:bgPr>
    </p:bg>
    <p:spTree>
      <p:nvGrpSpPr>
        <p:cNvPr id="1" name=""/>
        <p:cNvGrpSpPr/>
        <p:nvPr/>
      </p:nvGrpSpPr>
      <p:grpSpPr>
        <a:xfrm>
          <a:off x="0" y="0"/>
          <a:ext cx="0" cy="0"/>
          <a:chOff x="0" y="0"/>
          <a:chExt cx="0" cy="0"/>
        </a:xfrm>
      </p:grpSpPr>
      <p:sp>
        <p:nvSpPr>
          <p:cNvPr id="187" name="Shape 0"/>
          <p:cNvSpPr/>
          <p:nvPr/>
        </p:nvSpPr>
        <p:spPr>
          <a:xfrm>
            <a:off x="0" y="0"/>
            <a:ext cx="12191400" cy="72720"/>
          </a:xfrm>
          <a:prstGeom prst="rect">
            <a:avLst/>
          </a:prstGeom>
          <a:solidFill>
            <a:srgbClr val="c9a227"/>
          </a:solidFill>
          <a:ln w="12700">
            <a:solidFill>
              <a:srgbClr val="c9a227"/>
            </a:solidFill>
            <a:round/>
          </a:ln>
        </p:spPr>
        <p:style>
          <a:lnRef idx="0"/>
          <a:fillRef idx="0"/>
          <a:effectRef idx="0"/>
          <a:fontRef idx="minor"/>
        </p:style>
      </p:sp>
      <p:sp>
        <p:nvSpPr>
          <p:cNvPr id="188" name="Text 1"/>
          <p:cNvSpPr/>
          <p:nvPr/>
        </p:nvSpPr>
        <p:spPr>
          <a:xfrm>
            <a:off x="594360" y="329040"/>
            <a:ext cx="3291480" cy="2098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850" spc="-1" strike="noStrike">
                <a:solidFill>
                  <a:srgbClr val="c9a227"/>
                </a:solidFill>
                <a:latin typeface="Aptos"/>
                <a:ea typeface="Aptos"/>
              </a:rPr>
              <a:t>RECOMMENDATIONS</a:t>
            </a:r>
            <a:endParaRPr b="0" lang="en-US" sz="850" spc="-1" strike="noStrike">
              <a:latin typeface="Arial"/>
            </a:endParaRPr>
          </a:p>
        </p:txBody>
      </p:sp>
      <p:sp>
        <p:nvSpPr>
          <p:cNvPr id="189" name="Text 2"/>
          <p:cNvSpPr/>
          <p:nvPr/>
        </p:nvSpPr>
        <p:spPr>
          <a:xfrm>
            <a:off x="594360" y="658440"/>
            <a:ext cx="6857640" cy="59400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3300" spc="-1" strike="noStrike">
                <a:solidFill>
                  <a:srgbClr val="0d1b2a"/>
                </a:solidFill>
                <a:latin typeface="Aptos Display"/>
                <a:ea typeface="Aptos Display"/>
              </a:rPr>
              <a:t>What should Timothy do?</a:t>
            </a:r>
            <a:endParaRPr b="0" lang="en-US" sz="3300" spc="-1" strike="noStrike">
              <a:latin typeface="Arial"/>
            </a:endParaRPr>
          </a:p>
        </p:txBody>
      </p:sp>
      <p:sp>
        <p:nvSpPr>
          <p:cNvPr id="190" name="Text 3"/>
          <p:cNvSpPr/>
          <p:nvPr/>
        </p:nvSpPr>
        <p:spPr>
          <a:xfrm>
            <a:off x="777240" y="1600200"/>
            <a:ext cx="456840" cy="3106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2000" spc="-1" strike="noStrike">
                <a:solidFill>
                  <a:srgbClr val="c9a227"/>
                </a:solidFill>
                <a:latin typeface="Aptos"/>
              </a:rPr>
              <a:t>1</a:t>
            </a:r>
            <a:endParaRPr b="0" lang="en-US" sz="2000" spc="-1" strike="noStrike">
              <a:latin typeface="Arial"/>
            </a:endParaRPr>
          </a:p>
        </p:txBody>
      </p:sp>
      <p:sp>
        <p:nvSpPr>
          <p:cNvPr id="191" name="Text 4"/>
          <p:cNvSpPr/>
          <p:nvPr/>
        </p:nvSpPr>
        <p:spPr>
          <a:xfrm>
            <a:off x="1417320" y="1581840"/>
            <a:ext cx="3108600" cy="31968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1900" spc="-1" strike="noStrike">
                <a:solidFill>
                  <a:srgbClr val="0d1b2a"/>
                </a:solidFill>
                <a:latin typeface="Aptos"/>
              </a:rPr>
              <a:t>Price by micro-location</a:t>
            </a:r>
            <a:endParaRPr b="0" lang="en-US" sz="1900" spc="-1" strike="noStrike">
              <a:latin typeface="Arial"/>
            </a:endParaRPr>
          </a:p>
        </p:txBody>
      </p:sp>
      <p:sp>
        <p:nvSpPr>
          <p:cNvPr id="192" name="Text 5"/>
          <p:cNvSpPr/>
          <p:nvPr/>
        </p:nvSpPr>
        <p:spPr>
          <a:xfrm>
            <a:off x="4572000" y="1581840"/>
            <a:ext cx="6491880" cy="383760"/>
          </a:xfrm>
          <a:prstGeom prst="rect">
            <a:avLst/>
          </a:prstGeom>
          <a:noFill/>
          <a:ln w="0">
            <a:noFill/>
          </a:ln>
        </p:spPr>
        <p:style>
          <a:lnRef idx="0"/>
          <a:fillRef idx="0"/>
          <a:effectRef idx="0"/>
          <a:fontRef idx="minor"/>
        </p:style>
        <p:txBody>
          <a:bodyPr lIns="0" rIns="0" tIns="0" bIns="0" anchor="ctr">
            <a:normAutofit fontScale="93000"/>
          </a:bodyPr>
          <a:p>
            <a:pPr>
              <a:lnSpc>
                <a:spcPct val="100000"/>
              </a:lnSpc>
              <a:buNone/>
              <a:tabLst>
                <a:tab algn="l" pos="0"/>
              </a:tabLst>
            </a:pPr>
            <a:r>
              <a:rPr b="0" lang="en-US" sz="1450" spc="-1" strike="noStrike">
                <a:solidFill>
                  <a:srgbClr val="1f2937"/>
                </a:solidFill>
                <a:latin typeface="Aptos"/>
              </a:rPr>
              <a:t>Use ZIP code, waterfront status, and view quality to set realistic premium pricing.</a:t>
            </a:r>
            <a:endParaRPr b="0" lang="en-US" sz="1450" spc="-1" strike="noStrike">
              <a:latin typeface="Arial"/>
            </a:endParaRPr>
          </a:p>
        </p:txBody>
      </p:sp>
      <p:sp>
        <p:nvSpPr>
          <p:cNvPr id="193" name="Shape 6"/>
          <p:cNvSpPr/>
          <p:nvPr/>
        </p:nvSpPr>
        <p:spPr>
          <a:xfrm>
            <a:off x="777240" y="2221920"/>
            <a:ext cx="10058400" cy="360"/>
          </a:xfrm>
          <a:prstGeom prst="line">
            <a:avLst/>
          </a:prstGeom>
          <a:ln w="12700">
            <a:solidFill>
              <a:srgbClr val="e2d8c5"/>
            </a:solidFill>
            <a:round/>
          </a:ln>
        </p:spPr>
        <p:style>
          <a:lnRef idx="0"/>
          <a:fillRef idx="0"/>
          <a:effectRef idx="0"/>
          <a:fontRef idx="minor"/>
        </p:style>
      </p:sp>
      <p:sp>
        <p:nvSpPr>
          <p:cNvPr id="194" name="Text 7"/>
          <p:cNvSpPr/>
          <p:nvPr/>
        </p:nvSpPr>
        <p:spPr>
          <a:xfrm>
            <a:off x="777240" y="2679120"/>
            <a:ext cx="456840" cy="3106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2000" spc="-1" strike="noStrike">
                <a:solidFill>
                  <a:srgbClr val="c9a227"/>
                </a:solidFill>
                <a:latin typeface="Aptos"/>
              </a:rPr>
              <a:t>2</a:t>
            </a:r>
            <a:endParaRPr b="0" lang="en-US" sz="2000" spc="-1" strike="noStrike">
              <a:latin typeface="Arial"/>
            </a:endParaRPr>
          </a:p>
        </p:txBody>
      </p:sp>
      <p:sp>
        <p:nvSpPr>
          <p:cNvPr id="195" name="Text 8"/>
          <p:cNvSpPr/>
          <p:nvPr/>
        </p:nvSpPr>
        <p:spPr>
          <a:xfrm>
            <a:off x="1417320" y="2660760"/>
            <a:ext cx="3108600" cy="31968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1" lang="en-US" sz="1900" spc="-1" strike="noStrike">
                <a:solidFill>
                  <a:srgbClr val="0d1b2a"/>
                </a:solidFill>
                <a:latin typeface="Aptos"/>
              </a:rPr>
              <a:t>Renovate selectively</a:t>
            </a:r>
            <a:endParaRPr b="0" lang="en-US" sz="1900" spc="-1" strike="noStrike">
              <a:latin typeface="Arial"/>
            </a:endParaRPr>
          </a:p>
        </p:txBody>
      </p:sp>
      <p:sp>
        <p:nvSpPr>
          <p:cNvPr id="196" name="Text 9"/>
          <p:cNvSpPr/>
          <p:nvPr/>
        </p:nvSpPr>
        <p:spPr>
          <a:xfrm>
            <a:off x="4572000" y="2660760"/>
            <a:ext cx="6491880" cy="383760"/>
          </a:xfrm>
          <a:prstGeom prst="rect">
            <a:avLst/>
          </a:prstGeom>
          <a:noFill/>
          <a:ln w="0">
            <a:noFill/>
          </a:ln>
        </p:spPr>
        <p:style>
          <a:lnRef idx="0"/>
          <a:fillRef idx="0"/>
          <a:effectRef idx="0"/>
          <a:fontRef idx="minor"/>
        </p:style>
        <p:txBody>
          <a:bodyPr lIns="0" rIns="0" tIns="0" bIns="0" anchor="ctr">
            <a:normAutofit fontScale="93000"/>
          </a:bodyPr>
          <a:p>
            <a:pPr>
              <a:lnSpc>
                <a:spcPct val="100000"/>
              </a:lnSpc>
              <a:buNone/>
              <a:tabLst>
                <a:tab algn="l" pos="0"/>
              </a:tabLst>
            </a:pPr>
            <a:r>
              <a:rPr b="0" lang="en-US" sz="1450" spc="-1" strike="noStrike">
                <a:solidFill>
                  <a:srgbClr val="1f2937"/>
                </a:solidFill>
                <a:latin typeface="Aptos"/>
              </a:rPr>
              <a:t>Prioritize improvements where the expected uplift is larger than renovation cost.</a:t>
            </a:r>
            <a:endParaRPr b="0" lang="en-US" sz="1450" spc="-1" strike="noStrike">
              <a:latin typeface="Arial"/>
            </a:endParaRPr>
          </a:p>
        </p:txBody>
      </p:sp>
      <p:sp>
        <p:nvSpPr>
          <p:cNvPr id="197" name="Shape 10"/>
          <p:cNvSpPr/>
          <p:nvPr/>
        </p:nvSpPr>
        <p:spPr>
          <a:xfrm>
            <a:off x="777240" y="3300840"/>
            <a:ext cx="10058400" cy="360"/>
          </a:xfrm>
          <a:prstGeom prst="line">
            <a:avLst/>
          </a:prstGeom>
          <a:ln w="12700">
            <a:solidFill>
              <a:srgbClr val="e2d8c5"/>
            </a:solidFill>
            <a:round/>
          </a:ln>
        </p:spPr>
        <p:style>
          <a:lnRef idx="0"/>
          <a:fillRef idx="0"/>
          <a:effectRef idx="0"/>
          <a:fontRef idx="minor"/>
        </p:style>
      </p:sp>
      <p:sp>
        <p:nvSpPr>
          <p:cNvPr id="198" name="Text 11"/>
          <p:cNvSpPr/>
          <p:nvPr/>
        </p:nvSpPr>
        <p:spPr>
          <a:xfrm>
            <a:off x="777240" y="3758040"/>
            <a:ext cx="456840" cy="3106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2000" spc="-1" strike="noStrike">
                <a:solidFill>
                  <a:srgbClr val="c9a227"/>
                </a:solidFill>
                <a:latin typeface="Aptos"/>
              </a:rPr>
              <a:t>3</a:t>
            </a:r>
            <a:endParaRPr b="0" lang="en-US" sz="2000" spc="-1" strike="noStrike">
              <a:latin typeface="Arial"/>
            </a:endParaRPr>
          </a:p>
        </p:txBody>
      </p:sp>
      <p:sp>
        <p:nvSpPr>
          <p:cNvPr id="199" name="Text 12"/>
          <p:cNvSpPr/>
          <p:nvPr/>
        </p:nvSpPr>
        <p:spPr>
          <a:xfrm>
            <a:off x="1417320" y="3740040"/>
            <a:ext cx="3108600" cy="319680"/>
          </a:xfrm>
          <a:prstGeom prst="rect">
            <a:avLst/>
          </a:prstGeom>
          <a:noFill/>
          <a:ln w="0">
            <a:noFill/>
          </a:ln>
        </p:spPr>
        <p:style>
          <a:lnRef idx="0"/>
          <a:fillRef idx="0"/>
          <a:effectRef idx="0"/>
          <a:fontRef idx="minor"/>
        </p:style>
        <p:txBody>
          <a:bodyPr lIns="0" rIns="0" tIns="0" bIns="0" anchor="ctr">
            <a:normAutofit fontScale="74000"/>
          </a:bodyPr>
          <a:p>
            <a:pPr>
              <a:lnSpc>
                <a:spcPct val="100000"/>
              </a:lnSpc>
              <a:buNone/>
              <a:tabLst>
                <a:tab algn="l" pos="0"/>
              </a:tabLst>
            </a:pPr>
            <a:r>
              <a:rPr b="1" lang="en-US" sz="1900" spc="-1" strike="noStrike">
                <a:solidFill>
                  <a:srgbClr val="0d1b2a"/>
                </a:solidFill>
                <a:latin typeface="Aptos"/>
              </a:rPr>
              <a:t>Use grade as a value signal</a:t>
            </a:r>
            <a:endParaRPr b="0" lang="en-US" sz="1900" spc="-1" strike="noStrike">
              <a:latin typeface="Arial"/>
            </a:endParaRPr>
          </a:p>
        </p:txBody>
      </p:sp>
      <p:sp>
        <p:nvSpPr>
          <p:cNvPr id="200" name="Text 13"/>
          <p:cNvSpPr/>
          <p:nvPr/>
        </p:nvSpPr>
        <p:spPr>
          <a:xfrm>
            <a:off x="4572000" y="3740040"/>
            <a:ext cx="6491880" cy="38376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450" spc="-1" strike="noStrike">
                <a:solidFill>
                  <a:srgbClr val="1f2937"/>
                </a:solidFill>
                <a:latin typeface="Aptos"/>
              </a:rPr>
              <a:t>Highlight quality, finishes, and construction level in marketing materials.</a:t>
            </a:r>
            <a:endParaRPr b="0" lang="en-US" sz="1450" spc="-1" strike="noStrike">
              <a:latin typeface="Arial"/>
            </a:endParaRPr>
          </a:p>
        </p:txBody>
      </p:sp>
      <p:sp>
        <p:nvSpPr>
          <p:cNvPr id="201" name="Shape 14"/>
          <p:cNvSpPr/>
          <p:nvPr/>
        </p:nvSpPr>
        <p:spPr>
          <a:xfrm>
            <a:off x="777240" y="4379760"/>
            <a:ext cx="10058400" cy="360"/>
          </a:xfrm>
          <a:prstGeom prst="line">
            <a:avLst/>
          </a:prstGeom>
          <a:ln w="12700">
            <a:solidFill>
              <a:srgbClr val="e2d8c5"/>
            </a:solidFill>
            <a:round/>
          </a:ln>
        </p:spPr>
        <p:style>
          <a:lnRef idx="0"/>
          <a:fillRef idx="0"/>
          <a:effectRef idx="0"/>
          <a:fontRef idx="minor"/>
        </p:style>
      </p:sp>
      <p:sp>
        <p:nvSpPr>
          <p:cNvPr id="202" name="Text 15"/>
          <p:cNvSpPr/>
          <p:nvPr/>
        </p:nvSpPr>
        <p:spPr>
          <a:xfrm>
            <a:off x="777240" y="4837320"/>
            <a:ext cx="456840" cy="3106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2000" spc="-1" strike="noStrike">
                <a:solidFill>
                  <a:srgbClr val="c9a227"/>
                </a:solidFill>
                <a:latin typeface="Aptos"/>
              </a:rPr>
              <a:t>4</a:t>
            </a:r>
            <a:endParaRPr b="0" lang="en-US" sz="2000" spc="-1" strike="noStrike">
              <a:latin typeface="Arial"/>
            </a:endParaRPr>
          </a:p>
        </p:txBody>
      </p:sp>
      <p:sp>
        <p:nvSpPr>
          <p:cNvPr id="203" name="Text 16"/>
          <p:cNvSpPr/>
          <p:nvPr/>
        </p:nvSpPr>
        <p:spPr>
          <a:xfrm>
            <a:off x="1417320" y="4818960"/>
            <a:ext cx="3108600" cy="319680"/>
          </a:xfrm>
          <a:prstGeom prst="rect">
            <a:avLst/>
          </a:prstGeom>
          <a:noFill/>
          <a:ln w="0">
            <a:noFill/>
          </a:ln>
        </p:spPr>
        <p:style>
          <a:lnRef idx="0"/>
          <a:fillRef idx="0"/>
          <a:effectRef idx="0"/>
          <a:fontRef idx="minor"/>
        </p:style>
        <p:txBody>
          <a:bodyPr lIns="0" rIns="0" tIns="0" bIns="0" anchor="ctr">
            <a:normAutofit fontScale="90000"/>
          </a:bodyPr>
          <a:p>
            <a:pPr>
              <a:lnSpc>
                <a:spcPct val="100000"/>
              </a:lnSpc>
              <a:buNone/>
              <a:tabLst>
                <a:tab algn="l" pos="0"/>
              </a:tabLst>
            </a:pPr>
            <a:r>
              <a:rPr b="1" lang="en-US" sz="1900" spc="-1" strike="noStrike">
                <a:solidFill>
                  <a:srgbClr val="0d1b2a"/>
                </a:solidFill>
                <a:latin typeface="Aptos"/>
              </a:rPr>
              <a:t>Do not over-rely on timing</a:t>
            </a:r>
            <a:endParaRPr b="0" lang="en-US" sz="1900" spc="-1" strike="noStrike">
              <a:latin typeface="Arial"/>
            </a:endParaRPr>
          </a:p>
        </p:txBody>
      </p:sp>
      <p:sp>
        <p:nvSpPr>
          <p:cNvPr id="204" name="Text 17"/>
          <p:cNvSpPr/>
          <p:nvPr/>
        </p:nvSpPr>
        <p:spPr>
          <a:xfrm>
            <a:off x="4572000" y="4818960"/>
            <a:ext cx="6491880" cy="38376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450" spc="-1" strike="noStrike">
                <a:solidFill>
                  <a:srgbClr val="1f2937"/>
                </a:solidFill>
                <a:latin typeface="Aptos"/>
              </a:rPr>
              <a:t>Seasonality is weaker than location, renovation, and grade in this dataset.</a:t>
            </a:r>
            <a:endParaRPr b="0" lang="en-US" sz="1450" spc="-1" strike="noStrike">
              <a:latin typeface="Arial"/>
            </a:endParaRPr>
          </a:p>
        </p:txBody>
      </p:sp>
      <p:sp>
        <p:nvSpPr>
          <p:cNvPr id="205" name="Text 18"/>
          <p:cNvSpPr/>
          <p:nvPr/>
        </p:nvSpPr>
        <p:spPr>
          <a:xfrm>
            <a:off x="594360" y="6528960"/>
            <a:ext cx="3840120" cy="16416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0" lang="en-US" sz="750" spc="-1" strike="noStrike">
                <a:solidFill>
                  <a:srgbClr val="8b8b8b"/>
                </a:solidFill>
                <a:latin typeface="Aptos"/>
              </a:rPr>
              <a:t>King County Housing EDA  •  10</a:t>
            </a:r>
            <a:endParaRPr b="0" lang="en-US" sz="750" spc="-1" strike="noStrike">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06" name="Image 0" descr="/mnt/data/aerial_16x9_dark.jpg"/>
          <p:cNvPicPr/>
          <p:nvPr/>
        </p:nvPicPr>
        <p:blipFill>
          <a:blip r:embed="rId1"/>
          <a:stretch/>
        </p:blipFill>
        <p:spPr>
          <a:xfrm>
            <a:off x="0" y="0"/>
            <a:ext cx="12191400" cy="6857640"/>
          </a:xfrm>
          <a:prstGeom prst="rect">
            <a:avLst/>
          </a:prstGeom>
          <a:ln w="0">
            <a:noFill/>
          </a:ln>
        </p:spPr>
      </p:pic>
      <p:sp>
        <p:nvSpPr>
          <p:cNvPr id="207" name="Text 0"/>
          <p:cNvSpPr/>
          <p:nvPr/>
        </p:nvSpPr>
        <p:spPr>
          <a:xfrm>
            <a:off x="731520" y="777240"/>
            <a:ext cx="2377080" cy="31968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1300" spc="-1" strike="noStrike">
                <a:solidFill>
                  <a:srgbClr val="c9a227"/>
                </a:solidFill>
                <a:latin typeface="Aptos"/>
              </a:rPr>
              <a:t>Final answer</a:t>
            </a:r>
            <a:endParaRPr b="0" lang="en-US" sz="1300" spc="-1" strike="noStrike">
              <a:latin typeface="Arial"/>
            </a:endParaRPr>
          </a:p>
        </p:txBody>
      </p:sp>
      <p:sp>
        <p:nvSpPr>
          <p:cNvPr id="208" name="Text 1"/>
          <p:cNvSpPr/>
          <p:nvPr/>
        </p:nvSpPr>
        <p:spPr>
          <a:xfrm>
            <a:off x="731520" y="1417320"/>
            <a:ext cx="7680600" cy="1096920"/>
          </a:xfrm>
          <a:prstGeom prst="rect">
            <a:avLst/>
          </a:prstGeom>
          <a:noFill/>
          <a:ln w="0">
            <a:noFill/>
          </a:ln>
        </p:spPr>
        <p:style>
          <a:lnRef idx="0"/>
          <a:fillRef idx="0"/>
          <a:effectRef idx="0"/>
          <a:fontRef idx="minor"/>
        </p:style>
        <p:txBody>
          <a:bodyPr lIns="0" rIns="0" tIns="0" bIns="0" anchor="ctr">
            <a:normAutofit fontScale="82000"/>
          </a:bodyPr>
          <a:p>
            <a:pPr>
              <a:lnSpc>
                <a:spcPct val="100000"/>
              </a:lnSpc>
              <a:buNone/>
              <a:tabLst>
                <a:tab algn="l" pos="0"/>
              </a:tabLst>
            </a:pPr>
            <a:r>
              <a:rPr b="1" lang="en-US" sz="3100" spc="-1" strike="noStrike">
                <a:solidFill>
                  <a:srgbClr val="ffffff"/>
                </a:solidFill>
                <a:latin typeface="Aptos Display"/>
                <a:ea typeface="Aptos Display"/>
              </a:rPr>
              <a:t>Maximize sale value by combining location-based pricing with selective property improvements.</a:t>
            </a:r>
            <a:endParaRPr b="0" lang="en-US" sz="3100" spc="-1" strike="noStrike">
              <a:latin typeface="Arial"/>
            </a:endParaRPr>
          </a:p>
        </p:txBody>
      </p:sp>
      <p:sp>
        <p:nvSpPr>
          <p:cNvPr id="209" name="Text 2"/>
          <p:cNvSpPr/>
          <p:nvPr/>
        </p:nvSpPr>
        <p:spPr>
          <a:xfrm>
            <a:off x="749880" y="2862000"/>
            <a:ext cx="6034680" cy="548280"/>
          </a:xfrm>
          <a:prstGeom prst="rect">
            <a:avLst/>
          </a:prstGeom>
          <a:noFill/>
          <a:ln w="0">
            <a:noFill/>
          </a:ln>
        </p:spPr>
        <p:style>
          <a:lnRef idx="0"/>
          <a:fillRef idx="0"/>
          <a:effectRef idx="0"/>
          <a:fontRef idx="minor"/>
        </p:style>
        <p:txBody>
          <a:bodyPr lIns="0" rIns="0" tIns="0" bIns="0" anchor="ctr">
            <a:normAutofit/>
          </a:bodyPr>
          <a:p>
            <a:pPr>
              <a:lnSpc>
                <a:spcPct val="100000"/>
              </a:lnSpc>
              <a:buNone/>
              <a:tabLst>
                <a:tab algn="l" pos="0"/>
              </a:tabLst>
            </a:pPr>
            <a:r>
              <a:rPr b="0" lang="en-US" sz="1600" spc="-1" strike="noStrike">
                <a:solidFill>
                  <a:srgbClr val="f6f4ef"/>
                </a:solidFill>
                <a:latin typeface="Aptos"/>
              </a:rPr>
              <a:t>The strongest signals are location, waterfront/view, renovation status, and grade. Seasonality is weak and not reliable  .</a:t>
            </a:r>
            <a:endParaRPr b="0" lang="en-US" sz="1600" spc="-1" strike="noStrike">
              <a:latin typeface="Arial"/>
            </a:endParaRPr>
          </a:p>
        </p:txBody>
      </p:sp>
      <p:sp>
        <p:nvSpPr>
          <p:cNvPr id="210" name="Text 3"/>
          <p:cNvSpPr/>
          <p:nvPr/>
        </p:nvSpPr>
        <p:spPr>
          <a:xfrm>
            <a:off x="749880" y="5321880"/>
            <a:ext cx="4023000" cy="411120"/>
          </a:xfrm>
          <a:prstGeom prst="rect">
            <a:avLst/>
          </a:prstGeom>
          <a:noFill/>
          <a:ln w="0">
            <a:noFill/>
          </a:ln>
        </p:spPr>
        <p:style>
          <a:lnRef idx="0"/>
          <a:fillRef idx="0"/>
          <a:effectRef idx="0"/>
          <a:fontRef idx="minor"/>
        </p:style>
        <p:txBody>
          <a:bodyPr lIns="0" rIns="0" tIns="0" bIns="0" anchor="ctr">
            <a:noAutofit/>
          </a:bodyPr>
          <a:p>
            <a:pPr>
              <a:lnSpc>
                <a:spcPct val="100000"/>
              </a:lnSpc>
              <a:buNone/>
              <a:tabLst>
                <a:tab algn="l" pos="0"/>
              </a:tabLst>
            </a:pPr>
            <a:r>
              <a:rPr b="1" lang="en-US" sz="2200" spc="-1" strike="noStrike">
                <a:solidFill>
                  <a:srgbClr val="ffffff"/>
                </a:solidFill>
                <a:latin typeface="Aptos"/>
              </a:rPr>
              <a:t>Thank you — Questions?</a:t>
            </a:r>
            <a:endParaRPr b="0" lang="en-US" sz="22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14</TotalTime>
  <Application>PPTXPresentationEditor/1.2.0.0$MacOSX_AARCH64 LibreOffice_project/e114eadc50a9ff8d8c8a0567d6da8f454beeb84f</Application>
  <AppVersion>15.0000</AppVersion>
  <Words>0</Words>
  <Paragraphs>0</Paragraphs>
  <Company>EDA project</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2026-07-23T22:33:14Z</dcterms:created>
  <dc:creator>OpenAI</dc:creator>
  <dc:description/>
  <dc:language>en-US</dc:language>
  <cp:lastModifiedBy/>
  <dcterms:modified xsi:type="dcterms:W3CDTF">2026-07-24T13:18:07Z</dcterms:modified>
  <cp:revision>2</cp:revision>
  <dc:subject>King County Housing EDA</dc:subject>
  <dc:title>King County House Sales Analysis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11</vt:i4>
  </property>
  <property fmtid="{D5CDD505-2E9C-101B-9397-08002B2CF9AE}" pid="3" name="PresentationFormat">
    <vt:lpwstr>On-screen Show (16:9)</vt:lpwstr>
  </property>
  <property fmtid="{D5CDD505-2E9C-101B-9397-08002B2CF9AE}" pid="4" name="Slides">
    <vt:i4>11</vt:i4>
  </property>
</Properties>
</file>