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presentation by saying: This analysis focuses on King County house sales and is built for a seller, Timothy Stevens. The goal is not to build a complex technical model. The goal is to identify practical factors that can help him maximize resale value over the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expectations. Say that the presentation will be simple and business focused. First, you will introduce the client and his decision. Then you will explain the dataset and cleaning choices. After that, you will summarize the four hypotheses. Finally, you will translate the findings into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Timothy Stevens first, before the dataset. Explain that he is not asking for a technical analysis for its own sake. He needs a practical selling strategy. The central question is: what should he focus on before selling — location-based pricing, renovation, quality, or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dataset briefly. Say that each row is a house sale and the target variable is price. Mention that the cleaning was important because the renovation column had both zero and missing values. To avoid a wrong assumption, unknown renovation values were kept separate for the renovation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four hypotheses quickly. Emphasize that H1, H2, and H3 are the main business drivers. H4 is treated as a secondary question because timing might matter, but it is probably less powerful than property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location is the strongest and easiest finding to communicate. The median price in the most expensive ZIP code is about 1.895 million dollars, while the lowest ZIP code is about 235 thousand dollars. Waterfront homes also have much higher median prices. The business meaning is simple: pricing should start with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renovation, keep the explanation short. Renovated homes have a median price of about 607.5 thousand dollars, compared with 448 thousand dollars for non-renovated homes. However, remind the audience that this does not automatically mean every renovation is profitable. It means renovation should be considered selectively, especially for high-value homes where improvement costs can be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grade as quality of construction and design, not just size. The median price increases strongly from grade 7 to grade 10 and grade 13. For a seller of expensive homes, this is useful because grade supports premium pricing and can guide where renovation or presentation improvements may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seasonality, be honest. The data does not strongly support timing as a major factor. There is some variation across months, but it is modest. Recommend that the seller focus first on pricing, location, property quality, and renovation decisions rather than trying to time the market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 slide. Summarize the recommendations in plain English. Timothy should price based on micro-location, not county-wide averages. He should consider renovation, but only when the expected price uplift is greater than the cost. He should use grade and quality as part of the selling story. Timing can be considered, but it should not be the core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main conclusion. Say that the seller should not treat all homes the same. The strategy should start with location and then consider grade and renovation. Seasonality can be monitored, but it is not the strongest lever in this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mercer_16x9_dark.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94360" y="658368"/>
            <a:ext cx="73152" cy="4206240"/>
          </a:xfrm>
          <a:prstGeom prst="rect">
            <a:avLst/>
          </a:prstGeom>
          <a:solidFill>
            <a:srgbClr val="C9A227"/>
          </a:solidFill>
          <a:ln w="12700">
            <a:solidFill>
              <a:srgbClr val="C9A227"/>
            </a:solidFill>
            <a:prstDash val="solid"/>
          </a:ln>
        </p:spPr>
      </p:sp>
      <p:sp>
        <p:nvSpPr>
          <p:cNvPr id="4" name="Text 1"/>
          <p:cNvSpPr/>
          <p:nvPr/>
        </p:nvSpPr>
        <p:spPr>
          <a:xfrm>
            <a:off x="868680" y="786384"/>
            <a:ext cx="6400800" cy="1508760"/>
          </a:xfrm>
          <a:prstGeom prst="rect">
            <a:avLst/>
          </a:prstGeom>
          <a:noFill/>
          <a:ln/>
        </p:spPr>
        <p:txBody>
          <a:bodyPr wrap="square" lIns="0" tIns="0" rIns="0" bIns="0" rtlCol="0" anchor="ctr">
            <a:normAutofit/>
          </a:bodyPr>
          <a:lstStyle/>
          <a:p>
            <a:pPr indent="0" marL="0">
              <a:buNone/>
            </a:pPr>
            <a:r>
              <a:rPr lang="en-US" sz="4100" b="1" dirty="0">
                <a:solidFill>
                  <a:srgbClr val="FFFFFF"/>
                </a:solidFill>
                <a:latin typeface="Aptos Display" pitchFamily="34" charset="0"/>
                <a:ea typeface="Aptos Display" pitchFamily="34" charset="-122"/>
                <a:cs typeface="Aptos Display" pitchFamily="34" charset="-120"/>
              </a:rPr>
              <a:t>King County</a:t>
            </a:r>
            <a:endParaRPr lang="en-US" sz="4100" dirty="0"/>
          </a:p>
          <a:p>
            <a:pPr indent="0" marL="0">
              <a:buNone/>
            </a:pPr>
            <a:r>
              <a:rPr lang="en-US" sz="4100" b="1" dirty="0">
                <a:solidFill>
                  <a:srgbClr val="FFFFFF"/>
                </a:solidFill>
                <a:latin typeface="Aptos Display" pitchFamily="34" charset="0"/>
                <a:ea typeface="Aptos Display" pitchFamily="34" charset="-122"/>
                <a:cs typeface="Aptos Display" pitchFamily="34" charset="-120"/>
              </a:rPr>
              <a:t>House Sales Analysis</a:t>
            </a:r>
            <a:endParaRPr lang="en-US" sz="4100" dirty="0"/>
          </a:p>
        </p:txBody>
      </p:sp>
      <p:sp>
        <p:nvSpPr>
          <p:cNvPr id="5" name="Text 2"/>
          <p:cNvSpPr/>
          <p:nvPr/>
        </p:nvSpPr>
        <p:spPr>
          <a:xfrm>
            <a:off x="886968" y="2514600"/>
            <a:ext cx="6217920" cy="548640"/>
          </a:xfrm>
          <a:prstGeom prst="rect">
            <a:avLst/>
          </a:prstGeom>
          <a:noFill/>
          <a:ln/>
        </p:spPr>
        <p:txBody>
          <a:bodyPr wrap="square" lIns="0" tIns="0" rIns="0" bIns="0" rtlCol="0" anchor="ctr"/>
          <a:lstStyle/>
          <a:p>
            <a:pPr indent="0" marL="0">
              <a:buNone/>
            </a:pPr>
            <a:r>
              <a:rPr lang="en-US" sz="1700" dirty="0">
                <a:solidFill>
                  <a:srgbClr val="F6F4EF"/>
                </a:solidFill>
                <a:latin typeface="Aptos" pitchFamily="34" charset="0"/>
                <a:ea typeface="Aptos" pitchFamily="34" charset="-122"/>
                <a:cs typeface="Aptos" pitchFamily="34" charset="-120"/>
              </a:rPr>
              <a:t>Maximizing resale value through location, renovation, grade, and timing</a:t>
            </a:r>
            <a:endParaRPr lang="en-US" sz="1700" dirty="0"/>
          </a:p>
        </p:txBody>
      </p:sp>
      <p:sp>
        <p:nvSpPr>
          <p:cNvPr id="6" name="Text 3"/>
          <p:cNvSpPr/>
          <p:nvPr/>
        </p:nvSpPr>
        <p:spPr>
          <a:xfrm>
            <a:off x="886968" y="5321808"/>
            <a:ext cx="4023360" cy="329184"/>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Prepared for Timothy Stevens</a:t>
            </a:r>
            <a:endParaRPr lang="en-US" sz="1500" dirty="0"/>
          </a:p>
        </p:txBody>
      </p:sp>
      <p:sp>
        <p:nvSpPr>
          <p:cNvPr id="7" name="Text 4"/>
          <p:cNvSpPr/>
          <p:nvPr/>
        </p:nvSpPr>
        <p:spPr>
          <a:xfrm>
            <a:off x="886968" y="5687568"/>
            <a:ext cx="3200400" cy="256032"/>
          </a:xfrm>
          <a:prstGeom prst="rect">
            <a:avLst/>
          </a:prstGeom>
          <a:noFill/>
          <a:ln/>
        </p:spPr>
        <p:txBody>
          <a:bodyPr wrap="square" lIns="0" tIns="0" rIns="0" bIns="0" rtlCol="0" anchor="ctr"/>
          <a:lstStyle/>
          <a:p>
            <a:pPr indent="0" marL="0">
              <a:buNone/>
            </a:pPr>
            <a:r>
              <a:rPr lang="en-US" sz="1100" dirty="0">
                <a:solidFill>
                  <a:srgbClr val="E8DCC5"/>
                </a:solidFill>
                <a:latin typeface="Aptos" pitchFamily="34" charset="0"/>
                <a:ea typeface="Aptos" pitchFamily="34" charset="-122"/>
                <a:cs typeface="Aptos" pitchFamily="34" charset="-120"/>
              </a:rPr>
              <a:t>Exploratory Data Analysis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PRESENTATION ROADMAP</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The 10-minute story</a:t>
            </a:r>
            <a:endParaRPr lang="en-US" sz="3300" dirty="0"/>
          </a:p>
        </p:txBody>
      </p:sp>
      <p:sp>
        <p:nvSpPr>
          <p:cNvPr id="5" name="Text 3"/>
          <p:cNvSpPr/>
          <p:nvPr/>
        </p:nvSpPr>
        <p:spPr>
          <a:xfrm>
            <a:off x="603504" y="1325880"/>
            <a:ext cx="8412480" cy="411480"/>
          </a:xfrm>
          <a:prstGeom prst="rect">
            <a:avLst/>
          </a:prstGeom>
          <a:noFill/>
          <a:ln/>
        </p:spPr>
        <p:txBody>
          <a:bodyPr wrap="square" lIns="0" tIns="0" rIns="0" bIns="0" rtlCol="0" anchor="ctr"/>
          <a:lstStyle/>
          <a:p>
            <a:pPr indent="0" marL="0">
              <a:buNone/>
            </a:pPr>
            <a:r>
              <a:rPr lang="en-US" sz="1700" dirty="0">
                <a:solidFill>
                  <a:srgbClr val="1F2937"/>
                </a:solidFill>
              </a:rPr>
              <a:t>I will move from the business question to the evidence, and end with clear recommendations.</a:t>
            </a:r>
            <a:endParaRPr lang="en-US" sz="1700" dirty="0"/>
          </a:p>
        </p:txBody>
      </p:sp>
      <p:sp>
        <p:nvSpPr>
          <p:cNvPr id="6" name="Text 4"/>
          <p:cNvSpPr/>
          <p:nvPr/>
        </p:nvSpPr>
        <p:spPr>
          <a:xfrm>
            <a:off x="731520" y="2240280"/>
            <a:ext cx="658368" cy="393192"/>
          </a:xfrm>
          <a:prstGeom prst="rect">
            <a:avLst/>
          </a:prstGeom>
          <a:noFill/>
          <a:ln/>
        </p:spPr>
        <p:txBody>
          <a:bodyPr wrap="square" lIns="0" tIns="0" rIns="0" bIns="0" rtlCol="0" anchor="ctr"/>
          <a:lstStyle/>
          <a:p>
            <a:pPr indent="0" marL="0">
              <a:buNone/>
            </a:pPr>
            <a:r>
              <a:rPr lang="en-US" sz="2400" b="1" dirty="0">
                <a:solidFill>
                  <a:srgbClr val="C9A227"/>
                </a:solidFill>
                <a:latin typeface="Aptos Display" pitchFamily="34" charset="0"/>
                <a:ea typeface="Aptos Display" pitchFamily="34" charset="-122"/>
                <a:cs typeface="Aptos Display" pitchFamily="34" charset="-120"/>
              </a:rPr>
              <a:t>01</a:t>
            </a:r>
            <a:endParaRPr lang="en-US" sz="2400" dirty="0"/>
          </a:p>
        </p:txBody>
      </p:sp>
      <p:sp>
        <p:nvSpPr>
          <p:cNvPr id="7" name="Shape 5"/>
          <p:cNvSpPr/>
          <p:nvPr/>
        </p:nvSpPr>
        <p:spPr>
          <a:xfrm>
            <a:off x="749808" y="2743200"/>
            <a:ext cx="932688" cy="0"/>
          </a:xfrm>
          <a:prstGeom prst="line">
            <a:avLst/>
          </a:prstGeom>
          <a:noFill/>
          <a:ln w="25400">
            <a:solidFill>
              <a:srgbClr val="C9A227"/>
            </a:solidFill>
            <a:prstDash val="solid"/>
          </a:ln>
        </p:spPr>
      </p:sp>
      <p:sp>
        <p:nvSpPr>
          <p:cNvPr id="8" name="Text 6"/>
          <p:cNvSpPr/>
          <p:nvPr/>
        </p:nvSpPr>
        <p:spPr>
          <a:xfrm>
            <a:off x="731520" y="2999232"/>
            <a:ext cx="2148840" cy="320040"/>
          </a:xfrm>
          <a:prstGeom prst="rect">
            <a:avLst/>
          </a:prstGeom>
          <a:noFill/>
          <a:ln/>
        </p:spPr>
        <p:txBody>
          <a:bodyPr wrap="square" lIns="0" tIns="0" rIns="0" bIns="0" rtlCol="0" anchor="ctr">
            <a:normAutofit/>
          </a:bodyPr>
          <a:lstStyle/>
          <a:p>
            <a:pPr indent="0" marL="0">
              <a:buNone/>
            </a:pPr>
            <a:r>
              <a:rPr lang="en-US" sz="1800" b="1" dirty="0">
                <a:solidFill>
                  <a:srgbClr val="0D1B2A"/>
                </a:solidFill>
              </a:rPr>
              <a:t>Client problem</a:t>
            </a:r>
            <a:endParaRPr lang="en-US" sz="1800" dirty="0"/>
          </a:p>
        </p:txBody>
      </p:sp>
      <p:sp>
        <p:nvSpPr>
          <p:cNvPr id="9" name="Text 7"/>
          <p:cNvSpPr/>
          <p:nvPr/>
        </p:nvSpPr>
        <p:spPr>
          <a:xfrm>
            <a:off x="731520" y="3502152"/>
            <a:ext cx="2240280" cy="658368"/>
          </a:xfrm>
          <a:prstGeom prst="rect">
            <a:avLst/>
          </a:prstGeom>
          <a:noFill/>
          <a:ln/>
        </p:spPr>
        <p:txBody>
          <a:bodyPr wrap="square" lIns="0" tIns="0" rIns="0" bIns="0" rtlCol="0" anchor="ctr">
            <a:normAutofit/>
          </a:bodyPr>
          <a:lstStyle/>
          <a:p>
            <a:pPr indent="0" marL="0">
              <a:buNone/>
            </a:pPr>
            <a:r>
              <a:rPr lang="en-US" sz="1250" dirty="0">
                <a:solidFill>
                  <a:srgbClr val="1F2937"/>
                </a:solidFill>
              </a:rPr>
              <a:t>What decision does Timothy need to make?</a:t>
            </a:r>
            <a:endParaRPr lang="en-US" sz="1250" dirty="0"/>
          </a:p>
        </p:txBody>
      </p:sp>
      <p:sp>
        <p:nvSpPr>
          <p:cNvPr id="10" name="Text 8"/>
          <p:cNvSpPr/>
          <p:nvPr/>
        </p:nvSpPr>
        <p:spPr>
          <a:xfrm>
            <a:off x="3493008" y="2240280"/>
            <a:ext cx="658368" cy="393192"/>
          </a:xfrm>
          <a:prstGeom prst="rect">
            <a:avLst/>
          </a:prstGeom>
          <a:noFill/>
          <a:ln/>
        </p:spPr>
        <p:txBody>
          <a:bodyPr wrap="square" lIns="0" tIns="0" rIns="0" bIns="0" rtlCol="0" anchor="ctr"/>
          <a:lstStyle/>
          <a:p>
            <a:pPr indent="0" marL="0">
              <a:buNone/>
            </a:pPr>
            <a:r>
              <a:rPr lang="en-US" sz="2400" b="1" dirty="0">
                <a:solidFill>
                  <a:srgbClr val="C9A227"/>
                </a:solidFill>
                <a:latin typeface="Aptos Display" pitchFamily="34" charset="0"/>
                <a:ea typeface="Aptos Display" pitchFamily="34" charset="-122"/>
                <a:cs typeface="Aptos Display" pitchFamily="34" charset="-120"/>
              </a:rPr>
              <a:t>02</a:t>
            </a:r>
            <a:endParaRPr lang="en-US" sz="2400" dirty="0"/>
          </a:p>
        </p:txBody>
      </p:sp>
      <p:sp>
        <p:nvSpPr>
          <p:cNvPr id="11" name="Shape 9"/>
          <p:cNvSpPr/>
          <p:nvPr/>
        </p:nvSpPr>
        <p:spPr>
          <a:xfrm>
            <a:off x="3511296" y="2743200"/>
            <a:ext cx="932688" cy="0"/>
          </a:xfrm>
          <a:prstGeom prst="line">
            <a:avLst/>
          </a:prstGeom>
          <a:noFill/>
          <a:ln w="25400">
            <a:solidFill>
              <a:srgbClr val="C9A227"/>
            </a:solidFill>
            <a:prstDash val="solid"/>
          </a:ln>
        </p:spPr>
      </p:sp>
      <p:sp>
        <p:nvSpPr>
          <p:cNvPr id="12" name="Text 10"/>
          <p:cNvSpPr/>
          <p:nvPr/>
        </p:nvSpPr>
        <p:spPr>
          <a:xfrm>
            <a:off x="3493008" y="2999232"/>
            <a:ext cx="2148840" cy="320040"/>
          </a:xfrm>
          <a:prstGeom prst="rect">
            <a:avLst/>
          </a:prstGeom>
          <a:noFill/>
          <a:ln/>
        </p:spPr>
        <p:txBody>
          <a:bodyPr wrap="square" lIns="0" tIns="0" rIns="0" bIns="0" rtlCol="0" anchor="ctr">
            <a:normAutofit/>
          </a:bodyPr>
          <a:lstStyle/>
          <a:p>
            <a:pPr indent="0" marL="0">
              <a:buNone/>
            </a:pPr>
            <a:r>
              <a:rPr lang="en-US" sz="1800" b="1" dirty="0">
                <a:solidFill>
                  <a:srgbClr val="0D1B2A"/>
                </a:solidFill>
              </a:rPr>
              <a:t>Data foundation</a:t>
            </a:r>
            <a:endParaRPr lang="en-US" sz="1800" dirty="0"/>
          </a:p>
        </p:txBody>
      </p:sp>
      <p:sp>
        <p:nvSpPr>
          <p:cNvPr id="13" name="Text 11"/>
          <p:cNvSpPr/>
          <p:nvPr/>
        </p:nvSpPr>
        <p:spPr>
          <a:xfrm>
            <a:off x="3493008" y="3502152"/>
            <a:ext cx="2240280" cy="658368"/>
          </a:xfrm>
          <a:prstGeom prst="rect">
            <a:avLst/>
          </a:prstGeom>
          <a:noFill/>
          <a:ln/>
        </p:spPr>
        <p:txBody>
          <a:bodyPr wrap="square" lIns="0" tIns="0" rIns="0" bIns="0" rtlCol="0" anchor="ctr">
            <a:normAutofit/>
          </a:bodyPr>
          <a:lstStyle/>
          <a:p>
            <a:pPr indent="0" marL="0">
              <a:buNone/>
            </a:pPr>
            <a:r>
              <a:rPr lang="en-US" sz="1250" dirty="0">
                <a:solidFill>
                  <a:srgbClr val="1F2937"/>
                </a:solidFill>
              </a:rPr>
              <a:t>Which data was used and how it was prepared?</a:t>
            </a:r>
            <a:endParaRPr lang="en-US" sz="1250" dirty="0"/>
          </a:p>
        </p:txBody>
      </p:sp>
      <p:sp>
        <p:nvSpPr>
          <p:cNvPr id="14" name="Text 12"/>
          <p:cNvSpPr/>
          <p:nvPr/>
        </p:nvSpPr>
        <p:spPr>
          <a:xfrm>
            <a:off x="6254496" y="2240280"/>
            <a:ext cx="658368" cy="393192"/>
          </a:xfrm>
          <a:prstGeom prst="rect">
            <a:avLst/>
          </a:prstGeom>
          <a:noFill/>
          <a:ln/>
        </p:spPr>
        <p:txBody>
          <a:bodyPr wrap="square" lIns="0" tIns="0" rIns="0" bIns="0" rtlCol="0" anchor="ctr"/>
          <a:lstStyle/>
          <a:p>
            <a:pPr indent="0" marL="0">
              <a:buNone/>
            </a:pPr>
            <a:r>
              <a:rPr lang="en-US" sz="2400" b="1" dirty="0">
                <a:solidFill>
                  <a:srgbClr val="C9A227"/>
                </a:solidFill>
                <a:latin typeface="Aptos Display" pitchFamily="34" charset="0"/>
                <a:ea typeface="Aptos Display" pitchFamily="34" charset="-122"/>
                <a:cs typeface="Aptos Display" pitchFamily="34" charset="-120"/>
              </a:rPr>
              <a:t>03</a:t>
            </a:r>
            <a:endParaRPr lang="en-US" sz="2400" dirty="0"/>
          </a:p>
        </p:txBody>
      </p:sp>
      <p:sp>
        <p:nvSpPr>
          <p:cNvPr id="15" name="Shape 13"/>
          <p:cNvSpPr/>
          <p:nvPr/>
        </p:nvSpPr>
        <p:spPr>
          <a:xfrm>
            <a:off x="6272784" y="2743200"/>
            <a:ext cx="932688" cy="0"/>
          </a:xfrm>
          <a:prstGeom prst="line">
            <a:avLst/>
          </a:prstGeom>
          <a:noFill/>
          <a:ln w="25400">
            <a:solidFill>
              <a:srgbClr val="C9A227"/>
            </a:solidFill>
            <a:prstDash val="solid"/>
          </a:ln>
        </p:spPr>
      </p:sp>
      <p:sp>
        <p:nvSpPr>
          <p:cNvPr id="16" name="Text 14"/>
          <p:cNvSpPr/>
          <p:nvPr/>
        </p:nvSpPr>
        <p:spPr>
          <a:xfrm>
            <a:off x="6254496" y="2999232"/>
            <a:ext cx="2148840" cy="320040"/>
          </a:xfrm>
          <a:prstGeom prst="rect">
            <a:avLst/>
          </a:prstGeom>
          <a:noFill/>
          <a:ln/>
        </p:spPr>
        <p:txBody>
          <a:bodyPr wrap="square" lIns="0" tIns="0" rIns="0" bIns="0" rtlCol="0" anchor="ctr">
            <a:normAutofit/>
          </a:bodyPr>
          <a:lstStyle/>
          <a:p>
            <a:pPr indent="0" marL="0">
              <a:buNone/>
            </a:pPr>
            <a:r>
              <a:rPr lang="en-US" sz="1800" b="1" dirty="0">
                <a:solidFill>
                  <a:srgbClr val="0D1B2A"/>
                </a:solidFill>
              </a:rPr>
              <a:t>Hypothesis testing</a:t>
            </a:r>
            <a:endParaRPr lang="en-US" sz="1800" dirty="0"/>
          </a:p>
        </p:txBody>
      </p:sp>
      <p:sp>
        <p:nvSpPr>
          <p:cNvPr id="17" name="Text 15"/>
          <p:cNvSpPr/>
          <p:nvPr/>
        </p:nvSpPr>
        <p:spPr>
          <a:xfrm>
            <a:off x="6254496" y="3502152"/>
            <a:ext cx="2240280" cy="658368"/>
          </a:xfrm>
          <a:prstGeom prst="rect">
            <a:avLst/>
          </a:prstGeom>
          <a:noFill/>
          <a:ln/>
        </p:spPr>
        <p:txBody>
          <a:bodyPr wrap="square" lIns="0" tIns="0" rIns="0" bIns="0" rtlCol="0" anchor="ctr">
            <a:normAutofit/>
          </a:bodyPr>
          <a:lstStyle/>
          <a:p>
            <a:pPr indent="0" marL="0">
              <a:buNone/>
            </a:pPr>
            <a:r>
              <a:rPr lang="en-US" sz="1250" dirty="0">
                <a:solidFill>
                  <a:srgbClr val="1F2937"/>
                </a:solidFill>
              </a:rPr>
              <a:t>What evidence supports or weakens each hypothesis?</a:t>
            </a:r>
            <a:endParaRPr lang="en-US" sz="1250" dirty="0"/>
          </a:p>
        </p:txBody>
      </p:sp>
      <p:sp>
        <p:nvSpPr>
          <p:cNvPr id="18" name="Text 16"/>
          <p:cNvSpPr/>
          <p:nvPr/>
        </p:nvSpPr>
        <p:spPr>
          <a:xfrm>
            <a:off x="9015984" y="2240280"/>
            <a:ext cx="658368" cy="393192"/>
          </a:xfrm>
          <a:prstGeom prst="rect">
            <a:avLst/>
          </a:prstGeom>
          <a:noFill/>
          <a:ln/>
        </p:spPr>
        <p:txBody>
          <a:bodyPr wrap="square" lIns="0" tIns="0" rIns="0" bIns="0" rtlCol="0" anchor="ctr"/>
          <a:lstStyle/>
          <a:p>
            <a:pPr indent="0" marL="0">
              <a:buNone/>
            </a:pPr>
            <a:r>
              <a:rPr lang="en-US" sz="2400" b="1" dirty="0">
                <a:solidFill>
                  <a:srgbClr val="C9A227"/>
                </a:solidFill>
                <a:latin typeface="Aptos Display" pitchFamily="34" charset="0"/>
                <a:ea typeface="Aptos Display" pitchFamily="34" charset="-122"/>
                <a:cs typeface="Aptos Display" pitchFamily="34" charset="-120"/>
              </a:rPr>
              <a:t>04</a:t>
            </a:r>
            <a:endParaRPr lang="en-US" sz="2400" dirty="0"/>
          </a:p>
        </p:txBody>
      </p:sp>
      <p:sp>
        <p:nvSpPr>
          <p:cNvPr id="19" name="Shape 17"/>
          <p:cNvSpPr/>
          <p:nvPr/>
        </p:nvSpPr>
        <p:spPr>
          <a:xfrm>
            <a:off x="9034272" y="2743200"/>
            <a:ext cx="932688" cy="0"/>
          </a:xfrm>
          <a:prstGeom prst="line">
            <a:avLst/>
          </a:prstGeom>
          <a:noFill/>
          <a:ln w="25400">
            <a:solidFill>
              <a:srgbClr val="C9A227"/>
            </a:solidFill>
            <a:prstDash val="solid"/>
          </a:ln>
        </p:spPr>
      </p:sp>
      <p:sp>
        <p:nvSpPr>
          <p:cNvPr id="20" name="Text 18"/>
          <p:cNvSpPr/>
          <p:nvPr/>
        </p:nvSpPr>
        <p:spPr>
          <a:xfrm>
            <a:off x="9015984" y="2999232"/>
            <a:ext cx="2148840" cy="320040"/>
          </a:xfrm>
          <a:prstGeom prst="rect">
            <a:avLst/>
          </a:prstGeom>
          <a:noFill/>
          <a:ln/>
        </p:spPr>
        <p:txBody>
          <a:bodyPr wrap="square" lIns="0" tIns="0" rIns="0" bIns="0" rtlCol="0" anchor="ctr">
            <a:normAutofit/>
          </a:bodyPr>
          <a:lstStyle/>
          <a:p>
            <a:pPr indent="0" marL="0">
              <a:buNone/>
            </a:pPr>
            <a:r>
              <a:rPr lang="en-US" sz="1800" b="1" dirty="0">
                <a:solidFill>
                  <a:srgbClr val="0D1B2A"/>
                </a:solidFill>
              </a:rPr>
              <a:t>Business actions</a:t>
            </a:r>
            <a:endParaRPr lang="en-US" sz="1800" dirty="0"/>
          </a:p>
        </p:txBody>
      </p:sp>
      <p:sp>
        <p:nvSpPr>
          <p:cNvPr id="21" name="Text 19"/>
          <p:cNvSpPr/>
          <p:nvPr/>
        </p:nvSpPr>
        <p:spPr>
          <a:xfrm>
            <a:off x="9015984" y="3502152"/>
            <a:ext cx="2240280" cy="658368"/>
          </a:xfrm>
          <a:prstGeom prst="rect">
            <a:avLst/>
          </a:prstGeom>
          <a:noFill/>
          <a:ln/>
        </p:spPr>
        <p:txBody>
          <a:bodyPr wrap="square" lIns="0" tIns="0" rIns="0" bIns="0" rtlCol="0" anchor="ctr">
            <a:normAutofit/>
          </a:bodyPr>
          <a:lstStyle/>
          <a:p>
            <a:pPr indent="0" marL="0">
              <a:buNone/>
            </a:pPr>
            <a:r>
              <a:rPr lang="en-US" sz="1250" dirty="0">
                <a:solidFill>
                  <a:srgbClr val="1F2937"/>
                </a:solidFill>
              </a:rPr>
              <a:t>What should the seller do next?</a:t>
            </a:r>
            <a:endParaRPr lang="en-US" sz="1250" dirty="0"/>
          </a:p>
        </p:txBody>
      </p:sp>
      <p:sp>
        <p:nvSpPr>
          <p:cNvPr id="22" name="Text 20"/>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7955280" cy="73152"/>
          </a:xfrm>
          <a:prstGeom prst="rect">
            <a:avLst/>
          </a:prstGeom>
          <a:solidFill>
            <a:srgbClr val="C9A227"/>
          </a:solidFill>
          <a:ln w="12700">
            <a:solidFill>
              <a:srgbClr val="C9A227"/>
            </a:solidFill>
            <a:prstDash val="solid"/>
          </a:ln>
        </p:spPr>
      </p:sp>
      <p:pic>
        <p:nvPicPr>
          <p:cNvPr id="3" name="Image 0" descr="/mnt/data/aerial_side_tint.jpg">    </p:cNvPr>
          <p:cNvPicPr>
            <a:picLocks noChangeAspect="1"/>
          </p:cNvPicPr>
          <p:nvPr/>
        </p:nvPicPr>
        <p:blipFill>
          <a:blip r:embed="rId1"/>
          <a:stretch>
            <a:fillRect/>
          </a:stretch>
        </p:blipFill>
        <p:spPr>
          <a:xfrm>
            <a:off x="7955280" y="0"/>
            <a:ext cx="4233672" cy="6858000"/>
          </a:xfrm>
          <a:prstGeom prst="rect">
            <a:avLst/>
          </a:prstGeom>
        </p:spPr>
      </p:pic>
      <p:sp>
        <p:nvSpPr>
          <p:cNvPr id="4"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CLIENT &amp; QUESTION</a:t>
            </a:r>
            <a:endParaRPr lang="en-US" sz="850" dirty="0"/>
          </a:p>
        </p:txBody>
      </p:sp>
      <p:sp>
        <p:nvSpPr>
          <p:cNvPr id="5"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Who are we helping?</a:t>
            </a:r>
            <a:endParaRPr lang="en-US" sz="3300" dirty="0"/>
          </a:p>
        </p:txBody>
      </p:sp>
      <p:sp>
        <p:nvSpPr>
          <p:cNvPr id="6" name="Text 3"/>
          <p:cNvSpPr/>
          <p:nvPr/>
        </p:nvSpPr>
        <p:spPr>
          <a:xfrm>
            <a:off x="603504" y="1508760"/>
            <a:ext cx="5120640" cy="365760"/>
          </a:xfrm>
          <a:prstGeom prst="rect">
            <a:avLst/>
          </a:prstGeom>
          <a:noFill/>
          <a:ln/>
        </p:spPr>
        <p:txBody>
          <a:bodyPr wrap="square" lIns="0" tIns="0" rIns="0" bIns="0" rtlCol="0" anchor="ctr"/>
          <a:lstStyle/>
          <a:p>
            <a:pPr indent="0" marL="0">
              <a:buNone/>
            </a:pPr>
            <a:r>
              <a:rPr lang="en-US" sz="2200" b="1" dirty="0">
                <a:solidFill>
                  <a:srgbClr val="0D1B2A"/>
                </a:solidFill>
              </a:rPr>
              <a:t>Timothy Stevens — Seller</a:t>
            </a:r>
            <a:endParaRPr lang="en-US" sz="2200" dirty="0"/>
          </a:p>
        </p:txBody>
      </p:sp>
      <p:sp>
        <p:nvSpPr>
          <p:cNvPr id="7" name="Text 4"/>
          <p:cNvSpPr/>
          <p:nvPr/>
        </p:nvSpPr>
        <p:spPr>
          <a:xfrm>
            <a:off x="841248" y="2029968"/>
            <a:ext cx="6035040" cy="1417320"/>
          </a:xfrm>
          <a:prstGeom prst="rect">
            <a:avLst/>
          </a:prstGeom>
          <a:noFill/>
          <a:ln/>
        </p:spPr>
        <p:txBody>
          <a:bodyPr wrap="square" rtlCol="0" anchor="ctr">
            <a:normAutofit/>
          </a:bodyPr>
          <a:lstStyle/>
          <a:p>
            <a:pPr marL="152400" indent="-152400">
              <a:buSzPct val="100000"/>
              <a:buChar char="•"/>
            </a:pPr>
            <a:r>
              <a:rPr lang="en-US" sz="1700" dirty="0">
                <a:solidFill>
                  <a:srgbClr val="1F2937"/>
                </a:solidFill>
                <a:latin typeface="Aptos" pitchFamily="34" charset="0"/>
                <a:ea typeface="Aptos" pitchFamily="34" charset="-122"/>
                <a:cs typeface="Aptos" pitchFamily="34" charset="-120"/>
              </a:rPr>
              <a:t>Owns expensive houses in the city center</a:t>
            </a:r>
            <a:endParaRPr lang="en-US" sz="1700" dirty="0"/>
          </a:p>
          <a:p>
            <a:pPr marL="152400" indent="-152400">
              <a:buSzPct val="100000"/>
              <a:buChar char="•"/>
            </a:pPr>
            <a:r>
              <a:rPr lang="en-US" sz="1700" dirty="0">
                <a:solidFill>
                  <a:srgbClr val="1F2937"/>
                </a:solidFill>
                <a:latin typeface="Aptos" pitchFamily="34" charset="0"/>
                <a:ea typeface="Aptos" pitchFamily="34" charset="-122"/>
                <a:cs typeface="Aptos" pitchFamily="34" charset="-120"/>
              </a:rPr>
              <a:t>Wants to sell within the next year</a:t>
            </a:r>
            <a:endParaRPr lang="en-US" sz="1700" dirty="0"/>
          </a:p>
          <a:p>
            <a:pPr marL="152400" indent="-152400">
              <a:buSzPct val="100000"/>
              <a:buChar char="•"/>
            </a:pPr>
            <a:r>
              <a:rPr lang="en-US" sz="1700" dirty="0">
                <a:solidFill>
                  <a:srgbClr val="1F2937"/>
                </a:solidFill>
                <a:latin typeface="Aptos" pitchFamily="34" charset="0"/>
                <a:ea typeface="Aptos" pitchFamily="34" charset="-122"/>
                <a:cs typeface="Aptos" pitchFamily="34" charset="-120"/>
              </a:rPr>
              <a:t>Open to renovation if it increases profit</a:t>
            </a:r>
            <a:endParaRPr lang="en-US" sz="1700" dirty="0"/>
          </a:p>
        </p:txBody>
      </p:sp>
      <p:sp>
        <p:nvSpPr>
          <p:cNvPr id="8" name="Shape 5"/>
          <p:cNvSpPr/>
          <p:nvPr/>
        </p:nvSpPr>
        <p:spPr>
          <a:xfrm>
            <a:off x="603504" y="3822192"/>
            <a:ext cx="6217920" cy="0"/>
          </a:xfrm>
          <a:prstGeom prst="line">
            <a:avLst/>
          </a:prstGeom>
          <a:noFill/>
          <a:ln w="27940">
            <a:solidFill>
              <a:srgbClr val="C9A227"/>
            </a:solidFill>
            <a:prstDash val="solid"/>
          </a:ln>
        </p:spPr>
      </p:sp>
      <p:sp>
        <p:nvSpPr>
          <p:cNvPr id="9" name="Text 6"/>
          <p:cNvSpPr/>
          <p:nvPr/>
        </p:nvSpPr>
        <p:spPr>
          <a:xfrm>
            <a:off x="603504" y="4160520"/>
            <a:ext cx="2743200" cy="347472"/>
          </a:xfrm>
          <a:prstGeom prst="rect">
            <a:avLst/>
          </a:prstGeom>
          <a:noFill/>
          <a:ln/>
        </p:spPr>
        <p:txBody>
          <a:bodyPr wrap="square" lIns="0" tIns="0" rIns="0" bIns="0" rtlCol="0" anchor="ctr"/>
          <a:lstStyle/>
          <a:p>
            <a:pPr indent="0" marL="0">
              <a:buNone/>
            </a:pPr>
            <a:r>
              <a:rPr lang="en-US" sz="2000" b="1" dirty="0">
                <a:solidFill>
                  <a:srgbClr val="0D1B2A"/>
                </a:solidFill>
              </a:rPr>
              <a:t>Business question</a:t>
            </a:r>
            <a:endParaRPr lang="en-US" sz="2000" dirty="0"/>
          </a:p>
        </p:txBody>
      </p:sp>
      <p:sp>
        <p:nvSpPr>
          <p:cNvPr id="10" name="Text 7"/>
          <p:cNvSpPr/>
          <p:nvPr/>
        </p:nvSpPr>
        <p:spPr>
          <a:xfrm>
            <a:off x="603504" y="4590288"/>
            <a:ext cx="6217920" cy="713232"/>
          </a:xfrm>
          <a:prstGeom prst="rect">
            <a:avLst/>
          </a:prstGeom>
          <a:noFill/>
          <a:ln/>
        </p:spPr>
        <p:txBody>
          <a:bodyPr wrap="square" lIns="0" tIns="0" rIns="0" bIns="0" rtlCol="0" anchor="ctr">
            <a:normAutofit/>
          </a:bodyPr>
          <a:lstStyle/>
          <a:p>
            <a:pPr indent="0" marL="0">
              <a:buNone/>
            </a:pPr>
            <a:r>
              <a:rPr lang="en-US" sz="1900" b="1" dirty="0">
                <a:solidFill>
                  <a:srgbClr val="1F2937"/>
                </a:solidFill>
              </a:rPr>
              <a:t>Which property factors should the seller prioritize to maximize resale value?</a:t>
            </a:r>
            <a:endParaRPr lang="en-US" sz="1900" dirty="0"/>
          </a:p>
        </p:txBody>
      </p:sp>
      <p:sp>
        <p:nvSpPr>
          <p:cNvPr id="11" name="Text 8"/>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DATA FOUNDATION</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What data did we use?</a:t>
            </a:r>
            <a:endParaRPr lang="en-US" sz="3300" dirty="0"/>
          </a:p>
        </p:txBody>
      </p:sp>
      <p:sp>
        <p:nvSpPr>
          <p:cNvPr id="5" name="Text 3"/>
          <p:cNvSpPr/>
          <p:nvPr/>
        </p:nvSpPr>
        <p:spPr>
          <a:xfrm>
            <a:off x="603504" y="1325880"/>
            <a:ext cx="7589520" cy="502920"/>
          </a:xfrm>
          <a:prstGeom prst="rect">
            <a:avLst/>
          </a:prstGeom>
          <a:noFill/>
          <a:ln/>
        </p:spPr>
        <p:txBody>
          <a:bodyPr wrap="square" lIns="254" tIns="254" rIns="254" bIns="254" rtlCol="0" anchor="ctr">
            <a:normAutofit/>
          </a:bodyPr>
          <a:lstStyle/>
          <a:p>
            <a:pPr indent="0" marL="0">
              <a:buNone/>
            </a:pPr>
            <a:r>
              <a:rPr lang="en-US" sz="1700" dirty="0">
                <a:solidFill>
                  <a:srgbClr val="1F2937"/>
                </a:solidFill>
                <a:latin typeface="Aptos" pitchFamily="34" charset="0"/>
                <a:ea typeface="Aptos" pitchFamily="34" charset="-122"/>
                <a:cs typeface="Aptos" pitchFamily="34" charset="-120"/>
              </a:rPr>
              <a:t>King County housing data: transactions, property characteristics, quality, location, and sale price.</a:t>
            </a:r>
            <a:endParaRPr lang="en-US" sz="1700" dirty="0"/>
          </a:p>
        </p:txBody>
      </p:sp>
      <p:sp>
        <p:nvSpPr>
          <p:cNvPr id="6" name="Text 4"/>
          <p:cNvSpPr/>
          <p:nvPr/>
        </p:nvSpPr>
        <p:spPr>
          <a:xfrm>
            <a:off x="685800" y="2148840"/>
            <a:ext cx="237744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21,597</a:t>
            </a:r>
            <a:endParaRPr lang="en-US" sz="2600" dirty="0"/>
          </a:p>
        </p:txBody>
      </p:sp>
      <p:sp>
        <p:nvSpPr>
          <p:cNvPr id="7" name="Shape 5"/>
          <p:cNvSpPr/>
          <p:nvPr/>
        </p:nvSpPr>
        <p:spPr>
          <a:xfrm>
            <a:off x="685800" y="2697480"/>
            <a:ext cx="731520" cy="0"/>
          </a:xfrm>
          <a:prstGeom prst="line">
            <a:avLst/>
          </a:prstGeom>
          <a:noFill/>
          <a:ln w="31750">
            <a:solidFill>
              <a:srgbClr val="C9A227"/>
            </a:solidFill>
            <a:prstDash val="solid"/>
          </a:ln>
        </p:spPr>
      </p:sp>
      <p:sp>
        <p:nvSpPr>
          <p:cNvPr id="8" name="Text 6"/>
          <p:cNvSpPr/>
          <p:nvPr/>
        </p:nvSpPr>
        <p:spPr>
          <a:xfrm>
            <a:off x="685800" y="2862072"/>
            <a:ext cx="237744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house sale records</a:t>
            </a:r>
            <a:endParaRPr lang="en-US" sz="1250" dirty="0"/>
          </a:p>
        </p:txBody>
      </p:sp>
      <p:sp>
        <p:nvSpPr>
          <p:cNvPr id="9" name="Text 7"/>
          <p:cNvSpPr/>
          <p:nvPr/>
        </p:nvSpPr>
        <p:spPr>
          <a:xfrm>
            <a:off x="3337560" y="2148840"/>
            <a:ext cx="246888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21</a:t>
            </a:r>
            <a:endParaRPr lang="en-US" sz="2600" dirty="0"/>
          </a:p>
        </p:txBody>
      </p:sp>
      <p:sp>
        <p:nvSpPr>
          <p:cNvPr id="10" name="Shape 8"/>
          <p:cNvSpPr/>
          <p:nvPr/>
        </p:nvSpPr>
        <p:spPr>
          <a:xfrm>
            <a:off x="3337560" y="2697480"/>
            <a:ext cx="731520" cy="0"/>
          </a:xfrm>
          <a:prstGeom prst="line">
            <a:avLst/>
          </a:prstGeom>
          <a:noFill/>
          <a:ln w="31750">
            <a:solidFill>
              <a:srgbClr val="C9A227"/>
            </a:solidFill>
            <a:prstDash val="solid"/>
          </a:ln>
        </p:spPr>
      </p:sp>
      <p:sp>
        <p:nvSpPr>
          <p:cNvPr id="11" name="Text 9"/>
          <p:cNvSpPr/>
          <p:nvPr/>
        </p:nvSpPr>
        <p:spPr>
          <a:xfrm>
            <a:off x="3337560" y="2862072"/>
            <a:ext cx="246888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variables describing each property</a:t>
            </a:r>
            <a:endParaRPr lang="en-US" sz="1250" dirty="0"/>
          </a:p>
        </p:txBody>
      </p:sp>
      <p:sp>
        <p:nvSpPr>
          <p:cNvPr id="12" name="Text 10"/>
          <p:cNvSpPr/>
          <p:nvPr/>
        </p:nvSpPr>
        <p:spPr>
          <a:xfrm>
            <a:off x="5806440" y="2148840"/>
            <a:ext cx="205740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price</a:t>
            </a:r>
            <a:endParaRPr lang="en-US" sz="2600" dirty="0"/>
          </a:p>
        </p:txBody>
      </p:sp>
      <p:sp>
        <p:nvSpPr>
          <p:cNvPr id="13" name="Shape 11"/>
          <p:cNvSpPr/>
          <p:nvPr/>
        </p:nvSpPr>
        <p:spPr>
          <a:xfrm>
            <a:off x="5806440" y="2697480"/>
            <a:ext cx="731520" cy="0"/>
          </a:xfrm>
          <a:prstGeom prst="line">
            <a:avLst/>
          </a:prstGeom>
          <a:noFill/>
          <a:ln w="31750">
            <a:solidFill>
              <a:srgbClr val="C9A227"/>
            </a:solidFill>
            <a:prstDash val="solid"/>
          </a:ln>
        </p:spPr>
      </p:sp>
      <p:sp>
        <p:nvSpPr>
          <p:cNvPr id="14" name="Text 12"/>
          <p:cNvSpPr/>
          <p:nvPr/>
        </p:nvSpPr>
        <p:spPr>
          <a:xfrm>
            <a:off x="5806440" y="2862072"/>
            <a:ext cx="205740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target variable for the analysis</a:t>
            </a:r>
            <a:endParaRPr lang="en-US" sz="1250" dirty="0"/>
          </a:p>
        </p:txBody>
      </p:sp>
      <p:sp>
        <p:nvSpPr>
          <p:cNvPr id="15" name="Shape 13"/>
          <p:cNvSpPr/>
          <p:nvPr/>
        </p:nvSpPr>
        <p:spPr>
          <a:xfrm>
            <a:off x="685800" y="3703320"/>
            <a:ext cx="7040880" cy="0"/>
          </a:xfrm>
          <a:prstGeom prst="line">
            <a:avLst/>
          </a:prstGeom>
          <a:noFill/>
          <a:ln w="15240">
            <a:solidFill>
              <a:srgbClr val="D8D1C4"/>
            </a:solidFill>
            <a:prstDash val="solid"/>
          </a:ln>
        </p:spPr>
      </p:sp>
      <p:sp>
        <p:nvSpPr>
          <p:cNvPr id="16" name="Text 14"/>
          <p:cNvSpPr/>
          <p:nvPr/>
        </p:nvSpPr>
        <p:spPr>
          <a:xfrm>
            <a:off x="685800" y="4041648"/>
            <a:ext cx="4206240" cy="310896"/>
          </a:xfrm>
          <a:prstGeom prst="rect">
            <a:avLst/>
          </a:prstGeom>
          <a:noFill/>
          <a:ln/>
        </p:spPr>
        <p:txBody>
          <a:bodyPr wrap="square" lIns="0" tIns="0" rIns="0" bIns="0" rtlCol="0" anchor="ctr"/>
          <a:lstStyle/>
          <a:p>
            <a:pPr indent="0" marL="0">
              <a:buNone/>
            </a:pPr>
            <a:r>
              <a:rPr lang="en-US" sz="1800" b="1" dirty="0">
                <a:solidFill>
                  <a:srgbClr val="0D1B2A"/>
                </a:solidFill>
              </a:rPr>
              <a:t>Data preparation decisions</a:t>
            </a:r>
            <a:endParaRPr lang="en-US" sz="1800" dirty="0"/>
          </a:p>
        </p:txBody>
      </p:sp>
      <p:sp>
        <p:nvSpPr>
          <p:cNvPr id="17" name="Text 15"/>
          <p:cNvSpPr/>
          <p:nvPr/>
        </p:nvSpPr>
        <p:spPr>
          <a:xfrm>
            <a:off x="932688" y="4553712"/>
            <a:ext cx="6949440" cy="1234440"/>
          </a:xfrm>
          <a:prstGeom prst="rect">
            <a:avLst/>
          </a:prstGeom>
          <a:noFill/>
          <a:ln/>
        </p:spPr>
        <p:txBody>
          <a:bodyPr wrap="square" rtlCol="0" anchor="ctr">
            <a:normAutofit/>
          </a:bodyPr>
          <a:lstStyle/>
          <a:p>
            <a:pPr marL="152400" indent="-152400">
              <a:buSzPct val="100000"/>
              <a:buChar char="•"/>
            </a:pPr>
            <a:r>
              <a:rPr lang="en-US" sz="1450" dirty="0">
                <a:solidFill>
                  <a:srgbClr val="1F2937"/>
                </a:solidFill>
                <a:latin typeface="Aptos" pitchFamily="34" charset="0"/>
                <a:ea typeface="Aptos" pitchFamily="34" charset="-122"/>
                <a:cs typeface="Aptos" pitchFamily="34" charset="-120"/>
              </a:rPr>
              <a:t>Checked missing values, duplicates, data types, and summary statistics</a:t>
            </a:r>
            <a:endParaRPr lang="en-US" sz="1450" dirty="0"/>
          </a:p>
          <a:p>
            <a:pPr marL="152400" indent="-152400">
              <a:buSzPct val="100000"/>
              <a:buChar char="•"/>
            </a:pPr>
            <a:r>
              <a:rPr lang="en-US" sz="1450" dirty="0">
                <a:solidFill>
                  <a:srgbClr val="1F2937"/>
                </a:solidFill>
                <a:latin typeface="Aptos" pitchFamily="34" charset="0"/>
                <a:ea typeface="Aptos" pitchFamily="34" charset="-122"/>
                <a:cs typeface="Aptos" pitchFamily="34" charset="-120"/>
              </a:rPr>
              <a:t>Converted date to datetime and zipcode to categorical</a:t>
            </a:r>
            <a:endParaRPr lang="en-US" sz="1450" dirty="0"/>
          </a:p>
          <a:p>
            <a:pPr marL="152400" indent="-152400">
              <a:buSzPct val="100000"/>
              <a:buChar char="•"/>
            </a:pPr>
            <a:r>
              <a:rPr lang="en-US" sz="1450" dirty="0">
                <a:solidFill>
                  <a:srgbClr val="1F2937"/>
                </a:solidFill>
                <a:latin typeface="Aptos" pitchFamily="34" charset="0"/>
                <a:ea typeface="Aptos" pitchFamily="34" charset="-122"/>
                <a:cs typeface="Aptos" pitchFamily="34" charset="-120"/>
              </a:rPr>
              <a:t>Kept unknown renovation values separate instead of forcing them to zero</a:t>
            </a:r>
            <a:endParaRPr lang="en-US" sz="1450" dirty="0"/>
          </a:p>
        </p:txBody>
      </p:sp>
      <p:pic>
        <p:nvPicPr>
          <p:cNvPr id="18" name="Image 0" descr="/mnt/data/interior_side.jpg">    </p:cNvPr>
          <p:cNvPicPr>
            <a:picLocks noChangeAspect="1"/>
          </p:cNvPicPr>
          <p:nvPr/>
        </p:nvPicPr>
        <p:blipFill>
          <a:blip r:embed="rId1"/>
          <a:stretch>
            <a:fillRect/>
          </a:stretch>
        </p:blipFill>
        <p:spPr>
          <a:xfrm>
            <a:off x="8458200" y="1481328"/>
            <a:ext cx="2971800" cy="4343400"/>
          </a:xfrm>
          <a:prstGeom prst="rect">
            <a:avLst/>
          </a:prstGeom>
        </p:spPr>
      </p:pic>
      <p:sp>
        <p:nvSpPr>
          <p:cNvPr id="19" name="Text 16"/>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HYPOTHESES</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What did we test?</a:t>
            </a:r>
            <a:endParaRPr lang="en-US" sz="3300" dirty="0"/>
          </a:p>
        </p:txBody>
      </p:sp>
      <p:sp>
        <p:nvSpPr>
          <p:cNvPr id="5" name="Text 3"/>
          <p:cNvSpPr/>
          <p:nvPr/>
        </p:nvSpPr>
        <p:spPr>
          <a:xfrm>
            <a:off x="685800" y="1600200"/>
            <a:ext cx="640080" cy="310896"/>
          </a:xfrm>
          <a:prstGeom prst="rect">
            <a:avLst/>
          </a:prstGeom>
          <a:noFill/>
          <a:ln/>
        </p:spPr>
        <p:txBody>
          <a:bodyPr wrap="square" lIns="0" tIns="0" rIns="0" bIns="0" rtlCol="0" anchor="ctr"/>
          <a:lstStyle/>
          <a:p>
            <a:pPr indent="0" marL="0">
              <a:buNone/>
            </a:pPr>
            <a:r>
              <a:rPr lang="en-US" sz="1900" b="1" dirty="0">
                <a:solidFill>
                  <a:srgbClr val="C9A227"/>
                </a:solidFill>
              </a:rPr>
              <a:t>H1</a:t>
            </a:r>
            <a:endParaRPr lang="en-US" sz="1900" dirty="0"/>
          </a:p>
        </p:txBody>
      </p:sp>
      <p:sp>
        <p:nvSpPr>
          <p:cNvPr id="6" name="Text 4"/>
          <p:cNvSpPr/>
          <p:nvPr/>
        </p:nvSpPr>
        <p:spPr>
          <a:xfrm>
            <a:off x="1508760" y="1581912"/>
            <a:ext cx="2011680" cy="329184"/>
          </a:xfrm>
          <a:prstGeom prst="rect">
            <a:avLst/>
          </a:prstGeom>
          <a:noFill/>
          <a:ln/>
        </p:spPr>
        <p:txBody>
          <a:bodyPr wrap="square" lIns="0" tIns="0" rIns="0" bIns="0" rtlCol="0" anchor="ctr"/>
          <a:lstStyle/>
          <a:p>
            <a:pPr indent="0" marL="0">
              <a:buNone/>
            </a:pPr>
            <a:r>
              <a:rPr lang="en-US" sz="2000" b="1" dirty="0">
                <a:solidFill>
                  <a:srgbClr val="0D1B2A"/>
                </a:solidFill>
              </a:rPr>
              <a:t>Location</a:t>
            </a:r>
            <a:endParaRPr lang="en-US" sz="2000" dirty="0"/>
          </a:p>
        </p:txBody>
      </p:sp>
      <p:sp>
        <p:nvSpPr>
          <p:cNvPr id="7" name="Text 5"/>
          <p:cNvSpPr/>
          <p:nvPr/>
        </p:nvSpPr>
        <p:spPr>
          <a:xfrm>
            <a:off x="3657600" y="1572768"/>
            <a:ext cx="7132320" cy="402336"/>
          </a:xfrm>
          <a:prstGeom prst="rect">
            <a:avLst/>
          </a:prstGeom>
          <a:noFill/>
          <a:ln/>
        </p:spPr>
        <p:txBody>
          <a:bodyPr wrap="square" lIns="0" tIns="0" rIns="0" bIns="0" rtlCol="0" anchor="ctr">
            <a:normAutofit/>
          </a:bodyPr>
          <a:lstStyle/>
          <a:p>
            <a:pPr indent="0" marL="0">
              <a:buNone/>
            </a:pPr>
            <a:r>
              <a:rPr lang="en-US" sz="1550" dirty="0">
                <a:solidFill>
                  <a:srgbClr val="1F2937"/>
                </a:solidFill>
              </a:rPr>
              <a:t>Top ZIP codes, waterfront access, and better views are associated with higher prices.</a:t>
            </a:r>
            <a:endParaRPr lang="en-US" sz="1550" dirty="0"/>
          </a:p>
        </p:txBody>
      </p:sp>
      <p:sp>
        <p:nvSpPr>
          <p:cNvPr id="8" name="Shape 6"/>
          <p:cNvSpPr/>
          <p:nvPr/>
        </p:nvSpPr>
        <p:spPr>
          <a:xfrm>
            <a:off x="685800" y="2203704"/>
            <a:ext cx="9784080" cy="0"/>
          </a:xfrm>
          <a:prstGeom prst="line">
            <a:avLst/>
          </a:prstGeom>
          <a:noFill/>
          <a:ln w="12700">
            <a:solidFill>
              <a:srgbClr val="E4DED2"/>
            </a:solidFill>
            <a:prstDash val="solid"/>
          </a:ln>
        </p:spPr>
      </p:sp>
      <p:sp>
        <p:nvSpPr>
          <p:cNvPr id="9" name="Text 7"/>
          <p:cNvSpPr/>
          <p:nvPr/>
        </p:nvSpPr>
        <p:spPr>
          <a:xfrm>
            <a:off x="685800" y="2679192"/>
            <a:ext cx="640080" cy="310896"/>
          </a:xfrm>
          <a:prstGeom prst="rect">
            <a:avLst/>
          </a:prstGeom>
          <a:noFill/>
          <a:ln/>
        </p:spPr>
        <p:txBody>
          <a:bodyPr wrap="square" lIns="0" tIns="0" rIns="0" bIns="0" rtlCol="0" anchor="ctr"/>
          <a:lstStyle/>
          <a:p>
            <a:pPr indent="0" marL="0">
              <a:buNone/>
            </a:pPr>
            <a:r>
              <a:rPr lang="en-US" sz="1900" b="1" dirty="0">
                <a:solidFill>
                  <a:srgbClr val="C9A227"/>
                </a:solidFill>
              </a:rPr>
              <a:t>H2</a:t>
            </a:r>
            <a:endParaRPr lang="en-US" sz="1900" dirty="0"/>
          </a:p>
        </p:txBody>
      </p:sp>
      <p:sp>
        <p:nvSpPr>
          <p:cNvPr id="10" name="Text 8"/>
          <p:cNvSpPr/>
          <p:nvPr/>
        </p:nvSpPr>
        <p:spPr>
          <a:xfrm>
            <a:off x="1508760" y="2660904"/>
            <a:ext cx="2011680" cy="329184"/>
          </a:xfrm>
          <a:prstGeom prst="rect">
            <a:avLst/>
          </a:prstGeom>
          <a:noFill/>
          <a:ln/>
        </p:spPr>
        <p:txBody>
          <a:bodyPr wrap="square" lIns="0" tIns="0" rIns="0" bIns="0" rtlCol="0" anchor="ctr"/>
          <a:lstStyle/>
          <a:p>
            <a:pPr indent="0" marL="0">
              <a:buNone/>
            </a:pPr>
            <a:r>
              <a:rPr lang="en-US" sz="2000" b="1" dirty="0">
                <a:solidFill>
                  <a:srgbClr val="0D1B2A"/>
                </a:solidFill>
              </a:rPr>
              <a:t>Renovation</a:t>
            </a:r>
            <a:endParaRPr lang="en-US" sz="2000" dirty="0"/>
          </a:p>
        </p:txBody>
      </p:sp>
      <p:sp>
        <p:nvSpPr>
          <p:cNvPr id="11" name="Text 9"/>
          <p:cNvSpPr/>
          <p:nvPr/>
        </p:nvSpPr>
        <p:spPr>
          <a:xfrm>
            <a:off x="3657600" y="2651760"/>
            <a:ext cx="7132320" cy="402336"/>
          </a:xfrm>
          <a:prstGeom prst="rect">
            <a:avLst/>
          </a:prstGeom>
          <a:noFill/>
          <a:ln/>
        </p:spPr>
        <p:txBody>
          <a:bodyPr wrap="square" lIns="0" tIns="0" rIns="0" bIns="0" rtlCol="0" anchor="ctr">
            <a:normAutofit/>
          </a:bodyPr>
          <a:lstStyle/>
          <a:p>
            <a:pPr indent="0" marL="0">
              <a:buNone/>
            </a:pPr>
            <a:r>
              <a:rPr lang="en-US" sz="1550" dirty="0">
                <a:solidFill>
                  <a:srgbClr val="1F2937"/>
                </a:solidFill>
              </a:rPr>
              <a:t>Renovated homes achieve higher selling prices than non-renovated homes.</a:t>
            </a:r>
            <a:endParaRPr lang="en-US" sz="1550" dirty="0"/>
          </a:p>
        </p:txBody>
      </p:sp>
      <p:sp>
        <p:nvSpPr>
          <p:cNvPr id="12" name="Shape 10"/>
          <p:cNvSpPr/>
          <p:nvPr/>
        </p:nvSpPr>
        <p:spPr>
          <a:xfrm>
            <a:off x="685800" y="3282696"/>
            <a:ext cx="9784080" cy="0"/>
          </a:xfrm>
          <a:prstGeom prst="line">
            <a:avLst/>
          </a:prstGeom>
          <a:noFill/>
          <a:ln w="12700">
            <a:solidFill>
              <a:srgbClr val="E4DED2"/>
            </a:solidFill>
            <a:prstDash val="solid"/>
          </a:ln>
        </p:spPr>
      </p:sp>
      <p:sp>
        <p:nvSpPr>
          <p:cNvPr id="13" name="Text 11"/>
          <p:cNvSpPr/>
          <p:nvPr/>
        </p:nvSpPr>
        <p:spPr>
          <a:xfrm>
            <a:off x="685800" y="3758184"/>
            <a:ext cx="640080" cy="310896"/>
          </a:xfrm>
          <a:prstGeom prst="rect">
            <a:avLst/>
          </a:prstGeom>
          <a:noFill/>
          <a:ln/>
        </p:spPr>
        <p:txBody>
          <a:bodyPr wrap="square" lIns="0" tIns="0" rIns="0" bIns="0" rtlCol="0" anchor="ctr"/>
          <a:lstStyle/>
          <a:p>
            <a:pPr indent="0" marL="0">
              <a:buNone/>
            </a:pPr>
            <a:r>
              <a:rPr lang="en-US" sz="1900" b="1" dirty="0">
                <a:solidFill>
                  <a:srgbClr val="C9A227"/>
                </a:solidFill>
              </a:rPr>
              <a:t>H3</a:t>
            </a:r>
            <a:endParaRPr lang="en-US" sz="1900" dirty="0"/>
          </a:p>
        </p:txBody>
      </p:sp>
      <p:sp>
        <p:nvSpPr>
          <p:cNvPr id="14" name="Text 12"/>
          <p:cNvSpPr/>
          <p:nvPr/>
        </p:nvSpPr>
        <p:spPr>
          <a:xfrm>
            <a:off x="1508760" y="3739896"/>
            <a:ext cx="2011680" cy="329184"/>
          </a:xfrm>
          <a:prstGeom prst="rect">
            <a:avLst/>
          </a:prstGeom>
          <a:noFill/>
          <a:ln/>
        </p:spPr>
        <p:txBody>
          <a:bodyPr wrap="square" lIns="0" tIns="0" rIns="0" bIns="0" rtlCol="0" anchor="ctr"/>
          <a:lstStyle/>
          <a:p>
            <a:pPr indent="0" marL="0">
              <a:buNone/>
            </a:pPr>
            <a:r>
              <a:rPr lang="en-US" sz="2000" b="1" dirty="0">
                <a:solidFill>
                  <a:srgbClr val="0D1B2A"/>
                </a:solidFill>
              </a:rPr>
              <a:t>Grade</a:t>
            </a:r>
            <a:endParaRPr lang="en-US" sz="2000" dirty="0"/>
          </a:p>
        </p:txBody>
      </p:sp>
      <p:sp>
        <p:nvSpPr>
          <p:cNvPr id="15" name="Text 13"/>
          <p:cNvSpPr/>
          <p:nvPr/>
        </p:nvSpPr>
        <p:spPr>
          <a:xfrm>
            <a:off x="3657600" y="3730752"/>
            <a:ext cx="7132320" cy="402336"/>
          </a:xfrm>
          <a:prstGeom prst="rect">
            <a:avLst/>
          </a:prstGeom>
          <a:noFill/>
          <a:ln/>
        </p:spPr>
        <p:txBody>
          <a:bodyPr wrap="square" lIns="0" tIns="0" rIns="0" bIns="0" rtlCol="0" anchor="ctr">
            <a:normAutofit/>
          </a:bodyPr>
          <a:lstStyle/>
          <a:p>
            <a:pPr indent="0" marL="0">
              <a:buNone/>
            </a:pPr>
            <a:r>
              <a:rPr lang="en-US" sz="1550" dirty="0">
                <a:solidFill>
                  <a:srgbClr val="1F2937"/>
                </a:solidFill>
              </a:rPr>
              <a:t>Higher construction quality is associated with higher selling prices.</a:t>
            </a:r>
            <a:endParaRPr lang="en-US" sz="1550" dirty="0"/>
          </a:p>
        </p:txBody>
      </p:sp>
      <p:sp>
        <p:nvSpPr>
          <p:cNvPr id="16" name="Shape 14"/>
          <p:cNvSpPr/>
          <p:nvPr/>
        </p:nvSpPr>
        <p:spPr>
          <a:xfrm>
            <a:off x="685800" y="4361688"/>
            <a:ext cx="9784080" cy="0"/>
          </a:xfrm>
          <a:prstGeom prst="line">
            <a:avLst/>
          </a:prstGeom>
          <a:noFill/>
          <a:ln w="12700">
            <a:solidFill>
              <a:srgbClr val="E4DED2"/>
            </a:solidFill>
            <a:prstDash val="solid"/>
          </a:ln>
        </p:spPr>
      </p:sp>
      <p:sp>
        <p:nvSpPr>
          <p:cNvPr id="17" name="Text 15"/>
          <p:cNvSpPr/>
          <p:nvPr/>
        </p:nvSpPr>
        <p:spPr>
          <a:xfrm>
            <a:off x="685800" y="4837176"/>
            <a:ext cx="640080" cy="310896"/>
          </a:xfrm>
          <a:prstGeom prst="rect">
            <a:avLst/>
          </a:prstGeom>
          <a:noFill/>
          <a:ln/>
        </p:spPr>
        <p:txBody>
          <a:bodyPr wrap="square" lIns="0" tIns="0" rIns="0" bIns="0" rtlCol="0" anchor="ctr"/>
          <a:lstStyle/>
          <a:p>
            <a:pPr indent="0" marL="0">
              <a:buNone/>
            </a:pPr>
            <a:r>
              <a:rPr lang="en-US" sz="1900" b="1" dirty="0">
                <a:solidFill>
                  <a:srgbClr val="C9A227"/>
                </a:solidFill>
              </a:rPr>
              <a:t>H4</a:t>
            </a:r>
            <a:endParaRPr lang="en-US" sz="1900" dirty="0"/>
          </a:p>
        </p:txBody>
      </p:sp>
      <p:sp>
        <p:nvSpPr>
          <p:cNvPr id="18" name="Text 16"/>
          <p:cNvSpPr/>
          <p:nvPr/>
        </p:nvSpPr>
        <p:spPr>
          <a:xfrm>
            <a:off x="1508760" y="4818888"/>
            <a:ext cx="2011680" cy="329184"/>
          </a:xfrm>
          <a:prstGeom prst="rect">
            <a:avLst/>
          </a:prstGeom>
          <a:noFill/>
          <a:ln/>
        </p:spPr>
        <p:txBody>
          <a:bodyPr wrap="square" lIns="0" tIns="0" rIns="0" bIns="0" rtlCol="0" anchor="ctr"/>
          <a:lstStyle/>
          <a:p>
            <a:pPr indent="0" marL="0">
              <a:buNone/>
            </a:pPr>
            <a:r>
              <a:rPr lang="en-US" sz="2000" b="1" dirty="0">
                <a:solidFill>
                  <a:srgbClr val="0D1B2A"/>
                </a:solidFill>
              </a:rPr>
              <a:t>Seasonality</a:t>
            </a:r>
            <a:endParaRPr lang="en-US" sz="2000" dirty="0"/>
          </a:p>
        </p:txBody>
      </p:sp>
      <p:sp>
        <p:nvSpPr>
          <p:cNvPr id="19" name="Text 17"/>
          <p:cNvSpPr/>
          <p:nvPr/>
        </p:nvSpPr>
        <p:spPr>
          <a:xfrm>
            <a:off x="3657600" y="4809744"/>
            <a:ext cx="7132320" cy="402336"/>
          </a:xfrm>
          <a:prstGeom prst="rect">
            <a:avLst/>
          </a:prstGeom>
          <a:noFill/>
          <a:ln/>
        </p:spPr>
        <p:txBody>
          <a:bodyPr wrap="square" lIns="0" tIns="0" rIns="0" bIns="0" rtlCol="0" anchor="ctr">
            <a:normAutofit/>
          </a:bodyPr>
          <a:lstStyle/>
          <a:p>
            <a:pPr indent="0" marL="0">
              <a:buNone/>
            </a:pPr>
            <a:r>
              <a:rPr lang="en-US" sz="1550" dirty="0">
                <a:solidFill>
                  <a:srgbClr val="1F2937"/>
                </a:solidFill>
              </a:rPr>
              <a:t>Spring and summer sales achieve higher prices than fall and winter.</a:t>
            </a:r>
            <a:endParaRPr lang="en-US" sz="1550" dirty="0"/>
          </a:p>
        </p:txBody>
      </p:sp>
      <p:sp>
        <p:nvSpPr>
          <p:cNvPr id="20" name="Shape 18"/>
          <p:cNvSpPr/>
          <p:nvPr/>
        </p:nvSpPr>
        <p:spPr>
          <a:xfrm>
            <a:off x="685800" y="5440680"/>
            <a:ext cx="9784080" cy="0"/>
          </a:xfrm>
          <a:prstGeom prst="line">
            <a:avLst/>
          </a:prstGeom>
          <a:noFill/>
          <a:ln w="12700">
            <a:solidFill>
              <a:srgbClr val="E4DED2"/>
            </a:solidFill>
            <a:prstDash val="solid"/>
          </a:ln>
        </p:spPr>
      </p:sp>
      <p:sp>
        <p:nvSpPr>
          <p:cNvPr id="21" name="Text 19"/>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8092440" cy="73152"/>
          </a:xfrm>
          <a:prstGeom prst="rect">
            <a:avLst/>
          </a:prstGeom>
          <a:solidFill>
            <a:srgbClr val="C9A227"/>
          </a:solidFill>
          <a:ln w="12700">
            <a:solidFill>
              <a:srgbClr val="C9A227"/>
            </a:solidFill>
            <a:prstDash val="solid"/>
          </a:ln>
        </p:spPr>
      </p:sp>
      <p:pic>
        <p:nvPicPr>
          <p:cNvPr id="3" name="Image 0" descr="/mnt/data/mercer_side_tint.jpg">    </p:cNvPr>
          <p:cNvPicPr>
            <a:picLocks noChangeAspect="1"/>
          </p:cNvPicPr>
          <p:nvPr/>
        </p:nvPicPr>
        <p:blipFill>
          <a:blip r:embed="rId1"/>
          <a:stretch>
            <a:fillRect/>
          </a:stretch>
        </p:blipFill>
        <p:spPr>
          <a:xfrm>
            <a:off x="8092440" y="0"/>
            <a:ext cx="4096512" cy="6858000"/>
          </a:xfrm>
          <a:prstGeom prst="rect">
            <a:avLst/>
          </a:prstGeom>
        </p:spPr>
      </p:pic>
      <p:sp>
        <p:nvSpPr>
          <p:cNvPr id="4"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FINDING 1</a:t>
            </a:r>
            <a:endParaRPr lang="en-US" sz="850" dirty="0"/>
          </a:p>
        </p:txBody>
      </p:sp>
      <p:sp>
        <p:nvSpPr>
          <p:cNvPr id="5"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Location creates the largest price gap</a:t>
            </a:r>
            <a:endParaRPr lang="en-US" sz="3300" dirty="0"/>
          </a:p>
        </p:txBody>
      </p:sp>
      <p:sp>
        <p:nvSpPr>
          <p:cNvPr id="6" name="Text 3"/>
          <p:cNvSpPr/>
          <p:nvPr/>
        </p:nvSpPr>
        <p:spPr>
          <a:xfrm>
            <a:off x="603504" y="1325880"/>
            <a:ext cx="6492240" cy="502920"/>
          </a:xfrm>
          <a:prstGeom prst="rect">
            <a:avLst/>
          </a:prstGeom>
          <a:noFill/>
          <a:ln/>
        </p:spPr>
        <p:txBody>
          <a:bodyPr wrap="square" lIns="254" tIns="254" rIns="254" bIns="254" rtlCol="0" anchor="ctr">
            <a:normAutofit/>
          </a:bodyPr>
          <a:lstStyle/>
          <a:p>
            <a:pPr indent="0" marL="0">
              <a:buNone/>
            </a:pPr>
            <a:r>
              <a:rPr lang="en-US" sz="1700" dirty="0">
                <a:solidFill>
                  <a:srgbClr val="1F2937"/>
                </a:solidFill>
                <a:latin typeface="Aptos" pitchFamily="34" charset="0"/>
                <a:ea typeface="Aptos" pitchFamily="34" charset="-122"/>
                <a:cs typeface="Aptos" pitchFamily="34" charset="-120"/>
              </a:rPr>
              <a:t>Neighborhood, water access, and view quality are all associated with higher median prices.</a:t>
            </a:r>
            <a:endParaRPr lang="en-US" sz="1700" dirty="0"/>
          </a:p>
        </p:txBody>
      </p:sp>
      <p:sp>
        <p:nvSpPr>
          <p:cNvPr id="7" name="Text 4"/>
          <p:cNvSpPr/>
          <p:nvPr/>
        </p:nvSpPr>
        <p:spPr>
          <a:xfrm>
            <a:off x="685800" y="2377440"/>
            <a:ext cx="224028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$1.895M</a:t>
            </a:r>
            <a:endParaRPr lang="en-US" sz="2600" dirty="0"/>
          </a:p>
        </p:txBody>
      </p:sp>
      <p:sp>
        <p:nvSpPr>
          <p:cNvPr id="8" name="Shape 5"/>
          <p:cNvSpPr/>
          <p:nvPr/>
        </p:nvSpPr>
        <p:spPr>
          <a:xfrm>
            <a:off x="685800" y="2926080"/>
            <a:ext cx="731520" cy="0"/>
          </a:xfrm>
          <a:prstGeom prst="line">
            <a:avLst/>
          </a:prstGeom>
          <a:noFill/>
          <a:ln w="31750">
            <a:solidFill>
              <a:srgbClr val="C9A227"/>
            </a:solidFill>
            <a:prstDash val="solid"/>
          </a:ln>
        </p:spPr>
      </p:sp>
      <p:sp>
        <p:nvSpPr>
          <p:cNvPr id="9" name="Text 6"/>
          <p:cNvSpPr/>
          <p:nvPr/>
        </p:nvSpPr>
        <p:spPr>
          <a:xfrm>
            <a:off x="685800" y="3090672"/>
            <a:ext cx="224028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in top ZIP code 98039</a:t>
            </a:r>
            <a:endParaRPr lang="en-US" sz="1250" dirty="0"/>
          </a:p>
        </p:txBody>
      </p:sp>
      <p:sp>
        <p:nvSpPr>
          <p:cNvPr id="10" name="Text 7"/>
          <p:cNvSpPr/>
          <p:nvPr/>
        </p:nvSpPr>
        <p:spPr>
          <a:xfrm>
            <a:off x="3063240" y="2377440"/>
            <a:ext cx="224028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$235k</a:t>
            </a:r>
            <a:endParaRPr lang="en-US" sz="2600" dirty="0"/>
          </a:p>
        </p:txBody>
      </p:sp>
      <p:sp>
        <p:nvSpPr>
          <p:cNvPr id="11" name="Shape 8"/>
          <p:cNvSpPr/>
          <p:nvPr/>
        </p:nvSpPr>
        <p:spPr>
          <a:xfrm>
            <a:off x="3063240" y="2926080"/>
            <a:ext cx="731520" cy="0"/>
          </a:xfrm>
          <a:prstGeom prst="line">
            <a:avLst/>
          </a:prstGeom>
          <a:noFill/>
          <a:ln w="31750">
            <a:solidFill>
              <a:srgbClr val="C9A227"/>
            </a:solidFill>
            <a:prstDash val="solid"/>
          </a:ln>
        </p:spPr>
      </p:sp>
      <p:sp>
        <p:nvSpPr>
          <p:cNvPr id="12" name="Text 9"/>
          <p:cNvSpPr/>
          <p:nvPr/>
        </p:nvSpPr>
        <p:spPr>
          <a:xfrm>
            <a:off x="3063240" y="3090672"/>
            <a:ext cx="224028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in lowest ZIP code 98168</a:t>
            </a:r>
            <a:endParaRPr lang="en-US" sz="1250" dirty="0"/>
          </a:p>
        </p:txBody>
      </p:sp>
      <p:sp>
        <p:nvSpPr>
          <p:cNvPr id="13" name="Text 10"/>
          <p:cNvSpPr/>
          <p:nvPr/>
        </p:nvSpPr>
        <p:spPr>
          <a:xfrm>
            <a:off x="5440680" y="2377440"/>
            <a:ext cx="233172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3.4×</a:t>
            </a:r>
            <a:endParaRPr lang="en-US" sz="2600" dirty="0"/>
          </a:p>
        </p:txBody>
      </p:sp>
      <p:sp>
        <p:nvSpPr>
          <p:cNvPr id="14" name="Shape 11"/>
          <p:cNvSpPr/>
          <p:nvPr/>
        </p:nvSpPr>
        <p:spPr>
          <a:xfrm>
            <a:off x="5440680" y="2926080"/>
            <a:ext cx="731520" cy="0"/>
          </a:xfrm>
          <a:prstGeom prst="line">
            <a:avLst/>
          </a:prstGeom>
          <a:noFill/>
          <a:ln w="31750">
            <a:solidFill>
              <a:srgbClr val="C9A227"/>
            </a:solidFill>
            <a:prstDash val="solid"/>
          </a:ln>
        </p:spPr>
      </p:sp>
      <p:sp>
        <p:nvSpPr>
          <p:cNvPr id="15" name="Text 12"/>
          <p:cNvSpPr/>
          <p:nvPr/>
        </p:nvSpPr>
        <p:spPr>
          <a:xfrm>
            <a:off x="5440680" y="3090672"/>
            <a:ext cx="233172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waterfront median vs non-waterfront median</a:t>
            </a:r>
            <a:endParaRPr lang="en-US" sz="1250" dirty="0"/>
          </a:p>
        </p:txBody>
      </p:sp>
      <p:sp>
        <p:nvSpPr>
          <p:cNvPr id="16" name="Text 13"/>
          <p:cNvSpPr/>
          <p:nvPr/>
        </p:nvSpPr>
        <p:spPr>
          <a:xfrm>
            <a:off x="685800" y="4343400"/>
            <a:ext cx="2286000" cy="301752"/>
          </a:xfrm>
          <a:prstGeom prst="rect">
            <a:avLst/>
          </a:prstGeom>
          <a:noFill/>
          <a:ln/>
        </p:spPr>
        <p:txBody>
          <a:bodyPr wrap="square" lIns="0" tIns="0" rIns="0" bIns="0" rtlCol="0" anchor="ctr"/>
          <a:lstStyle/>
          <a:p>
            <a:pPr indent="0" marL="0">
              <a:buNone/>
            </a:pPr>
            <a:r>
              <a:rPr lang="en-US" sz="1800" b="1" dirty="0">
                <a:solidFill>
                  <a:srgbClr val="0D1B2A"/>
                </a:solidFill>
              </a:rPr>
              <a:t>Interpretation</a:t>
            </a:r>
            <a:endParaRPr lang="en-US" sz="1800" dirty="0"/>
          </a:p>
        </p:txBody>
      </p:sp>
      <p:sp>
        <p:nvSpPr>
          <p:cNvPr id="17" name="Text 14"/>
          <p:cNvSpPr/>
          <p:nvPr/>
        </p:nvSpPr>
        <p:spPr>
          <a:xfrm>
            <a:off x="685800" y="4773168"/>
            <a:ext cx="6583680" cy="731520"/>
          </a:xfrm>
          <a:prstGeom prst="rect">
            <a:avLst/>
          </a:prstGeom>
          <a:noFill/>
          <a:ln/>
        </p:spPr>
        <p:txBody>
          <a:bodyPr wrap="square" lIns="0" tIns="0" rIns="0" bIns="0" rtlCol="0" anchor="ctr">
            <a:normAutofit/>
          </a:bodyPr>
          <a:lstStyle/>
          <a:p>
            <a:pPr indent="0" marL="0">
              <a:buNone/>
            </a:pPr>
            <a:r>
              <a:rPr lang="en-US" sz="1600" dirty="0">
                <a:solidFill>
                  <a:srgbClr val="1F2937"/>
                </a:solidFill>
              </a:rPr>
              <a:t>Location is not one variable. In this dataset it appears through ZIP code, waterfront access, and view quality.</a:t>
            </a:r>
            <a:endParaRPr lang="en-US" sz="1600" dirty="0"/>
          </a:p>
        </p:txBody>
      </p:sp>
      <p:sp>
        <p:nvSpPr>
          <p:cNvPr id="18" name="Text 15"/>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FINDING 2</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Renovation is associated with a price premium</a:t>
            </a:r>
            <a:endParaRPr lang="en-US" sz="3300" dirty="0"/>
          </a:p>
        </p:txBody>
      </p:sp>
      <p:sp>
        <p:nvSpPr>
          <p:cNvPr id="5" name="Text 3"/>
          <p:cNvSpPr/>
          <p:nvPr/>
        </p:nvSpPr>
        <p:spPr>
          <a:xfrm>
            <a:off x="603504" y="1325880"/>
            <a:ext cx="8138160" cy="411480"/>
          </a:xfrm>
          <a:prstGeom prst="rect">
            <a:avLst/>
          </a:prstGeom>
          <a:noFill/>
          <a:ln/>
        </p:spPr>
        <p:txBody>
          <a:bodyPr wrap="square" lIns="0" tIns="0" rIns="0" bIns="0" rtlCol="0" anchor="ctr"/>
          <a:lstStyle/>
          <a:p>
            <a:pPr indent="0" marL="0">
              <a:buNone/>
            </a:pPr>
            <a:r>
              <a:rPr lang="en-US" sz="1550" dirty="0">
                <a:solidFill>
                  <a:srgbClr val="1F2937"/>
                </a:solidFill>
              </a:rPr>
              <a:t>Known renovation status only: rows with unknown renovation information were not forced into either group.</a:t>
            </a:r>
            <a:endParaRPr lang="en-US" sz="1550" dirty="0"/>
          </a:p>
        </p:txBody>
      </p:sp>
      <p:sp>
        <p:nvSpPr>
          <p:cNvPr id="6" name="Text 4"/>
          <p:cNvSpPr/>
          <p:nvPr/>
        </p:nvSpPr>
        <p:spPr>
          <a:xfrm>
            <a:off x="777240" y="2331720"/>
            <a:ext cx="274320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$448k</a:t>
            </a:r>
            <a:endParaRPr lang="en-US" sz="2600" dirty="0"/>
          </a:p>
        </p:txBody>
      </p:sp>
      <p:sp>
        <p:nvSpPr>
          <p:cNvPr id="7" name="Shape 5"/>
          <p:cNvSpPr/>
          <p:nvPr/>
        </p:nvSpPr>
        <p:spPr>
          <a:xfrm>
            <a:off x="777240" y="2880360"/>
            <a:ext cx="731520" cy="0"/>
          </a:xfrm>
          <a:prstGeom prst="line">
            <a:avLst/>
          </a:prstGeom>
          <a:noFill/>
          <a:ln w="31750">
            <a:solidFill>
              <a:srgbClr val="C9A227"/>
            </a:solidFill>
            <a:prstDash val="solid"/>
          </a:ln>
        </p:spPr>
      </p:sp>
      <p:sp>
        <p:nvSpPr>
          <p:cNvPr id="8" name="Text 6"/>
          <p:cNvSpPr/>
          <p:nvPr/>
        </p:nvSpPr>
        <p:spPr>
          <a:xfrm>
            <a:off x="777240" y="3044952"/>
            <a:ext cx="274320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for non-renovated homes</a:t>
            </a:r>
            <a:endParaRPr lang="en-US" sz="1250" dirty="0"/>
          </a:p>
        </p:txBody>
      </p:sp>
      <p:sp>
        <p:nvSpPr>
          <p:cNvPr id="9" name="Text 7"/>
          <p:cNvSpPr/>
          <p:nvPr/>
        </p:nvSpPr>
        <p:spPr>
          <a:xfrm>
            <a:off x="3840480" y="2331720"/>
            <a:ext cx="274320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$607.5k</a:t>
            </a:r>
            <a:endParaRPr lang="en-US" sz="2600" dirty="0"/>
          </a:p>
        </p:txBody>
      </p:sp>
      <p:sp>
        <p:nvSpPr>
          <p:cNvPr id="10" name="Shape 8"/>
          <p:cNvSpPr/>
          <p:nvPr/>
        </p:nvSpPr>
        <p:spPr>
          <a:xfrm>
            <a:off x="3840480" y="2880360"/>
            <a:ext cx="731520" cy="0"/>
          </a:xfrm>
          <a:prstGeom prst="line">
            <a:avLst/>
          </a:prstGeom>
          <a:noFill/>
          <a:ln w="31750">
            <a:solidFill>
              <a:srgbClr val="C9A227"/>
            </a:solidFill>
            <a:prstDash val="solid"/>
          </a:ln>
        </p:spPr>
      </p:sp>
      <p:sp>
        <p:nvSpPr>
          <p:cNvPr id="11" name="Text 9"/>
          <p:cNvSpPr/>
          <p:nvPr/>
        </p:nvSpPr>
        <p:spPr>
          <a:xfrm>
            <a:off x="3840480" y="3044952"/>
            <a:ext cx="274320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for renovated homes</a:t>
            </a:r>
            <a:endParaRPr lang="en-US" sz="1250" dirty="0"/>
          </a:p>
        </p:txBody>
      </p:sp>
      <p:sp>
        <p:nvSpPr>
          <p:cNvPr id="12" name="Text 10"/>
          <p:cNvSpPr/>
          <p:nvPr/>
        </p:nvSpPr>
        <p:spPr>
          <a:xfrm>
            <a:off x="6903720" y="2331720"/>
            <a:ext cx="274320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+36%</a:t>
            </a:r>
            <a:endParaRPr lang="en-US" sz="2600" dirty="0"/>
          </a:p>
        </p:txBody>
      </p:sp>
      <p:sp>
        <p:nvSpPr>
          <p:cNvPr id="13" name="Shape 11"/>
          <p:cNvSpPr/>
          <p:nvPr/>
        </p:nvSpPr>
        <p:spPr>
          <a:xfrm>
            <a:off x="6903720" y="2880360"/>
            <a:ext cx="731520" cy="0"/>
          </a:xfrm>
          <a:prstGeom prst="line">
            <a:avLst/>
          </a:prstGeom>
          <a:noFill/>
          <a:ln w="31750">
            <a:solidFill>
              <a:srgbClr val="C9A227"/>
            </a:solidFill>
            <a:prstDash val="solid"/>
          </a:ln>
        </p:spPr>
      </p:sp>
      <p:sp>
        <p:nvSpPr>
          <p:cNvPr id="14" name="Text 12"/>
          <p:cNvSpPr/>
          <p:nvPr/>
        </p:nvSpPr>
        <p:spPr>
          <a:xfrm>
            <a:off x="6903720" y="3044952"/>
            <a:ext cx="274320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approximate median price difference</a:t>
            </a:r>
            <a:endParaRPr lang="en-US" sz="1250" dirty="0"/>
          </a:p>
        </p:txBody>
      </p:sp>
      <p:sp>
        <p:nvSpPr>
          <p:cNvPr id="15" name="Text 13"/>
          <p:cNvSpPr/>
          <p:nvPr/>
        </p:nvSpPr>
        <p:spPr>
          <a:xfrm>
            <a:off x="777240" y="4498848"/>
            <a:ext cx="2377440" cy="320040"/>
          </a:xfrm>
          <a:prstGeom prst="rect">
            <a:avLst/>
          </a:prstGeom>
          <a:noFill/>
          <a:ln/>
        </p:spPr>
        <p:txBody>
          <a:bodyPr wrap="square" lIns="0" tIns="0" rIns="0" bIns="0" rtlCol="0" anchor="ctr"/>
          <a:lstStyle/>
          <a:p>
            <a:pPr indent="0" marL="0">
              <a:buNone/>
            </a:pPr>
            <a:r>
              <a:rPr lang="en-US" sz="1800" b="1" dirty="0">
                <a:solidFill>
                  <a:srgbClr val="0D1B2A"/>
                </a:solidFill>
              </a:rPr>
              <a:t>What this means</a:t>
            </a:r>
            <a:endParaRPr lang="en-US" sz="1800" dirty="0"/>
          </a:p>
        </p:txBody>
      </p:sp>
      <p:sp>
        <p:nvSpPr>
          <p:cNvPr id="16" name="Text 14"/>
          <p:cNvSpPr/>
          <p:nvPr/>
        </p:nvSpPr>
        <p:spPr>
          <a:xfrm>
            <a:off x="777240" y="4901184"/>
            <a:ext cx="9509760" cy="594360"/>
          </a:xfrm>
          <a:prstGeom prst="rect">
            <a:avLst/>
          </a:prstGeom>
          <a:noFill/>
          <a:ln/>
        </p:spPr>
        <p:txBody>
          <a:bodyPr wrap="square" lIns="0" tIns="0" rIns="0" bIns="0" rtlCol="0" anchor="ctr">
            <a:normAutofit/>
          </a:bodyPr>
          <a:lstStyle/>
          <a:p>
            <a:pPr indent="0" marL="0">
              <a:buNone/>
            </a:pPr>
            <a:r>
              <a:rPr lang="en-US" sz="1600" dirty="0">
                <a:solidFill>
                  <a:srgbClr val="1F2937"/>
                </a:solidFill>
              </a:rPr>
              <a:t>Renovation can support a higher resale price, but it should be evaluated against renovation cost and neighborhood ceiling prices.</a:t>
            </a:r>
            <a:endParaRPr lang="en-US" sz="1600" dirty="0"/>
          </a:p>
        </p:txBody>
      </p:sp>
      <p:sp>
        <p:nvSpPr>
          <p:cNvPr id="17" name="Text 15"/>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8366760" cy="73152"/>
          </a:xfrm>
          <a:prstGeom prst="rect">
            <a:avLst/>
          </a:prstGeom>
          <a:solidFill>
            <a:srgbClr val="C9A227"/>
          </a:solidFill>
          <a:ln w="12700">
            <a:solidFill>
              <a:srgbClr val="C9A227"/>
            </a:solidFill>
            <a:prstDash val="solid"/>
          </a:ln>
        </p:spPr>
      </p:sp>
      <p:pic>
        <p:nvPicPr>
          <p:cNvPr id="3" name="Image 0" descr="/mnt/data/interior_side.jpg">    </p:cNvPr>
          <p:cNvPicPr>
            <a:picLocks noChangeAspect="1"/>
          </p:cNvPicPr>
          <p:nvPr/>
        </p:nvPicPr>
        <p:blipFill>
          <a:blip r:embed="rId1"/>
          <a:stretch>
            <a:fillRect/>
          </a:stretch>
        </p:blipFill>
        <p:spPr>
          <a:xfrm>
            <a:off x="8366760" y="0"/>
            <a:ext cx="3822192" cy="6858000"/>
          </a:xfrm>
          <a:prstGeom prst="rect">
            <a:avLst/>
          </a:prstGeom>
        </p:spPr>
      </p:pic>
      <p:sp>
        <p:nvSpPr>
          <p:cNvPr id="4"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FINDING 3</a:t>
            </a:r>
            <a:endParaRPr lang="en-US" sz="850" dirty="0"/>
          </a:p>
        </p:txBody>
      </p:sp>
      <p:sp>
        <p:nvSpPr>
          <p:cNvPr id="5"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Grade strongly signals value</a:t>
            </a:r>
            <a:endParaRPr lang="en-US" sz="3300" dirty="0"/>
          </a:p>
        </p:txBody>
      </p:sp>
      <p:sp>
        <p:nvSpPr>
          <p:cNvPr id="6" name="Text 3"/>
          <p:cNvSpPr/>
          <p:nvPr/>
        </p:nvSpPr>
        <p:spPr>
          <a:xfrm>
            <a:off x="603504" y="1325880"/>
            <a:ext cx="6583680" cy="502920"/>
          </a:xfrm>
          <a:prstGeom prst="rect">
            <a:avLst/>
          </a:prstGeom>
          <a:noFill/>
          <a:ln/>
        </p:spPr>
        <p:txBody>
          <a:bodyPr wrap="square" lIns="254" tIns="254" rIns="254" bIns="254" rtlCol="0" anchor="ctr">
            <a:normAutofit/>
          </a:bodyPr>
          <a:lstStyle/>
          <a:p>
            <a:pPr indent="0" marL="0">
              <a:buNone/>
            </a:pPr>
            <a:r>
              <a:rPr lang="en-US" sz="1700" dirty="0">
                <a:solidFill>
                  <a:srgbClr val="1F2937"/>
                </a:solidFill>
                <a:latin typeface="Aptos" pitchFamily="34" charset="0"/>
                <a:ea typeface="Aptos" pitchFamily="34" charset="-122"/>
                <a:cs typeface="Aptos" pitchFamily="34" charset="-120"/>
              </a:rPr>
              <a:t>Median price rises sharply as construction quality increases.</a:t>
            </a:r>
            <a:endParaRPr lang="en-US" sz="1700" dirty="0"/>
          </a:p>
        </p:txBody>
      </p:sp>
      <p:sp>
        <p:nvSpPr>
          <p:cNvPr id="7" name="Text 4"/>
          <p:cNvSpPr/>
          <p:nvPr/>
        </p:nvSpPr>
        <p:spPr>
          <a:xfrm>
            <a:off x="731520" y="2331720"/>
            <a:ext cx="242316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$375k</a:t>
            </a:r>
            <a:endParaRPr lang="en-US" sz="2600" dirty="0"/>
          </a:p>
        </p:txBody>
      </p:sp>
      <p:sp>
        <p:nvSpPr>
          <p:cNvPr id="8" name="Shape 5"/>
          <p:cNvSpPr/>
          <p:nvPr/>
        </p:nvSpPr>
        <p:spPr>
          <a:xfrm>
            <a:off x="731520" y="2880360"/>
            <a:ext cx="731520" cy="0"/>
          </a:xfrm>
          <a:prstGeom prst="line">
            <a:avLst/>
          </a:prstGeom>
          <a:noFill/>
          <a:ln w="31750">
            <a:solidFill>
              <a:srgbClr val="C9A227"/>
            </a:solidFill>
            <a:prstDash val="solid"/>
          </a:ln>
        </p:spPr>
      </p:sp>
      <p:sp>
        <p:nvSpPr>
          <p:cNvPr id="9" name="Text 6"/>
          <p:cNvSpPr/>
          <p:nvPr/>
        </p:nvSpPr>
        <p:spPr>
          <a:xfrm>
            <a:off x="731520" y="3044952"/>
            <a:ext cx="242316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at Grade 7</a:t>
            </a:r>
            <a:endParaRPr lang="en-US" sz="1250" dirty="0"/>
          </a:p>
        </p:txBody>
      </p:sp>
      <p:sp>
        <p:nvSpPr>
          <p:cNvPr id="10" name="Text 7"/>
          <p:cNvSpPr/>
          <p:nvPr/>
        </p:nvSpPr>
        <p:spPr>
          <a:xfrm>
            <a:off x="3429000" y="2331720"/>
            <a:ext cx="242316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$914k</a:t>
            </a:r>
            <a:endParaRPr lang="en-US" sz="2600" dirty="0"/>
          </a:p>
        </p:txBody>
      </p:sp>
      <p:sp>
        <p:nvSpPr>
          <p:cNvPr id="11" name="Shape 8"/>
          <p:cNvSpPr/>
          <p:nvPr/>
        </p:nvSpPr>
        <p:spPr>
          <a:xfrm>
            <a:off x="3429000" y="2880360"/>
            <a:ext cx="731520" cy="0"/>
          </a:xfrm>
          <a:prstGeom prst="line">
            <a:avLst/>
          </a:prstGeom>
          <a:noFill/>
          <a:ln w="31750">
            <a:solidFill>
              <a:srgbClr val="C9A227"/>
            </a:solidFill>
            <a:prstDash val="solid"/>
          </a:ln>
        </p:spPr>
      </p:sp>
      <p:sp>
        <p:nvSpPr>
          <p:cNvPr id="12" name="Text 9"/>
          <p:cNvSpPr/>
          <p:nvPr/>
        </p:nvSpPr>
        <p:spPr>
          <a:xfrm>
            <a:off x="3429000" y="3044952"/>
            <a:ext cx="242316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at Grade 10</a:t>
            </a:r>
            <a:endParaRPr lang="en-US" sz="1250" dirty="0"/>
          </a:p>
        </p:txBody>
      </p:sp>
      <p:sp>
        <p:nvSpPr>
          <p:cNvPr id="13" name="Text 10"/>
          <p:cNvSpPr/>
          <p:nvPr/>
        </p:nvSpPr>
        <p:spPr>
          <a:xfrm>
            <a:off x="6172200" y="2331720"/>
            <a:ext cx="196596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$2.98M</a:t>
            </a:r>
            <a:endParaRPr lang="en-US" sz="2600" dirty="0"/>
          </a:p>
        </p:txBody>
      </p:sp>
      <p:sp>
        <p:nvSpPr>
          <p:cNvPr id="14" name="Shape 11"/>
          <p:cNvSpPr/>
          <p:nvPr/>
        </p:nvSpPr>
        <p:spPr>
          <a:xfrm>
            <a:off x="6172200" y="2880360"/>
            <a:ext cx="731520" cy="0"/>
          </a:xfrm>
          <a:prstGeom prst="line">
            <a:avLst/>
          </a:prstGeom>
          <a:noFill/>
          <a:ln w="31750">
            <a:solidFill>
              <a:srgbClr val="C9A227"/>
            </a:solidFill>
            <a:prstDash val="solid"/>
          </a:ln>
        </p:spPr>
      </p:sp>
      <p:sp>
        <p:nvSpPr>
          <p:cNvPr id="15" name="Text 12"/>
          <p:cNvSpPr/>
          <p:nvPr/>
        </p:nvSpPr>
        <p:spPr>
          <a:xfrm>
            <a:off x="6172200" y="3044952"/>
            <a:ext cx="196596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median price at Grade 13</a:t>
            </a:r>
            <a:endParaRPr lang="en-US" sz="1250" dirty="0"/>
          </a:p>
        </p:txBody>
      </p:sp>
      <p:sp>
        <p:nvSpPr>
          <p:cNvPr id="16" name="Text 13"/>
          <p:cNvSpPr/>
          <p:nvPr/>
        </p:nvSpPr>
        <p:spPr>
          <a:xfrm>
            <a:off x="731520" y="4434840"/>
            <a:ext cx="2560320" cy="329184"/>
          </a:xfrm>
          <a:prstGeom prst="rect">
            <a:avLst/>
          </a:prstGeom>
          <a:noFill/>
          <a:ln/>
        </p:spPr>
        <p:txBody>
          <a:bodyPr wrap="square" lIns="0" tIns="0" rIns="0" bIns="0" rtlCol="0" anchor="ctr"/>
          <a:lstStyle/>
          <a:p>
            <a:pPr indent="0" marL="0">
              <a:buNone/>
            </a:pPr>
            <a:r>
              <a:rPr lang="en-US" sz="1800" b="1" dirty="0">
                <a:solidFill>
                  <a:srgbClr val="0D1B2A"/>
                </a:solidFill>
              </a:rPr>
              <a:t>Business signal</a:t>
            </a:r>
            <a:endParaRPr lang="en-US" sz="1800" dirty="0"/>
          </a:p>
        </p:txBody>
      </p:sp>
      <p:sp>
        <p:nvSpPr>
          <p:cNvPr id="17" name="Text 14"/>
          <p:cNvSpPr/>
          <p:nvPr/>
        </p:nvSpPr>
        <p:spPr>
          <a:xfrm>
            <a:off x="731520" y="4846320"/>
            <a:ext cx="6675120" cy="566928"/>
          </a:xfrm>
          <a:prstGeom prst="rect">
            <a:avLst/>
          </a:prstGeom>
          <a:noFill/>
          <a:ln/>
        </p:spPr>
        <p:txBody>
          <a:bodyPr wrap="square" lIns="0" tIns="0" rIns="0" bIns="0" rtlCol="0" anchor="ctr">
            <a:normAutofit/>
          </a:bodyPr>
          <a:lstStyle/>
          <a:p>
            <a:pPr indent="0" marL="0">
              <a:buNone/>
            </a:pPr>
            <a:r>
              <a:rPr lang="en-US" sz="1600" dirty="0">
                <a:solidFill>
                  <a:srgbClr val="1F2937"/>
                </a:solidFill>
              </a:rPr>
              <a:t>Grade is one of the clearest value drivers. It supports premium pricing when the property quality is visibly high.</a:t>
            </a:r>
            <a:endParaRPr lang="en-US" sz="1600" dirty="0"/>
          </a:p>
        </p:txBody>
      </p:sp>
      <p:sp>
        <p:nvSpPr>
          <p:cNvPr id="18" name="Text 15"/>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FINDING 4</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Timing matters less than property fundamentals</a:t>
            </a:r>
            <a:endParaRPr lang="en-US" sz="3300" dirty="0"/>
          </a:p>
        </p:txBody>
      </p:sp>
      <p:sp>
        <p:nvSpPr>
          <p:cNvPr id="5" name="Text 3"/>
          <p:cNvSpPr/>
          <p:nvPr/>
        </p:nvSpPr>
        <p:spPr>
          <a:xfrm>
            <a:off x="603504" y="1325880"/>
            <a:ext cx="7863840" cy="502920"/>
          </a:xfrm>
          <a:prstGeom prst="rect">
            <a:avLst/>
          </a:prstGeom>
          <a:noFill/>
          <a:ln/>
        </p:spPr>
        <p:txBody>
          <a:bodyPr wrap="square" lIns="254" tIns="254" rIns="254" bIns="254" rtlCol="0" anchor="ctr">
            <a:normAutofit/>
          </a:bodyPr>
          <a:lstStyle/>
          <a:p>
            <a:pPr indent="0" marL="0">
              <a:buNone/>
            </a:pPr>
            <a:r>
              <a:rPr lang="en-US" sz="1700" dirty="0">
                <a:solidFill>
                  <a:srgbClr val="1F2937"/>
                </a:solidFill>
                <a:latin typeface="Aptos" pitchFamily="34" charset="0"/>
                <a:ea typeface="Aptos" pitchFamily="34" charset="-122"/>
                <a:cs typeface="Aptos" pitchFamily="34" charset="-120"/>
              </a:rPr>
              <a:t>Monthly median prices varied, but the range was much smaller than the location or grade gaps.</a:t>
            </a:r>
            <a:endParaRPr lang="en-US" sz="1700" dirty="0"/>
          </a:p>
        </p:txBody>
      </p:sp>
      <p:sp>
        <p:nvSpPr>
          <p:cNvPr id="6" name="Text 4"/>
          <p:cNvSpPr/>
          <p:nvPr/>
        </p:nvSpPr>
        <p:spPr>
          <a:xfrm>
            <a:off x="777240" y="2423160"/>
            <a:ext cx="292608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$426.5k</a:t>
            </a:r>
            <a:endParaRPr lang="en-US" sz="2600" dirty="0"/>
          </a:p>
        </p:txBody>
      </p:sp>
      <p:sp>
        <p:nvSpPr>
          <p:cNvPr id="7" name="Shape 5"/>
          <p:cNvSpPr/>
          <p:nvPr/>
        </p:nvSpPr>
        <p:spPr>
          <a:xfrm>
            <a:off x="777240" y="2971800"/>
            <a:ext cx="731520" cy="0"/>
          </a:xfrm>
          <a:prstGeom prst="line">
            <a:avLst/>
          </a:prstGeom>
          <a:noFill/>
          <a:ln w="31750">
            <a:solidFill>
              <a:srgbClr val="C9A227"/>
            </a:solidFill>
            <a:prstDash val="solid"/>
          </a:ln>
        </p:spPr>
      </p:sp>
      <p:sp>
        <p:nvSpPr>
          <p:cNvPr id="8" name="Text 6"/>
          <p:cNvSpPr/>
          <p:nvPr/>
        </p:nvSpPr>
        <p:spPr>
          <a:xfrm>
            <a:off x="777240" y="3136392"/>
            <a:ext cx="292608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lowest monthly median price</a:t>
            </a:r>
            <a:endParaRPr lang="en-US" sz="1250" dirty="0"/>
          </a:p>
        </p:txBody>
      </p:sp>
      <p:sp>
        <p:nvSpPr>
          <p:cNvPr id="9" name="Text 7"/>
          <p:cNvSpPr/>
          <p:nvPr/>
        </p:nvSpPr>
        <p:spPr>
          <a:xfrm>
            <a:off x="4069080" y="2423160"/>
            <a:ext cx="292608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$477k</a:t>
            </a:r>
            <a:endParaRPr lang="en-US" sz="2600" dirty="0"/>
          </a:p>
        </p:txBody>
      </p:sp>
      <p:sp>
        <p:nvSpPr>
          <p:cNvPr id="10" name="Shape 8"/>
          <p:cNvSpPr/>
          <p:nvPr/>
        </p:nvSpPr>
        <p:spPr>
          <a:xfrm>
            <a:off x="4069080" y="2971800"/>
            <a:ext cx="731520" cy="0"/>
          </a:xfrm>
          <a:prstGeom prst="line">
            <a:avLst/>
          </a:prstGeom>
          <a:noFill/>
          <a:ln w="31750">
            <a:solidFill>
              <a:srgbClr val="C9A227"/>
            </a:solidFill>
            <a:prstDash val="solid"/>
          </a:ln>
        </p:spPr>
      </p:sp>
      <p:sp>
        <p:nvSpPr>
          <p:cNvPr id="11" name="Text 9"/>
          <p:cNvSpPr/>
          <p:nvPr/>
        </p:nvSpPr>
        <p:spPr>
          <a:xfrm>
            <a:off x="4069080" y="3136392"/>
            <a:ext cx="292608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highest monthly median price</a:t>
            </a:r>
            <a:endParaRPr lang="en-US" sz="1250" dirty="0"/>
          </a:p>
        </p:txBody>
      </p:sp>
      <p:sp>
        <p:nvSpPr>
          <p:cNvPr id="12" name="Text 10"/>
          <p:cNvSpPr/>
          <p:nvPr/>
        </p:nvSpPr>
        <p:spPr>
          <a:xfrm>
            <a:off x="7360920" y="2423160"/>
            <a:ext cx="2743200" cy="438912"/>
          </a:xfrm>
          <a:prstGeom prst="rect">
            <a:avLst/>
          </a:prstGeom>
          <a:noFill/>
          <a:ln/>
        </p:spPr>
        <p:txBody>
          <a:bodyPr wrap="square" lIns="0" tIns="0" rIns="0" bIns="0" rtlCol="0" anchor="ctr">
            <a:normAutofit/>
          </a:bodyPr>
          <a:lstStyle/>
          <a:p>
            <a:pPr indent="0" marL="0">
              <a:buNone/>
            </a:pPr>
            <a:r>
              <a:rPr lang="en-US" sz="2600" b="1" dirty="0">
                <a:solidFill>
                  <a:srgbClr val="0D1B2A"/>
                </a:solidFill>
                <a:latin typeface="Aptos Display" pitchFamily="34" charset="0"/>
                <a:ea typeface="Aptos Display" pitchFamily="34" charset="-122"/>
                <a:cs typeface="Aptos Display" pitchFamily="34" charset="-120"/>
              </a:rPr>
              <a:t>~12%</a:t>
            </a:r>
            <a:endParaRPr lang="en-US" sz="2600" dirty="0"/>
          </a:p>
        </p:txBody>
      </p:sp>
      <p:sp>
        <p:nvSpPr>
          <p:cNvPr id="13" name="Shape 11"/>
          <p:cNvSpPr/>
          <p:nvPr/>
        </p:nvSpPr>
        <p:spPr>
          <a:xfrm>
            <a:off x="7360920" y="2971800"/>
            <a:ext cx="731520" cy="0"/>
          </a:xfrm>
          <a:prstGeom prst="line">
            <a:avLst/>
          </a:prstGeom>
          <a:noFill/>
          <a:ln w="31750">
            <a:solidFill>
              <a:srgbClr val="C9A227"/>
            </a:solidFill>
            <a:prstDash val="solid"/>
          </a:ln>
        </p:spPr>
      </p:sp>
      <p:sp>
        <p:nvSpPr>
          <p:cNvPr id="14" name="Text 12"/>
          <p:cNvSpPr/>
          <p:nvPr/>
        </p:nvSpPr>
        <p:spPr>
          <a:xfrm>
            <a:off x="7360920" y="3136392"/>
            <a:ext cx="2743200" cy="38404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Aptos" pitchFamily="34" charset="0"/>
                <a:ea typeface="Aptos" pitchFamily="34" charset="-122"/>
                <a:cs typeface="Aptos" pitchFamily="34" charset="-120"/>
              </a:rPr>
              <a:t>monthly median range</a:t>
            </a:r>
            <a:endParaRPr lang="en-US" sz="1250" dirty="0"/>
          </a:p>
        </p:txBody>
      </p:sp>
      <p:sp>
        <p:nvSpPr>
          <p:cNvPr id="15" name="Text 13"/>
          <p:cNvSpPr/>
          <p:nvPr/>
        </p:nvSpPr>
        <p:spPr>
          <a:xfrm>
            <a:off x="777240" y="4407408"/>
            <a:ext cx="2377440" cy="320040"/>
          </a:xfrm>
          <a:prstGeom prst="rect">
            <a:avLst/>
          </a:prstGeom>
          <a:noFill/>
          <a:ln/>
        </p:spPr>
        <p:txBody>
          <a:bodyPr wrap="square" lIns="0" tIns="0" rIns="0" bIns="0" rtlCol="0" anchor="ctr"/>
          <a:lstStyle/>
          <a:p>
            <a:pPr indent="0" marL="0">
              <a:buNone/>
            </a:pPr>
            <a:r>
              <a:rPr lang="en-US" sz="1800" b="1" dirty="0">
                <a:solidFill>
                  <a:srgbClr val="0D1B2A"/>
                </a:solidFill>
              </a:rPr>
              <a:t>Interpretation</a:t>
            </a:r>
            <a:endParaRPr lang="en-US" sz="1800" dirty="0"/>
          </a:p>
        </p:txBody>
      </p:sp>
      <p:sp>
        <p:nvSpPr>
          <p:cNvPr id="16" name="Text 14"/>
          <p:cNvSpPr/>
          <p:nvPr/>
        </p:nvSpPr>
        <p:spPr>
          <a:xfrm>
            <a:off x="777240" y="4800600"/>
            <a:ext cx="9601200" cy="566928"/>
          </a:xfrm>
          <a:prstGeom prst="rect">
            <a:avLst/>
          </a:prstGeom>
          <a:noFill/>
          <a:ln/>
        </p:spPr>
        <p:txBody>
          <a:bodyPr wrap="square" lIns="0" tIns="0" rIns="0" bIns="0" rtlCol="0" anchor="ctr">
            <a:normAutofit/>
          </a:bodyPr>
          <a:lstStyle/>
          <a:p>
            <a:pPr indent="0" marL="0">
              <a:buNone/>
            </a:pPr>
            <a:r>
              <a:rPr lang="en-US" sz="1600" dirty="0">
                <a:solidFill>
                  <a:srgbClr val="1F2937"/>
                </a:solidFill>
              </a:rPr>
              <a:t>Seasonality shows weak evidence compared with location, waterfront, renovation, and grade. The seller should not rely on timing alone.</a:t>
            </a:r>
            <a:endParaRPr lang="en-US" sz="1600" dirty="0"/>
          </a:p>
        </p:txBody>
      </p:sp>
      <p:sp>
        <p:nvSpPr>
          <p:cNvPr id="17" name="Text 15"/>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7"/>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9A227"/>
          </a:solidFill>
          <a:ln w="12700">
            <a:solidFill>
              <a:srgbClr val="C9A227"/>
            </a:solidFill>
            <a:prstDash val="solid"/>
          </a:ln>
        </p:spPr>
      </p:sp>
      <p:sp>
        <p:nvSpPr>
          <p:cNvPr id="3" name="Text 1"/>
          <p:cNvSpPr/>
          <p:nvPr/>
        </p:nvSpPr>
        <p:spPr>
          <a:xfrm>
            <a:off x="594360" y="329184"/>
            <a:ext cx="3291840" cy="210312"/>
          </a:xfrm>
          <a:prstGeom prst="rect">
            <a:avLst/>
          </a:prstGeom>
          <a:noFill/>
          <a:ln/>
        </p:spPr>
        <p:txBody>
          <a:bodyPr wrap="square" lIns="0" tIns="0" rIns="0" bIns="0" rtlCol="0" anchor="ctr"/>
          <a:lstStyle/>
          <a:p>
            <a:pPr indent="0" marL="0">
              <a:buNone/>
            </a:pPr>
            <a:r>
              <a:rPr lang="en-US" sz="850" b="1" dirty="0">
                <a:solidFill>
                  <a:srgbClr val="C9A227"/>
                </a:solidFill>
                <a:latin typeface="Aptos" pitchFamily="34" charset="0"/>
                <a:ea typeface="Aptos" pitchFamily="34" charset="-122"/>
                <a:cs typeface="Aptos" pitchFamily="34" charset="-120"/>
              </a:rPr>
              <a:t>RECOMMENDATIONS</a:t>
            </a:r>
            <a:endParaRPr lang="en-US" sz="850" dirty="0"/>
          </a:p>
        </p:txBody>
      </p:sp>
      <p:sp>
        <p:nvSpPr>
          <p:cNvPr id="4" name="Text 2"/>
          <p:cNvSpPr/>
          <p:nvPr/>
        </p:nvSpPr>
        <p:spPr>
          <a:xfrm>
            <a:off x="594360" y="658368"/>
            <a:ext cx="6858000" cy="594360"/>
          </a:xfrm>
          <a:prstGeom prst="rect">
            <a:avLst/>
          </a:prstGeom>
          <a:noFill/>
          <a:ln/>
        </p:spPr>
        <p:txBody>
          <a:bodyPr wrap="square" lIns="0" tIns="0" rIns="0" bIns="0" rtlCol="0" anchor="ctr">
            <a:normAutofit/>
          </a:bodyPr>
          <a:lstStyle/>
          <a:p>
            <a:pPr indent="0" marL="0">
              <a:buNone/>
            </a:pPr>
            <a:r>
              <a:rPr lang="en-US" sz="3300" b="1" dirty="0">
                <a:solidFill>
                  <a:srgbClr val="0D1B2A"/>
                </a:solidFill>
                <a:latin typeface="Aptos Display" pitchFamily="34" charset="0"/>
                <a:ea typeface="Aptos Display" pitchFamily="34" charset="-122"/>
                <a:cs typeface="Aptos Display" pitchFamily="34" charset="-120"/>
              </a:rPr>
              <a:t>What should Timothy do?</a:t>
            </a:r>
            <a:endParaRPr lang="en-US" sz="3300" dirty="0"/>
          </a:p>
        </p:txBody>
      </p:sp>
      <p:sp>
        <p:nvSpPr>
          <p:cNvPr id="5" name="Text 3"/>
          <p:cNvSpPr/>
          <p:nvPr/>
        </p:nvSpPr>
        <p:spPr>
          <a:xfrm>
            <a:off x="777240" y="1600200"/>
            <a:ext cx="457200" cy="310896"/>
          </a:xfrm>
          <a:prstGeom prst="rect">
            <a:avLst/>
          </a:prstGeom>
          <a:noFill/>
          <a:ln/>
        </p:spPr>
        <p:txBody>
          <a:bodyPr wrap="square" lIns="0" tIns="0" rIns="0" bIns="0" rtlCol="0" anchor="ctr"/>
          <a:lstStyle/>
          <a:p>
            <a:pPr indent="0" marL="0">
              <a:buNone/>
            </a:pPr>
            <a:r>
              <a:rPr lang="en-US" sz="2000" b="1" dirty="0">
                <a:solidFill>
                  <a:srgbClr val="C9A227"/>
                </a:solidFill>
              </a:rPr>
              <a:t>1</a:t>
            </a:r>
            <a:endParaRPr lang="en-US" sz="2000" dirty="0"/>
          </a:p>
        </p:txBody>
      </p:sp>
      <p:sp>
        <p:nvSpPr>
          <p:cNvPr id="6" name="Text 4"/>
          <p:cNvSpPr/>
          <p:nvPr/>
        </p:nvSpPr>
        <p:spPr>
          <a:xfrm>
            <a:off x="1417320" y="1581912"/>
            <a:ext cx="3108960" cy="320040"/>
          </a:xfrm>
          <a:prstGeom prst="rect">
            <a:avLst/>
          </a:prstGeom>
          <a:noFill/>
          <a:ln/>
        </p:spPr>
        <p:txBody>
          <a:bodyPr wrap="square" lIns="0" tIns="0" rIns="0" bIns="0" rtlCol="0" anchor="ctr">
            <a:normAutofit/>
          </a:bodyPr>
          <a:lstStyle/>
          <a:p>
            <a:pPr indent="0" marL="0">
              <a:buNone/>
            </a:pPr>
            <a:r>
              <a:rPr lang="en-US" sz="1900" b="1" dirty="0">
                <a:solidFill>
                  <a:srgbClr val="0D1B2A"/>
                </a:solidFill>
              </a:rPr>
              <a:t>Price by micro-location</a:t>
            </a:r>
            <a:endParaRPr lang="en-US" sz="1900" dirty="0"/>
          </a:p>
        </p:txBody>
      </p:sp>
      <p:sp>
        <p:nvSpPr>
          <p:cNvPr id="7" name="Text 5"/>
          <p:cNvSpPr/>
          <p:nvPr/>
        </p:nvSpPr>
        <p:spPr>
          <a:xfrm>
            <a:off x="4572000" y="1581912"/>
            <a:ext cx="6492240" cy="384048"/>
          </a:xfrm>
          <a:prstGeom prst="rect">
            <a:avLst/>
          </a:prstGeom>
          <a:noFill/>
          <a:ln/>
        </p:spPr>
        <p:txBody>
          <a:bodyPr wrap="square" lIns="0" tIns="0" rIns="0" bIns="0" rtlCol="0" anchor="ctr">
            <a:normAutofit/>
          </a:bodyPr>
          <a:lstStyle/>
          <a:p>
            <a:pPr indent="0" marL="0">
              <a:buNone/>
            </a:pPr>
            <a:r>
              <a:rPr lang="en-US" sz="1450" dirty="0">
                <a:solidFill>
                  <a:srgbClr val="1F2937"/>
                </a:solidFill>
              </a:rPr>
              <a:t>Use ZIP code, waterfront status, and view quality to set realistic premium pricing.</a:t>
            </a:r>
            <a:endParaRPr lang="en-US" sz="1450" dirty="0"/>
          </a:p>
        </p:txBody>
      </p:sp>
      <p:sp>
        <p:nvSpPr>
          <p:cNvPr id="8" name="Shape 6"/>
          <p:cNvSpPr/>
          <p:nvPr/>
        </p:nvSpPr>
        <p:spPr>
          <a:xfrm>
            <a:off x="777240" y="2221992"/>
            <a:ext cx="10058400" cy="0"/>
          </a:xfrm>
          <a:prstGeom prst="line">
            <a:avLst/>
          </a:prstGeom>
          <a:noFill/>
          <a:ln w="12700">
            <a:solidFill>
              <a:srgbClr val="E2D8C5"/>
            </a:solidFill>
            <a:prstDash val="solid"/>
          </a:ln>
        </p:spPr>
      </p:sp>
      <p:sp>
        <p:nvSpPr>
          <p:cNvPr id="9" name="Text 7"/>
          <p:cNvSpPr/>
          <p:nvPr/>
        </p:nvSpPr>
        <p:spPr>
          <a:xfrm>
            <a:off x="777240" y="2679192"/>
            <a:ext cx="457200" cy="310896"/>
          </a:xfrm>
          <a:prstGeom prst="rect">
            <a:avLst/>
          </a:prstGeom>
          <a:noFill/>
          <a:ln/>
        </p:spPr>
        <p:txBody>
          <a:bodyPr wrap="square" lIns="0" tIns="0" rIns="0" bIns="0" rtlCol="0" anchor="ctr"/>
          <a:lstStyle/>
          <a:p>
            <a:pPr indent="0" marL="0">
              <a:buNone/>
            </a:pPr>
            <a:r>
              <a:rPr lang="en-US" sz="2000" b="1" dirty="0">
                <a:solidFill>
                  <a:srgbClr val="C9A227"/>
                </a:solidFill>
              </a:rPr>
              <a:t>2</a:t>
            </a:r>
            <a:endParaRPr lang="en-US" sz="2000" dirty="0"/>
          </a:p>
        </p:txBody>
      </p:sp>
      <p:sp>
        <p:nvSpPr>
          <p:cNvPr id="10" name="Text 8"/>
          <p:cNvSpPr/>
          <p:nvPr/>
        </p:nvSpPr>
        <p:spPr>
          <a:xfrm>
            <a:off x="1417320" y="2660904"/>
            <a:ext cx="3108960" cy="320040"/>
          </a:xfrm>
          <a:prstGeom prst="rect">
            <a:avLst/>
          </a:prstGeom>
          <a:noFill/>
          <a:ln/>
        </p:spPr>
        <p:txBody>
          <a:bodyPr wrap="square" lIns="0" tIns="0" rIns="0" bIns="0" rtlCol="0" anchor="ctr">
            <a:normAutofit/>
          </a:bodyPr>
          <a:lstStyle/>
          <a:p>
            <a:pPr indent="0" marL="0">
              <a:buNone/>
            </a:pPr>
            <a:r>
              <a:rPr lang="en-US" sz="1900" b="1" dirty="0">
                <a:solidFill>
                  <a:srgbClr val="0D1B2A"/>
                </a:solidFill>
              </a:rPr>
              <a:t>Renovate selectively</a:t>
            </a:r>
            <a:endParaRPr lang="en-US" sz="1900" dirty="0"/>
          </a:p>
        </p:txBody>
      </p:sp>
      <p:sp>
        <p:nvSpPr>
          <p:cNvPr id="11" name="Text 9"/>
          <p:cNvSpPr/>
          <p:nvPr/>
        </p:nvSpPr>
        <p:spPr>
          <a:xfrm>
            <a:off x="4572000" y="2660904"/>
            <a:ext cx="6492240" cy="384048"/>
          </a:xfrm>
          <a:prstGeom prst="rect">
            <a:avLst/>
          </a:prstGeom>
          <a:noFill/>
          <a:ln/>
        </p:spPr>
        <p:txBody>
          <a:bodyPr wrap="square" lIns="0" tIns="0" rIns="0" bIns="0" rtlCol="0" anchor="ctr">
            <a:normAutofit/>
          </a:bodyPr>
          <a:lstStyle/>
          <a:p>
            <a:pPr indent="0" marL="0">
              <a:buNone/>
            </a:pPr>
            <a:r>
              <a:rPr lang="en-US" sz="1450" dirty="0">
                <a:solidFill>
                  <a:srgbClr val="1F2937"/>
                </a:solidFill>
              </a:rPr>
              <a:t>Prioritize improvements where the expected uplift is larger than renovation cost.</a:t>
            </a:r>
            <a:endParaRPr lang="en-US" sz="1450" dirty="0"/>
          </a:p>
        </p:txBody>
      </p:sp>
      <p:sp>
        <p:nvSpPr>
          <p:cNvPr id="12" name="Shape 10"/>
          <p:cNvSpPr/>
          <p:nvPr/>
        </p:nvSpPr>
        <p:spPr>
          <a:xfrm>
            <a:off x="777240" y="3300984"/>
            <a:ext cx="10058400" cy="0"/>
          </a:xfrm>
          <a:prstGeom prst="line">
            <a:avLst/>
          </a:prstGeom>
          <a:noFill/>
          <a:ln w="12700">
            <a:solidFill>
              <a:srgbClr val="E2D8C5"/>
            </a:solidFill>
            <a:prstDash val="solid"/>
          </a:ln>
        </p:spPr>
      </p:sp>
      <p:sp>
        <p:nvSpPr>
          <p:cNvPr id="13" name="Text 11"/>
          <p:cNvSpPr/>
          <p:nvPr/>
        </p:nvSpPr>
        <p:spPr>
          <a:xfrm>
            <a:off x="777240" y="3758184"/>
            <a:ext cx="457200" cy="310896"/>
          </a:xfrm>
          <a:prstGeom prst="rect">
            <a:avLst/>
          </a:prstGeom>
          <a:noFill/>
          <a:ln/>
        </p:spPr>
        <p:txBody>
          <a:bodyPr wrap="square" lIns="0" tIns="0" rIns="0" bIns="0" rtlCol="0" anchor="ctr"/>
          <a:lstStyle/>
          <a:p>
            <a:pPr indent="0" marL="0">
              <a:buNone/>
            </a:pPr>
            <a:r>
              <a:rPr lang="en-US" sz="2000" b="1" dirty="0">
                <a:solidFill>
                  <a:srgbClr val="C9A227"/>
                </a:solidFill>
              </a:rPr>
              <a:t>3</a:t>
            </a:r>
            <a:endParaRPr lang="en-US" sz="2000" dirty="0"/>
          </a:p>
        </p:txBody>
      </p:sp>
      <p:sp>
        <p:nvSpPr>
          <p:cNvPr id="14" name="Text 12"/>
          <p:cNvSpPr/>
          <p:nvPr/>
        </p:nvSpPr>
        <p:spPr>
          <a:xfrm>
            <a:off x="1417320" y="3739896"/>
            <a:ext cx="3108960" cy="320040"/>
          </a:xfrm>
          <a:prstGeom prst="rect">
            <a:avLst/>
          </a:prstGeom>
          <a:noFill/>
          <a:ln/>
        </p:spPr>
        <p:txBody>
          <a:bodyPr wrap="square" lIns="0" tIns="0" rIns="0" bIns="0" rtlCol="0" anchor="ctr">
            <a:normAutofit/>
          </a:bodyPr>
          <a:lstStyle/>
          <a:p>
            <a:pPr indent="0" marL="0">
              <a:buNone/>
            </a:pPr>
            <a:r>
              <a:rPr lang="en-US" sz="1900" b="1" dirty="0">
                <a:solidFill>
                  <a:srgbClr val="0D1B2A"/>
                </a:solidFill>
              </a:rPr>
              <a:t>Use grade as a value signal</a:t>
            </a:r>
            <a:endParaRPr lang="en-US" sz="1900" dirty="0"/>
          </a:p>
        </p:txBody>
      </p:sp>
      <p:sp>
        <p:nvSpPr>
          <p:cNvPr id="15" name="Text 13"/>
          <p:cNvSpPr/>
          <p:nvPr/>
        </p:nvSpPr>
        <p:spPr>
          <a:xfrm>
            <a:off x="4572000" y="3739896"/>
            <a:ext cx="6492240" cy="384048"/>
          </a:xfrm>
          <a:prstGeom prst="rect">
            <a:avLst/>
          </a:prstGeom>
          <a:noFill/>
          <a:ln/>
        </p:spPr>
        <p:txBody>
          <a:bodyPr wrap="square" lIns="0" tIns="0" rIns="0" bIns="0" rtlCol="0" anchor="ctr">
            <a:normAutofit/>
          </a:bodyPr>
          <a:lstStyle/>
          <a:p>
            <a:pPr indent="0" marL="0">
              <a:buNone/>
            </a:pPr>
            <a:r>
              <a:rPr lang="en-US" sz="1450" dirty="0">
                <a:solidFill>
                  <a:srgbClr val="1F2937"/>
                </a:solidFill>
              </a:rPr>
              <a:t>Highlight quality, finishes, and construction level in marketing materials.</a:t>
            </a:r>
            <a:endParaRPr lang="en-US" sz="1450" dirty="0"/>
          </a:p>
        </p:txBody>
      </p:sp>
      <p:sp>
        <p:nvSpPr>
          <p:cNvPr id="16" name="Shape 14"/>
          <p:cNvSpPr/>
          <p:nvPr/>
        </p:nvSpPr>
        <p:spPr>
          <a:xfrm>
            <a:off x="777240" y="4379976"/>
            <a:ext cx="10058400" cy="0"/>
          </a:xfrm>
          <a:prstGeom prst="line">
            <a:avLst/>
          </a:prstGeom>
          <a:noFill/>
          <a:ln w="12700">
            <a:solidFill>
              <a:srgbClr val="E2D8C5"/>
            </a:solidFill>
            <a:prstDash val="solid"/>
          </a:ln>
        </p:spPr>
      </p:sp>
      <p:sp>
        <p:nvSpPr>
          <p:cNvPr id="17" name="Text 15"/>
          <p:cNvSpPr/>
          <p:nvPr/>
        </p:nvSpPr>
        <p:spPr>
          <a:xfrm>
            <a:off x="777240" y="4837176"/>
            <a:ext cx="457200" cy="310896"/>
          </a:xfrm>
          <a:prstGeom prst="rect">
            <a:avLst/>
          </a:prstGeom>
          <a:noFill/>
          <a:ln/>
        </p:spPr>
        <p:txBody>
          <a:bodyPr wrap="square" lIns="0" tIns="0" rIns="0" bIns="0" rtlCol="0" anchor="ctr"/>
          <a:lstStyle/>
          <a:p>
            <a:pPr indent="0" marL="0">
              <a:buNone/>
            </a:pPr>
            <a:r>
              <a:rPr lang="en-US" sz="2000" b="1" dirty="0">
                <a:solidFill>
                  <a:srgbClr val="C9A227"/>
                </a:solidFill>
              </a:rPr>
              <a:t>4</a:t>
            </a:r>
            <a:endParaRPr lang="en-US" sz="2000" dirty="0"/>
          </a:p>
        </p:txBody>
      </p:sp>
      <p:sp>
        <p:nvSpPr>
          <p:cNvPr id="18" name="Text 16"/>
          <p:cNvSpPr/>
          <p:nvPr/>
        </p:nvSpPr>
        <p:spPr>
          <a:xfrm>
            <a:off x="1417320" y="4818888"/>
            <a:ext cx="3108960" cy="320040"/>
          </a:xfrm>
          <a:prstGeom prst="rect">
            <a:avLst/>
          </a:prstGeom>
          <a:noFill/>
          <a:ln/>
        </p:spPr>
        <p:txBody>
          <a:bodyPr wrap="square" lIns="0" tIns="0" rIns="0" bIns="0" rtlCol="0" anchor="ctr">
            <a:normAutofit/>
          </a:bodyPr>
          <a:lstStyle/>
          <a:p>
            <a:pPr indent="0" marL="0">
              <a:buNone/>
            </a:pPr>
            <a:r>
              <a:rPr lang="en-US" sz="1900" b="1" dirty="0">
                <a:solidFill>
                  <a:srgbClr val="0D1B2A"/>
                </a:solidFill>
              </a:rPr>
              <a:t>Do not over-rely on timing</a:t>
            </a:r>
            <a:endParaRPr lang="en-US" sz="1900" dirty="0"/>
          </a:p>
        </p:txBody>
      </p:sp>
      <p:sp>
        <p:nvSpPr>
          <p:cNvPr id="19" name="Text 17"/>
          <p:cNvSpPr/>
          <p:nvPr/>
        </p:nvSpPr>
        <p:spPr>
          <a:xfrm>
            <a:off x="4572000" y="4818888"/>
            <a:ext cx="6492240" cy="384048"/>
          </a:xfrm>
          <a:prstGeom prst="rect">
            <a:avLst/>
          </a:prstGeom>
          <a:noFill/>
          <a:ln/>
        </p:spPr>
        <p:txBody>
          <a:bodyPr wrap="square" lIns="0" tIns="0" rIns="0" bIns="0" rtlCol="0" anchor="ctr">
            <a:normAutofit/>
          </a:bodyPr>
          <a:lstStyle/>
          <a:p>
            <a:pPr indent="0" marL="0">
              <a:buNone/>
            </a:pPr>
            <a:r>
              <a:rPr lang="en-US" sz="1450" dirty="0">
                <a:solidFill>
                  <a:srgbClr val="1F2937"/>
                </a:solidFill>
              </a:rPr>
              <a:t>Seasonality is weaker than location, renovation, and grade in this dataset.</a:t>
            </a:r>
            <a:endParaRPr lang="en-US" sz="1450" dirty="0"/>
          </a:p>
        </p:txBody>
      </p:sp>
      <p:sp>
        <p:nvSpPr>
          <p:cNvPr id="20" name="Text 18"/>
          <p:cNvSpPr/>
          <p:nvPr/>
        </p:nvSpPr>
        <p:spPr>
          <a:xfrm>
            <a:off x="594360" y="6528816"/>
            <a:ext cx="3840480" cy="164592"/>
          </a:xfrm>
          <a:prstGeom prst="rect">
            <a:avLst/>
          </a:prstGeom>
          <a:noFill/>
          <a:ln/>
        </p:spPr>
        <p:txBody>
          <a:bodyPr wrap="square" lIns="0" tIns="0" rIns="0" bIns="0" rtlCol="0" anchor="ctr"/>
          <a:lstStyle/>
          <a:p>
            <a:pPr indent="0" marL="0">
              <a:buNone/>
            </a:pPr>
            <a:r>
              <a:rPr lang="en-US" sz="750" dirty="0">
                <a:solidFill>
                  <a:srgbClr val="8B8B8B"/>
                </a:solidFill>
              </a:rPr>
              <a:t>King County Housing EDA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aerial_16x9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31520" y="777240"/>
            <a:ext cx="2377440" cy="320040"/>
          </a:xfrm>
          <a:prstGeom prst="rect">
            <a:avLst/>
          </a:prstGeom>
          <a:noFill/>
          <a:ln/>
        </p:spPr>
        <p:txBody>
          <a:bodyPr wrap="square" lIns="0" tIns="0" rIns="0" bIns="0" rtlCol="0" anchor="ctr"/>
          <a:lstStyle/>
          <a:p>
            <a:pPr indent="0" marL="0">
              <a:buNone/>
            </a:pPr>
            <a:r>
              <a:rPr lang="en-US" sz="1300" b="1" dirty="0">
                <a:solidFill>
                  <a:srgbClr val="C9A227"/>
                </a:solidFill>
              </a:rPr>
              <a:t>Final answer</a:t>
            </a:r>
            <a:endParaRPr lang="en-US" sz="1300" dirty="0"/>
          </a:p>
        </p:txBody>
      </p:sp>
      <p:sp>
        <p:nvSpPr>
          <p:cNvPr id="4" name="Text 1"/>
          <p:cNvSpPr/>
          <p:nvPr/>
        </p:nvSpPr>
        <p:spPr>
          <a:xfrm>
            <a:off x="731520" y="1417320"/>
            <a:ext cx="7680960" cy="109728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Maximize resale value by combining location-based pricing with selective property improvements.</a:t>
            </a:r>
            <a:endParaRPr lang="en-US" sz="3100" dirty="0"/>
          </a:p>
        </p:txBody>
      </p:sp>
      <p:sp>
        <p:nvSpPr>
          <p:cNvPr id="5" name="Text 2"/>
          <p:cNvSpPr/>
          <p:nvPr/>
        </p:nvSpPr>
        <p:spPr>
          <a:xfrm>
            <a:off x="749808" y="2862072"/>
            <a:ext cx="6035040" cy="548640"/>
          </a:xfrm>
          <a:prstGeom prst="rect">
            <a:avLst/>
          </a:prstGeom>
          <a:noFill/>
          <a:ln/>
        </p:spPr>
        <p:txBody>
          <a:bodyPr wrap="square" lIns="0" tIns="0" rIns="0" bIns="0" rtlCol="0" anchor="ctr">
            <a:normAutofit/>
          </a:bodyPr>
          <a:lstStyle/>
          <a:p>
            <a:pPr indent="0" marL="0">
              <a:buNone/>
            </a:pPr>
            <a:r>
              <a:rPr lang="en-US" sz="1600" dirty="0">
                <a:solidFill>
                  <a:srgbClr val="F6F4EF"/>
                </a:solidFill>
              </a:rPr>
              <a:t>The strongest signals are location, waterfront/view, renovation status, and grade. Seasonality is secondary.</a:t>
            </a:r>
            <a:endParaRPr lang="en-US" sz="1600" dirty="0"/>
          </a:p>
        </p:txBody>
      </p:sp>
      <p:sp>
        <p:nvSpPr>
          <p:cNvPr id="6" name="Text 3"/>
          <p:cNvSpPr/>
          <p:nvPr/>
        </p:nvSpPr>
        <p:spPr>
          <a:xfrm>
            <a:off x="749808" y="5321808"/>
            <a:ext cx="4023360" cy="411480"/>
          </a:xfrm>
          <a:prstGeom prst="rect">
            <a:avLst/>
          </a:prstGeom>
          <a:noFill/>
          <a:ln/>
        </p:spPr>
        <p:txBody>
          <a:bodyPr wrap="square" lIns="0" tIns="0" rIns="0" bIns="0" rtlCol="0" anchor="ctr"/>
          <a:lstStyle/>
          <a:p>
            <a:pPr indent="0" marL="0">
              <a:buNone/>
            </a:pPr>
            <a:r>
              <a:rPr lang="en-US" sz="2200" b="1" dirty="0">
                <a:solidFill>
                  <a:srgbClr val="FFFFFF"/>
                </a:solidFill>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EDA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King County House Sales Analysis</dc:title>
  <dc:subject>King County Housing EDA</dc:subject>
  <dc:creator>OpenAI</dc:creator>
  <cp:lastModifiedBy>OpenAI</cp:lastModifiedBy>
  <cp:revision>1</cp:revision>
  <dcterms:created xsi:type="dcterms:W3CDTF">2026-07-23T22:33:14Z</dcterms:created>
  <dcterms:modified xsi:type="dcterms:W3CDTF">2026-07-23T22:33:14Z</dcterms:modified>
</cp:coreProperties>
</file>