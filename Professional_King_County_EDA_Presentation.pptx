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6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10.xml.rels" ContentType="application/vnd.openxmlformats-package.relationships+xml"/>
  <Override PartName="/ppt/slides/_rels/slide1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2.xml.rels" ContentType="application/vnd.openxmlformats-package.relationships+xml"/>
  <Override PartName="/ppt/slides/_rels/slide9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_rels/presentation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88825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5715E97-2497-47D4-BD5D-C8CEB75D224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2030025-0F0A-4156-B6AC-93A4E452644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9D61D6D-594A-4906-863F-3871180D9AF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4BBCB36-8376-4575-A320-A35C4A7AF25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1CACBBD-0933-4CEB-96F5-E45B8E717B9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120" y="273600"/>
            <a:ext cx="1096956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D86BBA0-82AC-498C-B12F-806EB07C97A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4043F93-90C2-468D-A7F2-3D744EF7D9C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E57F795-2A70-4A90-A531-6CCC3499BE8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C82415B-4B68-404C-9EF7-1CAE420BA79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04D0816-FC57-4A76-8628-70AC810912E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E2EA003-FF71-4072-BF64-B03C13D492C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820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69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1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820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69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329BE52-A81B-4A2E-9384-305B3A50072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b8b8b"/>
                </a:solidFill>
                <a:latin typeface="Calibri"/>
              </a:rPr>
              <a:t>&lt;date/time&gt;</a:t>
            </a:r>
            <a:endParaRPr b="0" lang="en-US" sz="12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E83BF27-8A7C-42C2-ABDE-CAEAC33FF19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8520" cy="599760"/>
          </a:xfrm>
          <a:prstGeom prst="rect">
            <a:avLst/>
          </a:prstGeom>
          <a:solidFill>
            <a:srgbClr val="0f204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2" name="TextBox 2"/>
          <p:cNvSpPr/>
          <p:nvPr/>
        </p:nvSpPr>
        <p:spPr>
          <a:xfrm>
            <a:off x="3317760" y="109800"/>
            <a:ext cx="50684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King County House Sales Analysis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43" name="Rounded Rectangle 3"/>
          <p:cNvSpPr/>
          <p:nvPr/>
        </p:nvSpPr>
        <p:spPr>
          <a:xfrm>
            <a:off x="457200" y="914400"/>
            <a:ext cx="10972440" cy="5303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solidFill>
              <a:srgbClr val="2563eb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PingFang SC"/>
              </a:rPr>
              <a:t>King County House Sales AnalysisKing County House Sales Analysis</a:t>
            </a: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King County House Sales Analysis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44" name="TextBox 4"/>
          <p:cNvSpPr/>
          <p:nvPr/>
        </p:nvSpPr>
        <p:spPr>
          <a:xfrm rot="6000">
            <a:off x="2596680" y="2333880"/>
            <a:ext cx="639432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en-US" sz="3600" spc="-1" strike="noStrike">
                <a:solidFill>
                  <a:srgbClr val="8b8b8b"/>
                </a:solidFill>
                <a:latin typeface="Calibri"/>
              </a:rPr>
              <a:t>Client-focused Exploratory Data A</a:t>
            </a:r>
            <a:endParaRPr b="0" lang="en-US" sz="3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1"/>
          <p:cNvSpPr/>
          <p:nvPr/>
        </p:nvSpPr>
        <p:spPr>
          <a:xfrm>
            <a:off x="0" y="0"/>
            <a:ext cx="12188520" cy="599760"/>
          </a:xfrm>
          <a:prstGeom prst="rect">
            <a:avLst/>
          </a:prstGeom>
          <a:solidFill>
            <a:srgbClr val="0f204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6" name="TextBox 2"/>
          <p:cNvSpPr/>
          <p:nvPr/>
        </p:nvSpPr>
        <p:spPr>
          <a:xfrm>
            <a:off x="4421880" y="109800"/>
            <a:ext cx="2861640" cy="5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Project Backgroun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47" name="Rounded Rectangle 3"/>
          <p:cNvSpPr/>
          <p:nvPr/>
        </p:nvSpPr>
        <p:spPr>
          <a:xfrm>
            <a:off x="457200" y="914400"/>
            <a:ext cx="10972440" cy="5303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solidFill>
              <a:srgbClr val="2563eb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Client Background</a:t>
            </a:r>
            <a:endParaRPr b="0" lang="en-US" sz="2800" spc="-1" strike="noStrike">
              <a:latin typeface="Arial"/>
            </a:endParaRPr>
          </a:p>
          <a:p>
            <a:pPr algn="ctr">
              <a:buNone/>
            </a:pPr>
            <a:endParaRPr b="0" lang="en-US" sz="1800" spc="-1" strike="noStrike">
              <a:latin typeface="Arial"/>
            </a:endParaRPr>
          </a:p>
        </p:txBody>
      </p:sp>
      <p:sp>
        <p:nvSpPr>
          <p:cNvPr id="48" name="TextBox 4"/>
          <p:cNvSpPr/>
          <p:nvPr/>
        </p:nvSpPr>
        <p:spPr>
          <a:xfrm>
            <a:off x="2704320" y="2268720"/>
            <a:ext cx="6112440" cy="243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439"/>
              </a:spcBef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Client: Timothy Stevens</a:t>
            </a:r>
            <a:br>
              <a:rPr sz="2200"/>
            </a:b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Role: Seller</a:t>
            </a:r>
            <a:br>
              <a:rPr sz="2200"/>
            </a:br>
            <a:br>
              <a:rPr sz="2200"/>
            </a:b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Business Scenario:</a:t>
            </a:r>
            <a:br>
              <a:rPr sz="2200"/>
            </a:b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• Owns expensive houses in the city center.</a:t>
            </a:r>
            <a:br>
              <a:rPr sz="2200"/>
            </a:b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• Wants to sell them within the next year.</a:t>
            </a:r>
            <a:br>
              <a:rPr sz="2200"/>
            </a:b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• Open to renovating properties if it increases profit.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1"/>
          <p:cNvSpPr/>
          <p:nvPr/>
        </p:nvSpPr>
        <p:spPr>
          <a:xfrm>
            <a:off x="0" y="0"/>
            <a:ext cx="12188520" cy="599760"/>
          </a:xfrm>
          <a:prstGeom prst="rect">
            <a:avLst/>
          </a:prstGeom>
          <a:solidFill>
            <a:srgbClr val="0f204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0" name="TextBox 2"/>
          <p:cNvSpPr/>
          <p:nvPr/>
        </p:nvSpPr>
        <p:spPr>
          <a:xfrm>
            <a:off x="4500000" y="109800"/>
            <a:ext cx="27050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Project Objective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51" name="Rounded Rectangle 3"/>
          <p:cNvSpPr/>
          <p:nvPr/>
        </p:nvSpPr>
        <p:spPr>
          <a:xfrm>
            <a:off x="457200" y="914400"/>
            <a:ext cx="10972440" cy="5303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solidFill>
              <a:srgbClr val="2563eb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2" name="TextBox 1"/>
          <p:cNvSpPr/>
          <p:nvPr/>
        </p:nvSpPr>
        <p:spPr>
          <a:xfrm>
            <a:off x="2215080" y="2230560"/>
            <a:ext cx="7178760" cy="12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b">
            <a:spAutoFit/>
          </a:bodyPr>
          <a:p>
            <a:pPr marL="216000" indent="-216000">
              <a:lnSpc>
                <a:spcPct val="150000"/>
              </a:lnSpc>
              <a:buClr>
                <a:srgbClr val="464646"/>
              </a:buClr>
              <a:buFont typeface="Wingdings" charset="2"/>
              <a:buChar char=""/>
            </a:pPr>
            <a:r>
              <a:rPr b="0" lang="en-US" sz="2600" spc="-1" strike="noStrike">
                <a:solidFill>
                  <a:srgbClr val="000000"/>
                </a:solidFill>
                <a:latin typeface="Calibri"/>
                <a:ea typeface="PingFang SC"/>
              </a:rPr>
              <a:t> </a:t>
            </a:r>
            <a:r>
              <a:rPr b="0" lang="en-US" sz="2600" spc="-1" strike="noStrike">
                <a:solidFill>
                  <a:srgbClr val="000000"/>
                </a:solidFill>
                <a:latin typeface="Calibri"/>
                <a:ea typeface="PingFang SC"/>
              </a:rPr>
              <a:t>Identify the factors that maximize selling price</a:t>
            </a:r>
            <a:endParaRPr b="0" lang="en-US" sz="2600" spc="-1" strike="noStrike">
              <a:latin typeface="Arial"/>
              <a:ea typeface="PingFang SC"/>
            </a:endParaRPr>
          </a:p>
          <a:p>
            <a:pPr marL="216000" indent="-216000">
              <a:lnSpc>
                <a:spcPct val="150000"/>
              </a:lnSpc>
              <a:buClr>
                <a:srgbClr val="464646"/>
              </a:buClr>
              <a:buFont typeface="Wingdings" charset="2"/>
              <a:buChar char=""/>
            </a:pPr>
            <a:r>
              <a:rPr b="0" lang="en-US" sz="2600" spc="-1" strike="noStrike">
                <a:solidFill>
                  <a:srgbClr val="000000"/>
                </a:solidFill>
                <a:latin typeface="Calibri"/>
                <a:ea typeface="PingFang SC"/>
              </a:rPr>
              <a:t>Recommend the best selling strategy for the client</a:t>
            </a:r>
            <a:endParaRPr b="0" lang="en-US" sz="2600" spc="-1" strike="noStrike">
              <a:latin typeface="Arial"/>
              <a:ea typeface="PingFang S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tangle 1"/>
          <p:cNvSpPr/>
          <p:nvPr/>
        </p:nvSpPr>
        <p:spPr>
          <a:xfrm>
            <a:off x="0" y="0"/>
            <a:ext cx="12188520" cy="599760"/>
          </a:xfrm>
          <a:prstGeom prst="rect">
            <a:avLst/>
          </a:prstGeom>
          <a:solidFill>
            <a:srgbClr val="0f204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4" name="TextBox 2"/>
          <p:cNvSpPr/>
          <p:nvPr/>
        </p:nvSpPr>
        <p:spPr>
          <a:xfrm>
            <a:off x="5197320" y="109800"/>
            <a:ext cx="13150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Dataset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55" name="Rounded Rectangle 3"/>
          <p:cNvSpPr/>
          <p:nvPr/>
        </p:nvSpPr>
        <p:spPr>
          <a:xfrm>
            <a:off x="360" y="914400"/>
            <a:ext cx="10972440" cy="5303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solidFill>
              <a:srgbClr val="2563eb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6" name="TextBox 7"/>
          <p:cNvSpPr/>
          <p:nvPr/>
        </p:nvSpPr>
        <p:spPr>
          <a:xfrm>
            <a:off x="2471760" y="1707480"/>
            <a:ext cx="6319440" cy="31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Dataset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: King County House Sales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Source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: House sales in King County, Washington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Rows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: 21,597 house sales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Columns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: 21 variables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Target variable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: price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Each row represents one house sale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The dataset contains information about property </a:t>
            </a: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size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, 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quality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, </a:t>
            </a: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location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, </a:t>
            </a: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age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, </a:t>
            </a: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renovation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, and </a:t>
            </a: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sale price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4"/>
          <p:cNvSpPr/>
          <p:nvPr/>
        </p:nvSpPr>
        <p:spPr>
          <a:xfrm>
            <a:off x="0" y="0"/>
            <a:ext cx="12188520" cy="599760"/>
          </a:xfrm>
          <a:prstGeom prst="rect">
            <a:avLst/>
          </a:prstGeom>
          <a:solidFill>
            <a:srgbClr val="0f204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8" name="TextBox 9"/>
          <p:cNvSpPr/>
          <p:nvPr/>
        </p:nvSpPr>
        <p:spPr>
          <a:xfrm>
            <a:off x="3880440" y="109800"/>
            <a:ext cx="3939480" cy="5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Fields &amp; Simple meanings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59" name="Rounded Rectangle 5"/>
          <p:cNvSpPr/>
          <p:nvPr/>
        </p:nvSpPr>
        <p:spPr>
          <a:xfrm>
            <a:off x="385200" y="914400"/>
            <a:ext cx="10972440" cy="5303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solidFill>
              <a:srgbClr val="2563eb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0" name="TextBox 10"/>
          <p:cNvSpPr/>
          <p:nvPr/>
        </p:nvSpPr>
        <p:spPr>
          <a:xfrm>
            <a:off x="6019200" y="1301760"/>
            <a:ext cx="5278680" cy="444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464646"/>
              </a:buClr>
              <a:buFont typeface="Symbol" charset="2"/>
              <a:buChar char=""/>
            </a:pPr>
            <a:endParaRPr b="0" lang="en-US" sz="22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464646"/>
              </a:buClr>
              <a:buFont typeface="Symbol" charset="2"/>
              <a:buChar char=""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sqft_basement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 (</a:t>
            </a:r>
            <a:r>
              <a:rPr b="0" lang="en-US" sz="2000" spc="-1" strike="noStrike">
                <a:solidFill>
                  <a:srgbClr val="464646"/>
                </a:solidFill>
                <a:latin typeface="Calibri"/>
              </a:rPr>
              <a:t>Basement area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)</a:t>
            </a:r>
            <a:endParaRPr b="0" lang="en-US" sz="22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464646"/>
              </a:buClr>
              <a:buFont typeface="Symbol" charset="2"/>
              <a:buChar char=""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yr_built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 (</a:t>
            </a:r>
            <a:r>
              <a:rPr b="0" lang="en-US" sz="2000" spc="-1" strike="noStrike">
                <a:solidFill>
                  <a:srgbClr val="464646"/>
                </a:solidFill>
                <a:latin typeface="Calibri"/>
              </a:rPr>
              <a:t>Year the house was buil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t)</a:t>
            </a:r>
            <a:endParaRPr b="0" lang="en-US" sz="22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464646"/>
              </a:buClr>
              <a:buFont typeface="Symbol" charset="2"/>
              <a:buChar char=""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yr_renovated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 (</a:t>
            </a:r>
            <a:r>
              <a:rPr b="0" lang="en-US" sz="2000" spc="-1" strike="noStrike">
                <a:solidFill>
                  <a:srgbClr val="464646"/>
                </a:solidFill>
                <a:latin typeface="Calibri"/>
              </a:rPr>
              <a:t>Year the house was renovated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)</a:t>
            </a:r>
            <a:endParaRPr b="0" lang="en-US" sz="22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464646"/>
              </a:buClr>
              <a:buFont typeface="Symbol" charset="2"/>
              <a:buChar char=""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zipcode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 (</a:t>
            </a:r>
            <a:r>
              <a:rPr b="0" lang="en-US" sz="2000" spc="-1" strike="noStrike">
                <a:solidFill>
                  <a:srgbClr val="464646"/>
                </a:solidFill>
                <a:latin typeface="Calibri"/>
              </a:rPr>
              <a:t>ZIP code / Property location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)</a:t>
            </a:r>
            <a:endParaRPr b="0" lang="en-US" sz="22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464646"/>
              </a:buClr>
              <a:buFont typeface="Symbol" charset="2"/>
              <a:buChar char=""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lat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 (</a:t>
            </a:r>
            <a:r>
              <a:rPr b="0" lang="en-US" sz="2000" spc="-1" strike="noStrike">
                <a:solidFill>
                  <a:srgbClr val="464646"/>
                </a:solidFill>
                <a:latin typeface="Calibri"/>
              </a:rPr>
              <a:t>Latitude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)</a:t>
            </a:r>
            <a:endParaRPr b="0" lang="en-US" sz="22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464646"/>
              </a:buClr>
              <a:buFont typeface="Symbol" charset="2"/>
              <a:buChar char=""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long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 (</a:t>
            </a:r>
            <a:r>
              <a:rPr b="0" lang="en-US" sz="2000" spc="-1" strike="noStrike">
                <a:solidFill>
                  <a:srgbClr val="464646"/>
                </a:solidFill>
                <a:latin typeface="Calibri"/>
              </a:rPr>
              <a:t>Longitude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)</a:t>
            </a:r>
            <a:endParaRPr b="0" lang="en-US" sz="22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464646"/>
              </a:buClr>
              <a:buFont typeface="Symbol" charset="2"/>
              <a:buChar char=""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sqft_living15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 (</a:t>
            </a:r>
            <a:r>
              <a:rPr b="0" lang="en-US" sz="2000" spc="-1" strike="noStrike">
                <a:solidFill>
                  <a:srgbClr val="464646"/>
                </a:solidFill>
                <a:latin typeface="Calibri"/>
              </a:rPr>
              <a:t>Average living area of the 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464646"/>
              </a:buClr>
              <a:buFont typeface="Symbol" charset="2"/>
              <a:buChar char=""/>
            </a:pPr>
            <a:r>
              <a:rPr b="0" lang="en-US" sz="2000" spc="-1" strike="noStrike">
                <a:solidFill>
                  <a:srgbClr val="464646"/>
                </a:solidFill>
                <a:latin typeface="Calibri"/>
              </a:rPr>
              <a:t>15 nearest neighboring houses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)</a:t>
            </a:r>
            <a:endParaRPr b="0" lang="en-US" sz="22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464646"/>
              </a:buClr>
              <a:buFont typeface="Symbol" charset="2"/>
              <a:buChar char=""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sqft_lot15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 (</a:t>
            </a:r>
            <a:r>
              <a:rPr b="0" lang="en-US" sz="2000" spc="-1" strike="noStrike">
                <a:solidFill>
                  <a:srgbClr val="464646"/>
                </a:solidFill>
                <a:latin typeface="Calibri"/>
              </a:rPr>
              <a:t>Average lot size of the 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464646"/>
              </a:buClr>
              <a:buFont typeface="Symbol" charset="2"/>
              <a:buChar char=""/>
            </a:pPr>
            <a:r>
              <a:rPr b="0" lang="en-US" sz="2000" spc="-1" strike="noStrike">
                <a:solidFill>
                  <a:srgbClr val="464646"/>
                </a:solidFill>
                <a:latin typeface="Calibri"/>
              </a:rPr>
              <a:t>15 nearest neighboring houses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)</a:t>
            </a:r>
            <a:endParaRPr b="0" lang="en-US" sz="22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464646"/>
              </a:buClr>
              <a:buFont typeface="Symbol" charset="2"/>
              <a:buChar char=""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date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 (</a:t>
            </a:r>
            <a:r>
              <a:rPr b="0" lang="en-US" sz="2000" spc="-1" strike="noStrike">
                <a:solidFill>
                  <a:srgbClr val="464646"/>
                </a:solidFill>
                <a:latin typeface="Calibri"/>
              </a:rPr>
              <a:t>Sale date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)</a:t>
            </a:r>
            <a:endParaRPr b="0" lang="en-US" sz="22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464646"/>
              </a:buClr>
              <a:buFont typeface="Symbol" charset="2"/>
              <a:buChar char=""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price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 (</a:t>
            </a:r>
            <a:r>
              <a:rPr b="0" lang="en-US" sz="2000" spc="-1" strike="noStrike">
                <a:solidFill>
                  <a:srgbClr val="464646"/>
                </a:solidFill>
                <a:latin typeface="Calibri"/>
              </a:rPr>
              <a:t>Selling price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)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61" name="TextBox 11"/>
          <p:cNvSpPr/>
          <p:nvPr/>
        </p:nvSpPr>
        <p:spPr>
          <a:xfrm>
            <a:off x="533880" y="1661400"/>
            <a:ext cx="5305680" cy="37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464646"/>
              </a:buClr>
              <a:buFont typeface="Symbol" charset="2"/>
              <a:buChar char=""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sqft_abov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e (</a:t>
            </a:r>
            <a:r>
              <a:rPr b="0" lang="en-US" sz="2000" spc="-1" strike="noStrike">
                <a:solidFill>
                  <a:srgbClr val="464646"/>
                </a:solidFill>
                <a:latin typeface="Calibri"/>
              </a:rPr>
              <a:t>Living area above ground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)</a:t>
            </a:r>
            <a:endParaRPr b="0" lang="en-US" sz="22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464646"/>
              </a:buClr>
              <a:buFont typeface="Symbol" charset="2"/>
              <a:buChar char=""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bedrooms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 (</a:t>
            </a:r>
            <a:r>
              <a:rPr b="0" lang="en-US" sz="2000" spc="-1" strike="noStrike">
                <a:solidFill>
                  <a:srgbClr val="464646"/>
                </a:solidFill>
                <a:latin typeface="Calibri"/>
              </a:rPr>
              <a:t>Number of bedrooms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)</a:t>
            </a:r>
            <a:endParaRPr b="0" lang="en-US" sz="22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464646"/>
              </a:buClr>
              <a:buFont typeface="Symbol" charset="2"/>
              <a:buChar char=""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bathrooms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 (</a:t>
            </a:r>
            <a:r>
              <a:rPr b="0" lang="en-US" sz="2000" spc="-1" strike="noStrike">
                <a:solidFill>
                  <a:srgbClr val="464646"/>
                </a:solidFill>
                <a:latin typeface="Calibri"/>
              </a:rPr>
              <a:t>Number of bathrooms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)</a:t>
            </a:r>
            <a:endParaRPr b="0" lang="en-US" sz="22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464646"/>
              </a:buClr>
              <a:buFont typeface="Symbol" charset="2"/>
              <a:buChar char=""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sqft_living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 (</a:t>
            </a:r>
            <a:r>
              <a:rPr b="0" lang="en-US" sz="2000" spc="-1" strike="noStrike">
                <a:solidFill>
                  <a:srgbClr val="464646"/>
                </a:solidFill>
                <a:latin typeface="Calibri"/>
              </a:rPr>
              <a:t>Living area of the house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)</a:t>
            </a:r>
            <a:endParaRPr b="0" lang="en-US" sz="22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464646"/>
              </a:buClr>
              <a:buFont typeface="Symbol" charset="2"/>
              <a:buChar char=""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sqft_lot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 (</a:t>
            </a:r>
            <a:r>
              <a:rPr b="0" lang="en-US" sz="2000" spc="-1" strike="noStrike">
                <a:solidFill>
                  <a:srgbClr val="464646"/>
                </a:solidFill>
                <a:latin typeface="Calibri"/>
              </a:rPr>
              <a:t>Total land area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)</a:t>
            </a:r>
            <a:endParaRPr b="0" lang="en-US" sz="22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464646"/>
              </a:buClr>
              <a:buFont typeface="Symbol" charset="2"/>
              <a:buChar char=""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floors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 (</a:t>
            </a:r>
            <a:r>
              <a:rPr b="0" lang="en-US" sz="2000" spc="-1" strike="noStrike">
                <a:solidFill>
                  <a:srgbClr val="464646"/>
                </a:solidFill>
                <a:latin typeface="Calibri"/>
              </a:rPr>
              <a:t>Number of floors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)</a:t>
            </a:r>
            <a:endParaRPr b="0" lang="en-US" sz="22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464646"/>
              </a:buClr>
              <a:buFont typeface="Symbol" charset="2"/>
              <a:buChar char=""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waterfront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 (</a:t>
            </a:r>
            <a:r>
              <a:rPr b="0" lang="en-US" sz="2000" spc="-1" strike="noStrike">
                <a:solidFill>
                  <a:srgbClr val="464646"/>
                </a:solidFill>
                <a:latin typeface="Calibri"/>
              </a:rPr>
              <a:t>Whether the house is on 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464646"/>
              </a:buClr>
              <a:buFont typeface="Symbol" charset="2"/>
              <a:buChar char=""/>
            </a:pPr>
            <a:r>
              <a:rPr b="0" lang="en-US" sz="2000" spc="-1" strike="noStrike">
                <a:solidFill>
                  <a:srgbClr val="464646"/>
                </a:solidFill>
                <a:latin typeface="Calibri"/>
              </a:rPr>
              <a:t>the waterfront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)</a:t>
            </a:r>
            <a:endParaRPr b="0" lang="en-US" sz="22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464646"/>
              </a:buClr>
              <a:buFont typeface="Symbol" charset="2"/>
              <a:buChar char=""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view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 (</a:t>
            </a:r>
            <a:r>
              <a:rPr b="0" lang="en-US" sz="2000" spc="-1" strike="noStrike">
                <a:solidFill>
                  <a:srgbClr val="464646"/>
                </a:solidFill>
                <a:latin typeface="Calibri"/>
              </a:rPr>
              <a:t>Quality of the view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)</a:t>
            </a:r>
            <a:endParaRPr b="0" lang="en-US" sz="22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464646"/>
              </a:buClr>
              <a:buFont typeface="Symbol" charset="2"/>
              <a:buChar char=""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condition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 (</a:t>
            </a:r>
            <a:r>
              <a:rPr b="0" lang="en-US" sz="2000" spc="-1" strike="noStrike">
                <a:solidFill>
                  <a:srgbClr val="464646"/>
                </a:solidFill>
                <a:latin typeface="Calibri"/>
              </a:rPr>
              <a:t>Overall condition of the house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)</a:t>
            </a:r>
            <a:endParaRPr b="0" lang="en-US" sz="22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464646"/>
              </a:buClr>
              <a:buFont typeface="Symbol" charset="2"/>
              <a:buChar char=""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grade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 (</a:t>
            </a:r>
            <a:r>
              <a:rPr b="0" lang="en-US" sz="2000" spc="-1" strike="noStrike">
                <a:solidFill>
                  <a:srgbClr val="464646"/>
                </a:solidFill>
                <a:latin typeface="Calibri"/>
              </a:rPr>
              <a:t>Overall construction and design quality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)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 3"/>
          <p:cNvSpPr/>
          <p:nvPr/>
        </p:nvSpPr>
        <p:spPr>
          <a:xfrm>
            <a:off x="0" y="0"/>
            <a:ext cx="12188520" cy="599760"/>
          </a:xfrm>
          <a:prstGeom prst="rect">
            <a:avLst/>
          </a:prstGeom>
          <a:solidFill>
            <a:srgbClr val="0f204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3" name="TextBox 23"/>
          <p:cNvSpPr/>
          <p:nvPr/>
        </p:nvSpPr>
        <p:spPr>
          <a:xfrm>
            <a:off x="3707640" y="109800"/>
            <a:ext cx="42897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Understanding the Data 1/2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64" name="Rounded Rectangle 6"/>
          <p:cNvSpPr/>
          <p:nvPr/>
        </p:nvSpPr>
        <p:spPr>
          <a:xfrm>
            <a:off x="457200" y="914400"/>
            <a:ext cx="10972440" cy="5303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solidFill>
              <a:srgbClr val="2563eb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5" name="TextBox 24"/>
          <p:cNvSpPr/>
          <p:nvPr/>
        </p:nvSpPr>
        <p:spPr>
          <a:xfrm>
            <a:off x="1375560" y="1656720"/>
            <a:ext cx="2721600" cy="344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bedrooms         float64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bathrooms        float64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sqft_living         float64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sqft_lot             float64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floors                 float64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waterfront        float64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view                   float64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condition          int64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grade                 int64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sqft_above       float64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66" name="TextBox 25"/>
          <p:cNvSpPr/>
          <p:nvPr/>
        </p:nvSpPr>
        <p:spPr>
          <a:xfrm>
            <a:off x="7077240" y="1620720"/>
            <a:ext cx="3055320" cy="344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sqft_basement     float64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yr_built                  int64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yr_renovated        float64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zipcode                   int64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lat                            float64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long                         float64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sqft_living15          float64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sqft_lot15              float64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date                         object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price                        float64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67" name="TextBox 26"/>
          <p:cNvSpPr/>
          <p:nvPr/>
        </p:nvSpPr>
        <p:spPr>
          <a:xfrm>
            <a:off x="2383560" y="1008720"/>
            <a:ext cx="2721600" cy="344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" name=""/>
          <p:cNvSpPr txBox="1"/>
          <p:nvPr/>
        </p:nvSpPr>
        <p:spPr>
          <a:xfrm>
            <a:off x="4739040" y="1198800"/>
            <a:ext cx="2624760" cy="70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algn="ctr">
              <a:buNone/>
            </a:pPr>
            <a:r>
              <a:rPr b="1" lang="en-US" sz="2600" spc="-1" strike="noStrike">
                <a:solidFill>
                  <a:srgbClr val="464646"/>
                </a:solidFill>
                <a:latin typeface="Calibri"/>
              </a:rPr>
              <a:t>Data Types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69" name="TextBox 27"/>
          <p:cNvSpPr/>
          <p:nvPr/>
        </p:nvSpPr>
        <p:spPr>
          <a:xfrm>
            <a:off x="2098080" y="5328720"/>
            <a:ext cx="768420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15000"/>
              </a:lnSpc>
              <a:buNone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15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 floating-point variables,   </a:t>
            </a: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5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 integer variables,    </a:t>
            </a: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1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 string variable)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"/>
          <p:cNvSpPr/>
          <p:nvPr/>
        </p:nvSpPr>
        <p:spPr>
          <a:xfrm>
            <a:off x="0" y="0"/>
            <a:ext cx="12188520" cy="599760"/>
          </a:xfrm>
          <a:prstGeom prst="rect">
            <a:avLst/>
          </a:prstGeom>
          <a:solidFill>
            <a:srgbClr val="0f204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1" name="TextBox 2"/>
          <p:cNvSpPr/>
          <p:nvPr/>
        </p:nvSpPr>
        <p:spPr>
          <a:xfrm>
            <a:off x="4002840" y="109800"/>
            <a:ext cx="36986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Understanding the Data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72" name="Rounded Rectangle 3"/>
          <p:cNvSpPr/>
          <p:nvPr/>
        </p:nvSpPr>
        <p:spPr>
          <a:xfrm>
            <a:off x="457200" y="914400"/>
            <a:ext cx="10972440" cy="5303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solidFill>
              <a:srgbClr val="2563eb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3" name="TextBox 14"/>
          <p:cNvSpPr/>
          <p:nvPr/>
        </p:nvSpPr>
        <p:spPr>
          <a:xfrm>
            <a:off x="7279920" y="2340720"/>
            <a:ext cx="2505600" cy="181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Missing values: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15000"/>
              </a:lnSpc>
              <a:buNone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waterfront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: 2,391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view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: 63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sqft_basement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: 452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yr_renovated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: 3,848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74" name="TextBox 16"/>
          <p:cNvSpPr/>
          <p:nvPr/>
        </p:nvSpPr>
        <p:spPr>
          <a:xfrm>
            <a:off x="1156680" y="2391480"/>
            <a:ext cx="4693680" cy="21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Dataset name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: King County House Sales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Number of rows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: 21,597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Number of columns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: 21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464646"/>
                </a:solidFill>
                <a:latin typeface="Calibri"/>
              </a:rPr>
              <a:t>Target variable</a:t>
            </a: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: price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 1"/>
          <p:cNvSpPr/>
          <p:nvPr/>
        </p:nvSpPr>
        <p:spPr>
          <a:xfrm>
            <a:off x="0" y="0"/>
            <a:ext cx="12188520" cy="599760"/>
          </a:xfrm>
          <a:prstGeom prst="rect">
            <a:avLst/>
          </a:prstGeom>
          <a:solidFill>
            <a:srgbClr val="0f204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6" name="TextBox 2"/>
          <p:cNvSpPr/>
          <p:nvPr/>
        </p:nvSpPr>
        <p:spPr>
          <a:xfrm>
            <a:off x="4315680" y="109800"/>
            <a:ext cx="30722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Research Questions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77" name="Rounded Rectangle 3"/>
          <p:cNvSpPr/>
          <p:nvPr/>
        </p:nvSpPr>
        <p:spPr>
          <a:xfrm>
            <a:off x="457200" y="914400"/>
            <a:ext cx="10972440" cy="5303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solidFill>
              <a:srgbClr val="2563eb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8" name="TextBox 4"/>
          <p:cNvSpPr/>
          <p:nvPr/>
        </p:nvSpPr>
        <p:spPr>
          <a:xfrm>
            <a:off x="2211120" y="2268720"/>
            <a:ext cx="7098480" cy="246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50000"/>
              </a:lnSpc>
              <a:spcBef>
                <a:spcPts val="439"/>
              </a:spcBef>
              <a:buNone/>
            </a:pPr>
            <a:r>
              <a:rPr b="0" lang="en-US" sz="2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2600" spc="-1" strike="noStrike">
                <a:solidFill>
                  <a:srgbClr val="000000"/>
                </a:solidFill>
                <a:latin typeface="Calibri"/>
              </a:rPr>
              <a:t>Does grade affect house prices?</a:t>
            </a:r>
            <a:br>
              <a:rPr sz="2600"/>
            </a:br>
            <a:r>
              <a:rPr b="0" lang="en-US" sz="2600" spc="-1" strike="noStrike">
                <a:solidFill>
                  <a:srgbClr val="000000"/>
                </a:solidFill>
                <a:latin typeface="Calibri"/>
              </a:rPr>
              <a:t>• Should houses be renovated before selling?</a:t>
            </a:r>
            <a:br>
              <a:rPr sz="2600"/>
            </a:br>
            <a:r>
              <a:rPr b="0" lang="en-US" sz="2600" spc="-1" strike="noStrike">
                <a:solidFill>
                  <a:srgbClr val="000000"/>
                </a:solidFill>
                <a:latin typeface="Calibri"/>
              </a:rPr>
              <a:t>• Does location affect house prices?</a:t>
            </a:r>
            <a:br>
              <a:rPr sz="2600"/>
            </a:br>
            <a:r>
              <a:rPr b="0" lang="en-US" sz="2600" spc="-1" strike="noStrike">
                <a:solidFill>
                  <a:srgbClr val="000000"/>
                </a:solidFill>
                <a:latin typeface="Calibri"/>
              </a:rPr>
              <a:t>• What is the best time within the next year to sell?</a:t>
            </a:r>
            <a:endParaRPr b="0" lang="en-US" sz="2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1"/>
          <p:cNvSpPr/>
          <p:nvPr/>
        </p:nvSpPr>
        <p:spPr>
          <a:xfrm>
            <a:off x="0" y="0"/>
            <a:ext cx="12188520" cy="599760"/>
          </a:xfrm>
          <a:prstGeom prst="rect">
            <a:avLst/>
          </a:prstGeom>
          <a:solidFill>
            <a:srgbClr val="0f204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0" name="TextBox 2"/>
          <p:cNvSpPr/>
          <p:nvPr/>
        </p:nvSpPr>
        <p:spPr>
          <a:xfrm>
            <a:off x="4506480" y="109800"/>
            <a:ext cx="2691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Final Hypotheses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81" name="Rounded Rectangle 3"/>
          <p:cNvSpPr/>
          <p:nvPr/>
        </p:nvSpPr>
        <p:spPr>
          <a:xfrm>
            <a:off x="457200" y="914400"/>
            <a:ext cx="10972440" cy="5303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solidFill>
              <a:srgbClr val="2563eb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2" name="TextBox 4"/>
          <p:cNvSpPr/>
          <p:nvPr/>
        </p:nvSpPr>
        <p:spPr>
          <a:xfrm>
            <a:off x="631800" y="1836720"/>
            <a:ext cx="10761840" cy="246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marL="216000" indent="-216000">
              <a:lnSpc>
                <a:spcPct val="150000"/>
              </a:lnSpc>
              <a:buClr>
                <a:srgbClr val="464646"/>
              </a:buClr>
              <a:buFont typeface="Symbol" charset="2"/>
              <a:buChar char=""/>
            </a:pPr>
            <a:r>
              <a:rPr b="0" lang="en-US" sz="2600" spc="-1" strike="noStrike">
                <a:solidFill>
                  <a:srgbClr val="464646"/>
                </a:solidFill>
                <a:latin typeface="Calibri"/>
              </a:rPr>
              <a:t>Houses in more desirable locations are expected to have higher selling prices.</a:t>
            </a:r>
            <a:endParaRPr b="0" lang="en-US" sz="2600" spc="-1" strike="noStrike"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464646"/>
              </a:buClr>
              <a:buFont typeface="Symbol" charset="2"/>
              <a:buChar char=""/>
            </a:pPr>
            <a:r>
              <a:rPr b="0" lang="en-US" sz="2600" spc="-1" strike="noStrike">
                <a:solidFill>
                  <a:srgbClr val="464646"/>
                </a:solidFill>
                <a:latin typeface="Calibri"/>
              </a:rPr>
              <a:t>Houses with a higher grade are expected to sell for higher prices.</a:t>
            </a:r>
            <a:endParaRPr b="0" lang="en-US" sz="2600" spc="-1" strike="noStrike"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464646"/>
              </a:buClr>
              <a:buFont typeface="Symbol" charset="2"/>
              <a:buChar char=""/>
            </a:pPr>
            <a:r>
              <a:rPr b="0" lang="en-US" sz="2600" spc="-1" strike="noStrike">
                <a:solidFill>
                  <a:srgbClr val="464646"/>
                </a:solidFill>
                <a:latin typeface="Calibri"/>
              </a:rPr>
              <a:t>Renovated houses are expected to achieve higher selling prices.</a:t>
            </a:r>
            <a:endParaRPr b="0" lang="en-US" sz="2600" spc="-1" strike="noStrike"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464646"/>
              </a:buClr>
              <a:buFont typeface="Symbol" charset="2"/>
              <a:buChar char=""/>
            </a:pPr>
            <a:r>
              <a:rPr b="0" lang="en-US" sz="2600" spc="-1" strike="noStrike">
                <a:solidFill>
                  <a:srgbClr val="464646"/>
                </a:solidFill>
                <a:latin typeface="Calibri"/>
              </a:rPr>
              <a:t>Selling date affects price.</a:t>
            </a:r>
            <a:endParaRPr b="0" lang="en-US" sz="2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 1"/>
          <p:cNvSpPr/>
          <p:nvPr/>
        </p:nvSpPr>
        <p:spPr>
          <a:xfrm>
            <a:off x="0" y="0"/>
            <a:ext cx="12188520" cy="599760"/>
          </a:xfrm>
          <a:prstGeom prst="rect">
            <a:avLst/>
          </a:prstGeom>
          <a:solidFill>
            <a:srgbClr val="0f204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4" name="TextBox 2"/>
          <p:cNvSpPr/>
          <p:nvPr/>
        </p:nvSpPr>
        <p:spPr>
          <a:xfrm>
            <a:off x="4695480" y="109800"/>
            <a:ext cx="2313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EDA Workflow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85" name="Rounded Rectangle 3"/>
          <p:cNvSpPr/>
          <p:nvPr/>
        </p:nvSpPr>
        <p:spPr>
          <a:xfrm>
            <a:off x="457200" y="914400"/>
            <a:ext cx="10972440" cy="5303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solidFill>
              <a:srgbClr val="2563eb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6" name="TextBox 4"/>
          <p:cNvSpPr/>
          <p:nvPr/>
        </p:nvSpPr>
        <p:spPr>
          <a:xfrm>
            <a:off x="4599360" y="1188720"/>
            <a:ext cx="2322360" cy="17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Data Cleaning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Univariate Analysis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Bivariate Analysis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Correlation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Business Insights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5"/>
          <p:cNvSpPr/>
          <p:nvPr/>
        </p:nvSpPr>
        <p:spPr>
          <a:xfrm>
            <a:off x="0" y="0"/>
            <a:ext cx="12188520" cy="599760"/>
          </a:xfrm>
          <a:prstGeom prst="rect">
            <a:avLst/>
          </a:prstGeom>
          <a:solidFill>
            <a:srgbClr val="0f204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8" name="TextBox 6"/>
          <p:cNvSpPr/>
          <p:nvPr/>
        </p:nvSpPr>
        <p:spPr>
          <a:xfrm>
            <a:off x="4144320" y="109800"/>
            <a:ext cx="34149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Expected Deliverables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89" name="Rounded Rectangle 2"/>
          <p:cNvSpPr/>
          <p:nvPr/>
        </p:nvSpPr>
        <p:spPr>
          <a:xfrm>
            <a:off x="457200" y="914400"/>
            <a:ext cx="10972440" cy="5303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solidFill>
              <a:srgbClr val="2563eb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0" name="TextBox 8"/>
          <p:cNvSpPr/>
          <p:nvPr/>
        </p:nvSpPr>
        <p:spPr>
          <a:xfrm>
            <a:off x="4239720" y="1188720"/>
            <a:ext cx="304164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Pricing strategy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Renovation strategy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Selling recommendations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 2"/>
          <p:cNvSpPr/>
          <p:nvPr/>
        </p:nvSpPr>
        <p:spPr>
          <a:xfrm>
            <a:off x="0" y="0"/>
            <a:ext cx="12188520" cy="599760"/>
          </a:xfrm>
          <a:prstGeom prst="rect">
            <a:avLst/>
          </a:prstGeom>
          <a:solidFill>
            <a:srgbClr val="0f204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2" name="TextBox 3"/>
          <p:cNvSpPr/>
          <p:nvPr/>
        </p:nvSpPr>
        <p:spPr>
          <a:xfrm>
            <a:off x="5001480" y="109800"/>
            <a:ext cx="17006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Thank You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93" name="Rounded Rectangle 1"/>
          <p:cNvSpPr/>
          <p:nvPr/>
        </p:nvSpPr>
        <p:spPr>
          <a:xfrm>
            <a:off x="457200" y="914400"/>
            <a:ext cx="10972440" cy="5303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solidFill>
              <a:srgbClr val="2563eb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4" name="TextBox 5"/>
          <p:cNvSpPr/>
          <p:nvPr/>
        </p:nvSpPr>
        <p:spPr>
          <a:xfrm>
            <a:off x="5036040" y="1188720"/>
            <a:ext cx="144900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464646"/>
                </a:solidFill>
                <a:latin typeface="Calibri"/>
              </a:rPr>
              <a:t>Questions?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</TotalTime>
  <Application>PPTXPresentationEditor/1.2.0.0$MacOSX_AARCH64 LibreOffice_project/e114eadc50a9ff8d8c8a0567d6da8f454beeb84f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2026-07-22T00:28:26Z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