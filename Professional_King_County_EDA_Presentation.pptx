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B6B3ED-67CD-4A28-988A-282B69A3B2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B0B1EB-69BB-453F-BAF2-B3F9CA7672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1D6226-8A13-45FF-9E7B-68FD42B82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6B9BB1-3F89-47A6-8AB8-CBA6463000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A0544C-1A79-4098-A487-4048F78C5C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E158E6-CBBB-481D-82F8-AB3F0E4800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6246B2-BA9C-49A0-A69E-BF327BA962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B4D3CA-FBF3-4C88-B019-1000C32316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A4D97D-C86D-4685-8C87-29EA80FB96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32A6D5-8448-410E-8E8D-A6AA7705DD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19239C-8B25-4109-9AEE-232945270A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4C6492-2E8A-4964-B4AC-CA308FD145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33302F-CE67-49A8-ACFA-12723C7FD7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F04BA7-538C-4722-9EDD-C69FF0513F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8F7BFD-94A6-4AB2-97D4-207F657D1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8E6EC7-7CED-4943-A16E-A1B8DE3FD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4E3463-1FFB-4FD5-9D81-9AF1E71603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34C620-8DD2-4612-8594-A40CB17D9D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672D82-6CD6-41EB-8302-7CC8C52D77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16D698-6673-404F-916E-4F13F6B357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F87838-812A-43E4-B978-4E8BC1294F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320554-DC88-456B-951B-A2F7CAF36A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A07C13-9BC6-4C01-B9A7-243C8747A9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0E9787-84C5-4072-9237-A749266DD6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07366FF-4AE7-461A-A698-B51093C89E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B762EB-E0ED-40F5-8FE2-BF04333377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F8772B-7497-46C7-BDDF-BED422FEF1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09C3AAE-DABF-490C-B68D-82084301D1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C91D09-8D60-4F7F-884F-373B16BB52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D23E9BA-EC73-4C54-8D16-34478A3F50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C18861A-BFBC-4BDC-BE9C-7E192BC6E3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101191-5187-46CD-8A05-11C4B206EB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FA7311-FECC-495B-97D7-B6C5A63E63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71572B3-160F-4223-8ED5-4F1922C503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43D8DB-61F0-466C-B6F5-9E85CB065C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F059A0-236C-4AB0-919F-2A6081060B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923984-3AA9-4442-AB7D-ACBCEFF3032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654DEB-9AB1-4036-A5CD-C326E7A0288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05FA67-616D-4E2F-B18C-AD5AE957591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TextBox 2"/>
          <p:cNvSpPr/>
          <p:nvPr/>
        </p:nvSpPr>
        <p:spPr>
          <a:xfrm>
            <a:off x="3317760" y="109800"/>
            <a:ext cx="5068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King County House Sales Analysis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5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PingFang SC"/>
              </a:rPr>
              <a:t>King County House Sales AnalysisKing County House Sales Analysis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King County House Sales Analysis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 rot="6000">
            <a:off x="2596680" y="2333880"/>
            <a:ext cx="639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8b8b8b"/>
                </a:solidFill>
                <a:latin typeface="Calibri"/>
                <a:ea typeface="DejaVu Sans"/>
              </a:rPr>
              <a:t>Client-focused Exploratory Data A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8" name="TextBox 2"/>
          <p:cNvSpPr/>
          <p:nvPr/>
        </p:nvSpPr>
        <p:spPr>
          <a:xfrm>
            <a:off x="4421880" y="109800"/>
            <a:ext cx="2861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Project Backgroun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9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Client Background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2840400" y="1897920"/>
            <a:ext cx="5933880" cy="29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5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Client: Timothy Stevens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Role: Seller</a:t>
            </a:r>
            <a:br>
              <a:rPr sz="2200"/>
            </a:br>
            <a:br>
              <a:rPr sz="2200"/>
            </a:br>
            <a:r>
              <a:rPr b="0" lang="en-US" sz="2200" spc="-1" strike="noStrike">
                <a:solidFill>
                  <a:srgbClr val="c9211e"/>
                </a:solidFill>
                <a:highlight>
                  <a:srgbClr val="ffffff"/>
                </a:highlight>
                <a:latin typeface="Calibri"/>
              </a:rPr>
              <a:t>Business Scenario: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• Owns expensive houses in the city center.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• Wants to sell them within the next year.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• Open to renovating properties if it increases profit.</a:t>
            </a:r>
            <a:endParaRPr b="0" lang="en-US" sz="2200" spc="-1" strike="noStrike">
              <a:solidFill>
                <a:srgbClr val="000000"/>
              </a:solidFill>
              <a:latin typeface="Calibri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TextBox 2"/>
          <p:cNvSpPr/>
          <p:nvPr/>
        </p:nvSpPr>
        <p:spPr>
          <a:xfrm>
            <a:off x="4500000" y="109800"/>
            <a:ext cx="2705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Project Objective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3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TextBox 1"/>
          <p:cNvSpPr/>
          <p:nvPr/>
        </p:nvSpPr>
        <p:spPr>
          <a:xfrm>
            <a:off x="2477520" y="2823480"/>
            <a:ext cx="6652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b">
            <a:spAutoFit/>
          </a:bodyPr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Wingdings" charset="2"/>
              <a:buChar char="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PingFang SC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PingFang SC"/>
              </a:rPr>
              <a:t>Identify the factors that maximize selling price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2417040" y="3579480"/>
            <a:ext cx="72061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b">
            <a:spAutoFit/>
          </a:bodyPr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Wingdings" charset="2"/>
              <a:buChar char="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PingFang SC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PingFang SC"/>
              </a:rPr>
              <a:t>Recommend the best selling strategy for the client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TextBox 2"/>
          <p:cNvSpPr/>
          <p:nvPr/>
        </p:nvSpPr>
        <p:spPr>
          <a:xfrm>
            <a:off x="5197320" y="109800"/>
            <a:ext cx="13147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Dataset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" name="Rounded Rectangle 3"/>
          <p:cNvSpPr/>
          <p:nvPr/>
        </p:nvSpPr>
        <p:spPr>
          <a:xfrm>
            <a:off x="36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TextBox 7"/>
          <p:cNvSpPr/>
          <p:nvPr/>
        </p:nvSpPr>
        <p:spPr>
          <a:xfrm>
            <a:off x="2471760" y="1707480"/>
            <a:ext cx="631908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Dataset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King County House Sales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Source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House sales in King County, Washington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Rows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21,597 house sales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Columns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21 variables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Target variable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price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Each row represents one house sale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The dataset contains information about property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size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,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quality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,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location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,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age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,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renovation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, and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sale price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4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TextBox 9"/>
          <p:cNvSpPr/>
          <p:nvPr/>
        </p:nvSpPr>
        <p:spPr>
          <a:xfrm>
            <a:off x="3880440" y="109800"/>
            <a:ext cx="39394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Fields &amp; Simple meanings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385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TextBox 10"/>
          <p:cNvSpPr/>
          <p:nvPr/>
        </p:nvSpPr>
        <p:spPr>
          <a:xfrm>
            <a:off x="6019200" y="1301760"/>
            <a:ext cx="5278320" cy="44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sqft_basement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Basement area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yr_built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Year the house was buil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t)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yr_renovated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Year the house was renovated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zipcode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ZIP code / Property location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lat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Latitude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long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Longitude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sqft_living15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Average living area of the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15 nearest neighboring houses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sqft_lot15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Average lot size of the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15 nearest neighboring houses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date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Sale date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price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Selling price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533880" y="1733400"/>
            <a:ext cx="5305320" cy="37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highlight>
                  <a:srgbClr val="ffffff"/>
                </a:highlight>
                <a:latin typeface="Calibri"/>
                <a:ea typeface="DejaVu Sans"/>
              </a:rPr>
              <a:t>sqft_abov</a:t>
            </a:r>
            <a:r>
              <a:rPr b="0" lang="en-US" sz="2200" spc="-1" strike="noStrike">
                <a:solidFill>
                  <a:srgbClr val="2a6099"/>
                </a:solidFill>
                <a:highlight>
                  <a:srgbClr val="ffffff"/>
                </a:highlight>
                <a:latin typeface="Calibri"/>
                <a:ea typeface="DejaVu Sans"/>
              </a:rPr>
              <a:t>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Living area above ground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bedrooms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Number of bedrooms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bathrooms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Number of bathrooms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sqft_living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Living area of the house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sqft_lot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Total land area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floors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Number of floors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waterfront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Whether the house is on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the waterfront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view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Quality of the view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condition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Overall condition of the house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464646"/>
              </a:buClr>
              <a:buFont typeface="Symbol"/>
              <a:buChar char=""/>
            </a:pPr>
            <a:r>
              <a:rPr b="1" lang="en-US" sz="2200" spc="-1" strike="noStrike">
                <a:solidFill>
                  <a:srgbClr val="2a6099"/>
                </a:solidFill>
                <a:latin typeface="Calibri"/>
                <a:ea typeface="DejaVu Sans"/>
              </a:rPr>
              <a:t>grade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(</a:t>
            </a:r>
            <a:r>
              <a:rPr b="0" lang="en-US" sz="2000" spc="-1" strike="noStrike">
                <a:solidFill>
                  <a:srgbClr val="464646"/>
                </a:solidFill>
                <a:latin typeface="Calibri"/>
                <a:ea typeface="DejaVu Sans"/>
              </a:rPr>
              <a:t>Overall construction and design quality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3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Box 23"/>
          <p:cNvSpPr/>
          <p:nvPr/>
        </p:nvSpPr>
        <p:spPr>
          <a:xfrm>
            <a:off x="3707640" y="109800"/>
            <a:ext cx="42897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Understanding the Data 1/2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7" name="Rounded Rectangle 6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TextBox 24"/>
          <p:cNvSpPr/>
          <p:nvPr/>
        </p:nvSpPr>
        <p:spPr>
          <a:xfrm>
            <a:off x="1375560" y="1656720"/>
            <a:ext cx="272124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bedrooms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bathrooms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sqft_living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sqft_lot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floors    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waterfront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view      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condition          int64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grade                 int64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sqft_above       float64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7077240" y="1620720"/>
            <a:ext cx="305496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sqft_basement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yr_built                  int64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yr_renovated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zipcode                   int64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lat               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long            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sqft_living15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sqft_lot15              float64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date                         object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price                        float64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0" name="TextBox 26"/>
          <p:cNvSpPr/>
          <p:nvPr/>
        </p:nvSpPr>
        <p:spPr>
          <a:xfrm>
            <a:off x="2383560" y="1008720"/>
            <a:ext cx="2721240" cy="34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4739040" y="1198800"/>
            <a:ext cx="2624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464646"/>
                </a:solidFill>
                <a:latin typeface="Calibri"/>
              </a:rPr>
              <a:t>Data Types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52" name="TextBox 27"/>
          <p:cNvSpPr/>
          <p:nvPr/>
        </p:nvSpPr>
        <p:spPr>
          <a:xfrm>
            <a:off x="2098080" y="5328720"/>
            <a:ext cx="7684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15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floating-point variables,  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5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integer variables,    </a:t>
            </a: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1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 string variable)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Box 2"/>
          <p:cNvSpPr/>
          <p:nvPr/>
        </p:nvSpPr>
        <p:spPr>
          <a:xfrm>
            <a:off x="4002840" y="109800"/>
            <a:ext cx="3698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Understanding the Data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TextBox 14"/>
          <p:cNvSpPr/>
          <p:nvPr/>
        </p:nvSpPr>
        <p:spPr>
          <a:xfrm>
            <a:off x="7279920" y="2340720"/>
            <a:ext cx="250560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Missing values: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waterfront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2,391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view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63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sqft_basement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452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yr_renovated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3,848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7" name="TextBox 16"/>
          <p:cNvSpPr/>
          <p:nvPr/>
        </p:nvSpPr>
        <p:spPr>
          <a:xfrm>
            <a:off x="1156680" y="2391480"/>
            <a:ext cx="469332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Dataset name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King County House Sales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Number of rows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21,597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Number of columns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21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Target variable</a:t>
            </a: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: price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TextBox 2"/>
          <p:cNvSpPr/>
          <p:nvPr/>
        </p:nvSpPr>
        <p:spPr>
          <a:xfrm>
            <a:off x="4315680" y="109800"/>
            <a:ext cx="30718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Research Questions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0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Box 4"/>
          <p:cNvSpPr/>
          <p:nvPr/>
        </p:nvSpPr>
        <p:spPr>
          <a:xfrm>
            <a:off x="2211120" y="2268720"/>
            <a:ext cx="709812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50000"/>
              </a:lnSpc>
              <a:spcBef>
                <a:spcPts val="439"/>
              </a:spcBef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Does grade affect house prices?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• Should houses be renovated before selling?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• Does location affect house prices?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• What is the best time within the next year to sell?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Box 2"/>
          <p:cNvSpPr/>
          <p:nvPr/>
        </p:nvSpPr>
        <p:spPr>
          <a:xfrm>
            <a:off x="4506480" y="109800"/>
            <a:ext cx="2690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Final Hypotheses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4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TextBox 4"/>
          <p:cNvSpPr/>
          <p:nvPr/>
        </p:nvSpPr>
        <p:spPr>
          <a:xfrm>
            <a:off x="631800" y="1836720"/>
            <a:ext cx="1076184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600" spc="-1" strike="noStrike">
                <a:solidFill>
                  <a:srgbClr val="464646"/>
                </a:solidFill>
                <a:latin typeface="Calibri"/>
                <a:ea typeface="DejaVu Sans"/>
              </a:rPr>
              <a:t>Houses in more desirable locations are expected to have higher selling prices.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600" spc="-1" strike="noStrike">
                <a:solidFill>
                  <a:srgbClr val="464646"/>
                </a:solidFill>
                <a:latin typeface="Calibri"/>
                <a:ea typeface="DejaVu Sans"/>
              </a:rPr>
              <a:t>Houses with a higher grade are expected to sell for higher prices.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600" spc="-1" strike="noStrike">
                <a:solidFill>
                  <a:srgbClr val="464646"/>
                </a:solidFill>
                <a:latin typeface="Calibri"/>
                <a:ea typeface="DejaVu Sans"/>
              </a:rPr>
              <a:t>Renovated houses are expected to achieve higher selling prices.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464646"/>
              </a:buClr>
              <a:buFont typeface="Symbol"/>
              <a:buChar char=""/>
            </a:pPr>
            <a:r>
              <a:rPr b="0" lang="en-US" sz="2600" spc="-1" strike="noStrike">
                <a:solidFill>
                  <a:srgbClr val="464646"/>
                </a:solidFill>
                <a:latin typeface="Calibri"/>
                <a:ea typeface="DejaVu Sans"/>
              </a:rPr>
              <a:t>Selling date affects price.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TextBox 2"/>
          <p:cNvSpPr/>
          <p:nvPr/>
        </p:nvSpPr>
        <p:spPr>
          <a:xfrm>
            <a:off x="4695480" y="109800"/>
            <a:ext cx="2312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EDA Workflow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Rounded Rectangle 3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Box 4"/>
          <p:cNvSpPr/>
          <p:nvPr/>
        </p:nvSpPr>
        <p:spPr>
          <a:xfrm>
            <a:off x="4599360" y="1188720"/>
            <a:ext cx="232200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Data Cleaning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Univariate Analysis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Bivariate Analysis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Correlation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Business Insights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5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TextBox 6"/>
          <p:cNvSpPr/>
          <p:nvPr/>
        </p:nvSpPr>
        <p:spPr>
          <a:xfrm>
            <a:off x="4144320" y="109800"/>
            <a:ext cx="34146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Expected Deliverables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2" name="Rounded Rectangle 2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TextBox 8"/>
          <p:cNvSpPr/>
          <p:nvPr/>
        </p:nvSpPr>
        <p:spPr>
          <a:xfrm>
            <a:off x="4239720" y="1188720"/>
            <a:ext cx="30412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Pricing strategy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Renovation strategy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Selling recommendations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2"/>
          <p:cNvSpPr/>
          <p:nvPr/>
        </p:nvSpPr>
        <p:spPr>
          <a:xfrm>
            <a:off x="0" y="0"/>
            <a:ext cx="12188160" cy="599400"/>
          </a:xfrm>
          <a:prstGeom prst="rect">
            <a:avLst/>
          </a:prstGeom>
          <a:solidFill>
            <a:srgbClr val="0f204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TextBox 3"/>
          <p:cNvSpPr/>
          <p:nvPr/>
        </p:nvSpPr>
        <p:spPr>
          <a:xfrm>
            <a:off x="5001480" y="109800"/>
            <a:ext cx="1700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Thank You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6" name="Rounded Rectangle 1"/>
          <p:cNvSpPr/>
          <p:nvPr/>
        </p:nvSpPr>
        <p:spPr>
          <a:xfrm>
            <a:off x="457200" y="914400"/>
            <a:ext cx="10972080" cy="53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TextBox 5"/>
          <p:cNvSpPr/>
          <p:nvPr/>
        </p:nvSpPr>
        <p:spPr>
          <a:xfrm>
            <a:off x="5036040" y="1188720"/>
            <a:ext cx="1448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464646"/>
                </a:solidFill>
                <a:latin typeface="Calibri"/>
                <a:ea typeface="DejaVu Sans"/>
              </a:rPr>
              <a:t>Questions?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PPTXPresentationEditor/1.2.0.0$MacOSX_AARCH64 LibreOffice_project/e114eadc50a9ff8d8c8a0567d6da8f454beeb84f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2026-07-22T00:56:43Z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