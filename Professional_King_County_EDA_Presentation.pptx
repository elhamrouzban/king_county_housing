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3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_rels/slideLayout34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1.xml.rels" ContentType="application/vnd.openxmlformats-package.relationships+xml"/>
  <Override PartName="/ppt/slideLayouts/slideLayout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_rels/presentation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12188825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98C4C2F-F167-49D7-B4FA-EE7B8B712F8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6FFDDC6-F1FF-4E1B-A2FE-EC3FFFC16A2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00A4911-4AE5-48B4-96ED-82DFF88B369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7DE757D-927C-4FDA-973B-C1F3954E134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DFF66CA-5773-4D96-87DE-17FB47201C4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120" y="273600"/>
            <a:ext cx="1096956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3B4830A-186C-483A-A502-AE08271AD9C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18E1685-7F83-4D32-B49E-C7B145E157F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E478E1C-BEA4-443F-A5E4-5BF7842A75E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E2E8ADE-CE4C-4321-99F5-53BAAA69F4C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A44FC4F-BDE2-4F1A-95ED-CCD0563E28E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79DAD2D-1826-4E5A-9774-209B5DE92A2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820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69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1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820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69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FA73D81-B7ED-49D5-B4BF-0F9564B5BB3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B46E58E-1360-4A1D-9A20-AF7D73EC61F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02C3731-A474-47C8-B587-340DEFA0C53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65E3213-846A-40A9-8A7C-6E6E6AF259A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317CCAC-4920-44A2-B644-971FA3ADE5C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54DBDFF-0EDE-4CCC-9827-836F7BB1518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609120" y="273600"/>
            <a:ext cx="1096956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DF9877E-3EA6-4EA0-932A-D28F7EBC6DB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CD3BFF0-6F2E-4838-88D8-C502E47F692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01E24A6-5D3B-4FF4-BCA3-30858D0F7E0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6358B2D-589E-437E-9F0A-25453C05AF3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DCA9EF4-24A5-499A-A160-DD8EF023343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29502E8-0241-4F0C-994D-D96D81851A7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431820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80269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6091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431820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80269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A074FAD-3143-4365-A0BB-BA7432D9039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0F5C1FA-E78E-4909-9DA0-E076989A1A3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4B67DB6-2AA3-4748-8BCE-D78EB09B45F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DF26190-62D8-4F5E-8966-80DF738A36A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3335A2B-6C41-4CF0-B4CD-2F14F78EB94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BAF756A-A907-4444-83DF-88875BF0BAE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609120" y="273600"/>
            <a:ext cx="1096956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42F5383-49F5-4082-9888-5BF8A533CB2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533DC3C-39A3-459D-922F-7B353154EFF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A5D7043-BA0A-436D-B8A9-27C7ACF4B24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F3C246F-DDD7-49B5-8034-E42028F58EC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892C372-9898-406B-9E2E-49D5A117038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1C9D4D6-B90C-46A4-9EED-02C001C5069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431820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80269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6091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431820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80269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6A5EDE5-12B7-40F7-81ED-BF151490561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20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Click to edit the outline text format</a:t>
            </a:r>
            <a:endParaRPr b="0" lang="en-US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Second Outline Level</a:t>
            </a:r>
            <a:endParaRPr b="0" lang="en-US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Third Outline Level</a:t>
            </a:r>
            <a:endParaRPr b="0" lang="en-US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Fourth Outline Level</a:t>
            </a:r>
            <a:endParaRPr b="0" lang="en-US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Fifth Outline Level</a:t>
            </a:r>
            <a:endParaRPr b="0" lang="en-US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Sixth Outline Level</a:t>
            </a:r>
            <a:endParaRPr b="0" lang="en-US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Seventh Outline Level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5E3FDF0-2EF4-410A-AADC-EF707A9AABF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AF00F85-445F-400F-8099-24EDE74EB40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1C0AADB-F97E-4036-B3D8-58A1B0FDE82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Rectangle 1"/>
          <p:cNvSpPr/>
          <p:nvPr/>
        </p:nvSpPr>
        <p:spPr>
          <a:xfrm>
            <a:off x="0" y="0"/>
            <a:ext cx="12187800" cy="599040"/>
          </a:xfrm>
          <a:prstGeom prst="rect">
            <a:avLst/>
          </a:prstGeom>
          <a:solidFill>
            <a:srgbClr val="0f2046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24" name="TextBox 2"/>
          <p:cNvSpPr/>
          <p:nvPr/>
        </p:nvSpPr>
        <p:spPr>
          <a:xfrm>
            <a:off x="3317760" y="109800"/>
            <a:ext cx="50677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King County House Sales Analysis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25" name="Rounded Rectangle 3"/>
          <p:cNvSpPr/>
          <p:nvPr/>
        </p:nvSpPr>
        <p:spPr>
          <a:xfrm>
            <a:off x="457200" y="914400"/>
            <a:ext cx="10971720" cy="5302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2563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PingFang SC"/>
              </a:rPr>
              <a:t>King County House Sales AnalysisKing County House Sales Analysis</a:t>
            </a: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King County House Sales Analysis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26" name="TextBox 4"/>
          <p:cNvSpPr/>
          <p:nvPr/>
        </p:nvSpPr>
        <p:spPr>
          <a:xfrm rot="6000">
            <a:off x="2596680" y="2333880"/>
            <a:ext cx="6393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en-US" sz="3600" spc="-1" strike="noStrike">
                <a:solidFill>
                  <a:srgbClr val="8b8b8b"/>
                </a:solidFill>
                <a:latin typeface="Calibri"/>
                <a:ea typeface="DejaVu Sans"/>
              </a:rPr>
              <a:t>Client-focused Exploratory Data A</a:t>
            </a:r>
            <a:endParaRPr b="0" lang="en-US" sz="3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tangle 1"/>
          <p:cNvSpPr/>
          <p:nvPr/>
        </p:nvSpPr>
        <p:spPr>
          <a:xfrm>
            <a:off x="0" y="0"/>
            <a:ext cx="12187800" cy="599040"/>
          </a:xfrm>
          <a:prstGeom prst="rect">
            <a:avLst/>
          </a:prstGeom>
          <a:solidFill>
            <a:srgbClr val="0f2046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28" name="TextBox 2"/>
          <p:cNvSpPr/>
          <p:nvPr/>
        </p:nvSpPr>
        <p:spPr>
          <a:xfrm>
            <a:off x="4421880" y="109800"/>
            <a:ext cx="28609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Project Backgroun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29" name="Rounded Rectangle 3"/>
          <p:cNvSpPr/>
          <p:nvPr/>
        </p:nvSpPr>
        <p:spPr>
          <a:xfrm>
            <a:off x="457200" y="914400"/>
            <a:ext cx="10971720" cy="5302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2563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Client Background</a:t>
            </a:r>
            <a:endParaRPr b="0" lang="en-US" sz="28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</p:txBody>
      </p:sp>
      <p:sp>
        <p:nvSpPr>
          <p:cNvPr id="130" name="TextBox 4"/>
          <p:cNvSpPr/>
          <p:nvPr/>
        </p:nvSpPr>
        <p:spPr>
          <a:xfrm>
            <a:off x="2840400" y="1897920"/>
            <a:ext cx="5933520" cy="351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50000"/>
              </a:lnSpc>
              <a:spcBef>
                <a:spcPts val="439"/>
              </a:spcBef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  <a:ea typeface="DejaVu Sans"/>
              </a:rPr>
              <a:t>Client: Timothy Stevens</a:t>
            </a:r>
            <a:br>
              <a:rPr sz="2200"/>
            </a:br>
            <a:r>
              <a:rPr b="0" lang="en-US" sz="2200" spc="-1" strike="noStrike">
                <a:solidFill>
                  <a:srgbClr val="000000"/>
                </a:solidFill>
                <a:latin typeface="Calibri"/>
                <a:ea typeface="DejaVu Sans"/>
              </a:rPr>
              <a:t>Role: Seller</a:t>
            </a:r>
            <a:br>
              <a:rPr sz="2200"/>
            </a:br>
            <a:br>
              <a:rPr sz="2200"/>
            </a:br>
            <a:r>
              <a:rPr b="0" lang="en-US" sz="2200" spc="-1" strike="noStrike">
                <a:solidFill>
                  <a:srgbClr val="c9211e"/>
                </a:solidFill>
                <a:highlight>
                  <a:srgbClr val="ffffff"/>
                </a:highlight>
                <a:latin typeface="Calibri"/>
                <a:ea typeface="DejaVu Sans"/>
              </a:rPr>
              <a:t>Business Scenario:</a:t>
            </a:r>
            <a:br>
              <a:rPr sz="2200"/>
            </a:br>
            <a:r>
              <a:rPr b="0" lang="en-US" sz="2200" spc="-1" strike="noStrike">
                <a:solidFill>
                  <a:srgbClr val="000000"/>
                </a:solidFill>
                <a:latin typeface="Calibri"/>
                <a:ea typeface="DejaVu Sans"/>
              </a:rPr>
              <a:t>• Owns expensive houses in the city center.</a:t>
            </a:r>
            <a:br>
              <a:rPr sz="2200"/>
            </a:br>
            <a:r>
              <a:rPr b="0" lang="en-US" sz="2200" spc="-1" strike="noStrike">
                <a:solidFill>
                  <a:srgbClr val="000000"/>
                </a:solidFill>
                <a:latin typeface="Calibri"/>
                <a:ea typeface="DejaVu Sans"/>
              </a:rPr>
              <a:t>• Wants to sell them within the next year.</a:t>
            </a:r>
            <a:br>
              <a:rPr sz="2200"/>
            </a:br>
            <a:r>
              <a:rPr b="0" lang="en-US" sz="2200" spc="-1" strike="noStrike">
                <a:solidFill>
                  <a:srgbClr val="000000"/>
                </a:solidFill>
                <a:latin typeface="Calibri"/>
                <a:ea typeface="DejaVu Sans"/>
              </a:rPr>
              <a:t>• Open to renovating properties if it increases profit.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1"/>
          <p:cNvSpPr/>
          <p:nvPr/>
        </p:nvSpPr>
        <p:spPr>
          <a:xfrm>
            <a:off x="0" y="0"/>
            <a:ext cx="12187800" cy="599040"/>
          </a:xfrm>
          <a:prstGeom prst="rect">
            <a:avLst/>
          </a:prstGeom>
          <a:solidFill>
            <a:srgbClr val="0f2046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32" name="TextBox 2"/>
          <p:cNvSpPr/>
          <p:nvPr/>
        </p:nvSpPr>
        <p:spPr>
          <a:xfrm>
            <a:off x="4500000" y="109800"/>
            <a:ext cx="27050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Project Objective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33" name="Rounded Rectangle 3"/>
          <p:cNvSpPr/>
          <p:nvPr/>
        </p:nvSpPr>
        <p:spPr>
          <a:xfrm>
            <a:off x="457200" y="914400"/>
            <a:ext cx="10971720" cy="5302440"/>
          </a:xfrm>
          <a:prstGeom prst="roundRect">
            <a:avLst>
              <a:gd name="adj" fmla="val 16667"/>
            </a:avLst>
          </a:prstGeom>
          <a:noFill/>
          <a:ln w="0">
            <a:noFill/>
          </a:ln>
          <a:effectLst>
            <a:outerShdw blurRad="0" dir="2700000" dist="101823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34" name="TextBox 1"/>
          <p:cNvSpPr/>
          <p:nvPr/>
        </p:nvSpPr>
        <p:spPr>
          <a:xfrm>
            <a:off x="2423160" y="2823840"/>
            <a:ext cx="6761160" cy="68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b">
            <a:spAutoFit/>
          </a:bodyPr>
          <a:p>
            <a:pPr marL="216000" indent="-216000">
              <a:lnSpc>
                <a:spcPct val="150000"/>
              </a:lnSpc>
              <a:buClr>
                <a:srgbClr val="464646"/>
              </a:buClr>
              <a:buFont typeface="Wingdings" charset="2"/>
              <a:buChar char=""/>
            </a:pPr>
            <a:r>
              <a:rPr b="0" lang="en-US" sz="2600" spc="-1" strike="noStrike">
                <a:solidFill>
                  <a:srgbClr val="000000"/>
                </a:solidFill>
                <a:latin typeface="Calibri"/>
                <a:ea typeface="PingFang SC"/>
              </a:rPr>
              <a:t> </a:t>
            </a:r>
            <a:r>
              <a:rPr b="0" lang="en-US" sz="2600" spc="-1" strike="noStrike">
                <a:solidFill>
                  <a:srgbClr val="000000"/>
                </a:solidFill>
                <a:latin typeface="Calibri"/>
                <a:ea typeface="PingFang SC"/>
              </a:rPr>
              <a:t>Identify the factors that maximize selling price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135" name="TextBox 12"/>
          <p:cNvSpPr/>
          <p:nvPr/>
        </p:nvSpPr>
        <p:spPr>
          <a:xfrm>
            <a:off x="2361960" y="3579840"/>
            <a:ext cx="7315920" cy="68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b">
            <a:spAutoFit/>
          </a:bodyPr>
          <a:p>
            <a:pPr marL="216000" indent="-216000">
              <a:lnSpc>
                <a:spcPct val="150000"/>
              </a:lnSpc>
              <a:buClr>
                <a:srgbClr val="464646"/>
              </a:buClr>
              <a:buFont typeface="Wingdings" charset="2"/>
              <a:buChar char=""/>
            </a:pPr>
            <a:r>
              <a:rPr b="0" lang="en-US" sz="2600" spc="-1" strike="noStrike">
                <a:solidFill>
                  <a:srgbClr val="000000"/>
                </a:solidFill>
                <a:latin typeface="Calibri"/>
                <a:ea typeface="PingFang SC"/>
              </a:rPr>
              <a:t> </a:t>
            </a:r>
            <a:r>
              <a:rPr b="0" lang="en-US" sz="2600" spc="-1" strike="noStrike">
                <a:solidFill>
                  <a:srgbClr val="000000"/>
                </a:solidFill>
                <a:latin typeface="Calibri"/>
                <a:ea typeface="PingFang SC"/>
              </a:rPr>
              <a:t>Recommend the best selling strategy for the client</a:t>
            </a:r>
            <a:endParaRPr b="0" lang="en-US" sz="2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Rectangle 1"/>
          <p:cNvSpPr/>
          <p:nvPr/>
        </p:nvSpPr>
        <p:spPr>
          <a:xfrm>
            <a:off x="0" y="0"/>
            <a:ext cx="12187800" cy="599040"/>
          </a:xfrm>
          <a:prstGeom prst="rect">
            <a:avLst/>
          </a:prstGeom>
          <a:solidFill>
            <a:srgbClr val="0f2046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37" name="TextBox 2"/>
          <p:cNvSpPr/>
          <p:nvPr/>
        </p:nvSpPr>
        <p:spPr>
          <a:xfrm>
            <a:off x="5197320" y="109800"/>
            <a:ext cx="13143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Dataset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38" name="Rounded Rectangle 3"/>
          <p:cNvSpPr/>
          <p:nvPr/>
        </p:nvSpPr>
        <p:spPr>
          <a:xfrm>
            <a:off x="360" y="914400"/>
            <a:ext cx="10971720" cy="5302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2563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39" name="TextBox 7"/>
          <p:cNvSpPr/>
          <p:nvPr/>
        </p:nvSpPr>
        <p:spPr>
          <a:xfrm>
            <a:off x="2471760" y="1707480"/>
            <a:ext cx="6318720" cy="31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Dataset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: King County House Sales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Source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: House sales in King County, Washington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Rows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: 21,597 house sales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Columns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: 21 variables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Target variable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: price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Each row represents one house sale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The dataset contains information about property </a:t>
            </a:r>
            <a:r>
              <a:rPr b="1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size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, 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quality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, </a:t>
            </a:r>
            <a:r>
              <a:rPr b="1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location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, </a:t>
            </a:r>
            <a:r>
              <a:rPr b="1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age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, </a:t>
            </a:r>
            <a:r>
              <a:rPr b="1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renovation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, and </a:t>
            </a:r>
            <a:r>
              <a:rPr b="1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sale price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ectangle 1"/>
          <p:cNvSpPr/>
          <p:nvPr/>
        </p:nvSpPr>
        <p:spPr>
          <a:xfrm>
            <a:off x="0" y="0"/>
            <a:ext cx="12187800" cy="599040"/>
          </a:xfrm>
          <a:prstGeom prst="rect">
            <a:avLst/>
          </a:prstGeom>
          <a:solidFill>
            <a:srgbClr val="0f2046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1" name="TextBox 2"/>
          <p:cNvSpPr/>
          <p:nvPr/>
        </p:nvSpPr>
        <p:spPr>
          <a:xfrm>
            <a:off x="4315680" y="109800"/>
            <a:ext cx="30715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Research Questions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42" name="Rounded Rectangle 3"/>
          <p:cNvSpPr/>
          <p:nvPr/>
        </p:nvSpPr>
        <p:spPr>
          <a:xfrm>
            <a:off x="457200" y="914400"/>
            <a:ext cx="10971720" cy="5302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2563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3" name="TextBox 4"/>
          <p:cNvSpPr/>
          <p:nvPr/>
        </p:nvSpPr>
        <p:spPr>
          <a:xfrm>
            <a:off x="2211120" y="2268720"/>
            <a:ext cx="7097760" cy="246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50000"/>
              </a:lnSpc>
              <a:spcBef>
                <a:spcPts val="439"/>
              </a:spcBef>
              <a:buNone/>
            </a:pPr>
            <a:r>
              <a:rPr b="0" lang="en-US" sz="2600" spc="-1" strike="noStrike">
                <a:solidFill>
                  <a:srgbClr val="000000"/>
                </a:solidFill>
                <a:latin typeface="Calibri"/>
                <a:ea typeface="DejaVu Sans"/>
              </a:rPr>
              <a:t>• </a:t>
            </a:r>
            <a:r>
              <a:rPr b="0" lang="en-US" sz="2600" spc="-1" strike="noStrike">
                <a:solidFill>
                  <a:srgbClr val="000000"/>
                </a:solidFill>
                <a:latin typeface="Calibri"/>
                <a:ea typeface="DejaVu Sans"/>
              </a:rPr>
              <a:t>Does grade affect house prices?</a:t>
            </a:r>
            <a:br>
              <a:rPr sz="2600"/>
            </a:br>
            <a:r>
              <a:rPr b="0" lang="en-US" sz="2600" spc="-1" strike="noStrike">
                <a:solidFill>
                  <a:srgbClr val="000000"/>
                </a:solidFill>
                <a:latin typeface="Calibri"/>
                <a:ea typeface="DejaVu Sans"/>
              </a:rPr>
              <a:t>• Should houses be renovated before selling?</a:t>
            </a:r>
            <a:br>
              <a:rPr sz="2600"/>
            </a:br>
            <a:r>
              <a:rPr b="0" lang="en-US" sz="2600" spc="-1" strike="noStrike">
                <a:solidFill>
                  <a:srgbClr val="000000"/>
                </a:solidFill>
                <a:latin typeface="Calibri"/>
                <a:ea typeface="DejaVu Sans"/>
              </a:rPr>
              <a:t>• Does location affect house prices?</a:t>
            </a:r>
            <a:br>
              <a:rPr sz="2600"/>
            </a:br>
            <a:r>
              <a:rPr b="0" lang="en-US" sz="2600" spc="-1" strike="noStrike">
                <a:solidFill>
                  <a:srgbClr val="000000"/>
                </a:solidFill>
                <a:latin typeface="Calibri"/>
                <a:ea typeface="DejaVu Sans"/>
              </a:rPr>
              <a:t>• What is the best time within the next year to sell?</a:t>
            </a:r>
            <a:endParaRPr b="0" lang="en-US" sz="2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Rectangle 1"/>
          <p:cNvSpPr/>
          <p:nvPr/>
        </p:nvSpPr>
        <p:spPr>
          <a:xfrm>
            <a:off x="0" y="0"/>
            <a:ext cx="12187800" cy="599040"/>
          </a:xfrm>
          <a:prstGeom prst="rect">
            <a:avLst/>
          </a:prstGeom>
          <a:solidFill>
            <a:srgbClr val="0f2046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5" name="TextBox 2"/>
          <p:cNvSpPr/>
          <p:nvPr/>
        </p:nvSpPr>
        <p:spPr>
          <a:xfrm>
            <a:off x="4856400" y="109800"/>
            <a:ext cx="19882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 </a:t>
            </a: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Hypotheses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46" name="Rounded Rectangle 3"/>
          <p:cNvSpPr/>
          <p:nvPr/>
        </p:nvSpPr>
        <p:spPr>
          <a:xfrm>
            <a:off x="457200" y="914400"/>
            <a:ext cx="10971720" cy="5302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2563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7" name="TextBox 4"/>
          <p:cNvSpPr/>
          <p:nvPr/>
        </p:nvSpPr>
        <p:spPr>
          <a:xfrm>
            <a:off x="631800" y="1836720"/>
            <a:ext cx="10761840" cy="246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marL="216000" indent="-216000">
              <a:lnSpc>
                <a:spcPct val="150000"/>
              </a:lnSpc>
              <a:buClr>
                <a:srgbClr val="464646"/>
              </a:buClr>
              <a:buFont typeface="Symbol"/>
              <a:buChar char=""/>
            </a:pPr>
            <a:r>
              <a:rPr b="0" lang="en-US" sz="2600" spc="-1" strike="noStrike">
                <a:solidFill>
                  <a:srgbClr val="464646"/>
                </a:solidFill>
                <a:latin typeface="Calibri"/>
                <a:ea typeface="DejaVu Sans"/>
              </a:rPr>
              <a:t>Houses in more desirable locations are expected to have higher selling prices.</a:t>
            </a:r>
            <a:endParaRPr b="0" lang="en-US" sz="2600" spc="-1" strike="noStrike"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464646"/>
              </a:buClr>
              <a:buFont typeface="Symbol"/>
              <a:buChar char=""/>
            </a:pPr>
            <a:r>
              <a:rPr b="0" lang="en-US" sz="2600" spc="-1" strike="noStrike">
                <a:solidFill>
                  <a:srgbClr val="464646"/>
                </a:solidFill>
                <a:latin typeface="Calibri"/>
                <a:ea typeface="DejaVu Sans"/>
              </a:rPr>
              <a:t>Houses with a higher grade are expected to sell for higher prices.</a:t>
            </a:r>
            <a:endParaRPr b="0" lang="en-US" sz="2600" spc="-1" strike="noStrike"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464646"/>
              </a:buClr>
              <a:buFont typeface="Symbol"/>
              <a:buChar char=""/>
            </a:pPr>
            <a:r>
              <a:rPr b="0" lang="en-US" sz="2600" spc="-1" strike="noStrike">
                <a:solidFill>
                  <a:srgbClr val="464646"/>
                </a:solidFill>
                <a:latin typeface="Calibri"/>
                <a:ea typeface="DejaVu Sans"/>
              </a:rPr>
              <a:t>Renovated houses are expected to achieve higher selling prices.</a:t>
            </a:r>
            <a:endParaRPr b="0" lang="en-US" sz="2600" spc="-1" strike="noStrike"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464646"/>
              </a:buClr>
              <a:buFont typeface="Symbol"/>
              <a:buChar char=""/>
            </a:pPr>
            <a:r>
              <a:rPr b="0" lang="en-US" sz="2600" spc="-1" strike="noStrike">
                <a:solidFill>
                  <a:srgbClr val="464646"/>
                </a:solidFill>
                <a:latin typeface="Calibri"/>
                <a:ea typeface="DejaVu Sans"/>
              </a:rPr>
              <a:t>Selling date affects price.</a:t>
            </a:r>
            <a:endParaRPr b="0" lang="en-US" sz="2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Rectangle 1"/>
          <p:cNvSpPr/>
          <p:nvPr/>
        </p:nvSpPr>
        <p:spPr>
          <a:xfrm>
            <a:off x="0" y="0"/>
            <a:ext cx="12187800" cy="599040"/>
          </a:xfrm>
          <a:prstGeom prst="rect">
            <a:avLst/>
          </a:prstGeom>
          <a:solidFill>
            <a:srgbClr val="0f2046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9" name="TextBox 2"/>
          <p:cNvSpPr/>
          <p:nvPr/>
        </p:nvSpPr>
        <p:spPr>
          <a:xfrm>
            <a:off x="4839120" y="109800"/>
            <a:ext cx="20268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EDA Primary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50" name="Rounded Rectangle 3"/>
          <p:cNvSpPr/>
          <p:nvPr/>
        </p:nvSpPr>
        <p:spPr>
          <a:xfrm>
            <a:off x="457200" y="914400"/>
            <a:ext cx="10971720" cy="5302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2563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51" name="TextBox 4"/>
          <p:cNvSpPr/>
          <p:nvPr/>
        </p:nvSpPr>
        <p:spPr>
          <a:xfrm>
            <a:off x="4599360" y="1188720"/>
            <a:ext cx="2321640" cy="17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Data Cleaning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Univariate Analysis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Bivariate Analysis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Correlation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Business Insights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Rectangle 5"/>
          <p:cNvSpPr/>
          <p:nvPr/>
        </p:nvSpPr>
        <p:spPr>
          <a:xfrm>
            <a:off x="0" y="0"/>
            <a:ext cx="12187800" cy="599040"/>
          </a:xfrm>
          <a:prstGeom prst="rect">
            <a:avLst/>
          </a:prstGeom>
          <a:solidFill>
            <a:srgbClr val="0f2046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53" name="TextBox 6"/>
          <p:cNvSpPr/>
          <p:nvPr/>
        </p:nvSpPr>
        <p:spPr>
          <a:xfrm>
            <a:off x="4144320" y="109800"/>
            <a:ext cx="34142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Expected Deliverables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54" name="Rounded Rectangle 2"/>
          <p:cNvSpPr/>
          <p:nvPr/>
        </p:nvSpPr>
        <p:spPr>
          <a:xfrm>
            <a:off x="457200" y="914400"/>
            <a:ext cx="10971720" cy="5302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2563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55" name="TextBox 8"/>
          <p:cNvSpPr/>
          <p:nvPr/>
        </p:nvSpPr>
        <p:spPr>
          <a:xfrm>
            <a:off x="4239720" y="1188720"/>
            <a:ext cx="30409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Pricing strategy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Renovation strategy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Selling recommendations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Rectangle 2"/>
          <p:cNvSpPr/>
          <p:nvPr/>
        </p:nvSpPr>
        <p:spPr>
          <a:xfrm>
            <a:off x="0" y="0"/>
            <a:ext cx="12187800" cy="599040"/>
          </a:xfrm>
          <a:prstGeom prst="rect">
            <a:avLst/>
          </a:prstGeom>
          <a:solidFill>
            <a:srgbClr val="0f2046"/>
          </a:solidFill>
          <a:ln w="936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57" name="TextBox 3"/>
          <p:cNvSpPr/>
          <p:nvPr/>
        </p:nvSpPr>
        <p:spPr>
          <a:xfrm>
            <a:off x="5001480" y="109800"/>
            <a:ext cx="16999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Thank You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58" name="Rounded Rectangle 1"/>
          <p:cNvSpPr/>
          <p:nvPr/>
        </p:nvSpPr>
        <p:spPr>
          <a:xfrm>
            <a:off x="457200" y="914400"/>
            <a:ext cx="10971720" cy="5302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2563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59" name="TextBox 5"/>
          <p:cNvSpPr/>
          <p:nvPr/>
        </p:nvSpPr>
        <p:spPr>
          <a:xfrm>
            <a:off x="5036040" y="1188720"/>
            <a:ext cx="144828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  <a:ea typeface="DejaVu Sans"/>
              </a:rPr>
              <a:t>Questions?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85</TotalTime>
  <Application>PPTXPresentationEditor/1.2.0.0$MacOSX_AARCH64 LibreOffice_project/e114eadc50a9ff8d8c8a0567d6da8f454beeb84f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2026-07-22T11:23:03Z</dcterms:modified>
  <cp:revision>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